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JASO Sans" panose="020E0002060000000900" pitchFamily="34" charset="-127"/>
      <p:regular r:id="rId12"/>
    </p:embeddedFont>
    <p:embeddedFont>
      <p:font typeface="JASO Sans Bold" panose="020E0002060000000900" pitchFamily="34" charset="-127"/>
      <p:regular r:id="rId13"/>
      <p:bold r:id="rId14"/>
    </p:embeddedFont>
    <p:embeddedFont>
      <p:font typeface="JASO Sans Heavy" panose="020E0002060000000900" pitchFamily="34" charset="-127"/>
      <p:regular r:id="rId15"/>
      <p:bold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94658" autoAdjust="0"/>
  </p:normalViewPr>
  <p:slideViewPr>
    <p:cSldViewPr>
      <p:cViewPr varScale="1">
        <p:scale>
          <a:sx n="80" d="100"/>
          <a:sy n="80" d="100"/>
        </p:scale>
        <p:origin x="824" y="2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3/30/26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3/30/26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3/30/26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3/30/26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sv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18481" y="3395920"/>
            <a:ext cx="7787096" cy="2583815"/>
          </a:xfrm>
          <a:prstGeom prst="rect">
            <a:avLst/>
          </a:prstGeom>
        </p:spPr>
        <p:txBody>
          <a:bodyPr lIns="0" tIns="0" rIns="0" bIns="0" rtlCol="0" anchor="t">
            <a:spAutoFit/>
          </a:bodyPr>
          <a:lstStyle/>
          <a:p>
            <a:pPr algn="l">
              <a:lnSpc>
                <a:spcPts val="10120"/>
              </a:lnSpc>
            </a:pPr>
            <a:r>
              <a:rPr lang="en-US" sz="9200" b="1" spc="-460">
                <a:solidFill>
                  <a:srgbClr val="434343"/>
                </a:solidFill>
                <a:latin typeface="JASO Sans Bold"/>
                <a:ea typeface="JASO Sans Bold"/>
                <a:cs typeface="JASO Sans Bold"/>
                <a:sym typeface="JASO Sans Bold"/>
              </a:rPr>
              <a:t>상반기</a:t>
            </a:r>
          </a:p>
          <a:p>
            <a:pPr algn="l">
              <a:lnSpc>
                <a:spcPts val="10120"/>
              </a:lnSpc>
            </a:pPr>
            <a:r>
              <a:rPr lang="en-US" sz="9200" b="1" spc="-460">
                <a:solidFill>
                  <a:srgbClr val="434343"/>
                </a:solidFill>
                <a:latin typeface="JASO Sans Bold"/>
                <a:ea typeface="JASO Sans Bold"/>
                <a:cs typeface="JASO Sans Bold"/>
                <a:sym typeface="JASO Sans Bold"/>
              </a:rPr>
              <a:t>사업계획서</a:t>
            </a:r>
          </a:p>
        </p:txBody>
      </p:sp>
      <p:sp>
        <p:nvSpPr>
          <p:cNvPr id="3" name="TextBox 3"/>
          <p:cNvSpPr txBox="1"/>
          <p:nvPr/>
        </p:nvSpPr>
        <p:spPr>
          <a:xfrm>
            <a:off x="1518481" y="5815260"/>
            <a:ext cx="7787096" cy="1514475"/>
          </a:xfrm>
          <a:prstGeom prst="rect">
            <a:avLst/>
          </a:prstGeom>
        </p:spPr>
        <p:txBody>
          <a:bodyPr lIns="0" tIns="0" rIns="0" bIns="0" rtlCol="0" anchor="t">
            <a:spAutoFit/>
          </a:bodyPr>
          <a:lstStyle/>
          <a:p>
            <a:pPr algn="l">
              <a:lnSpc>
                <a:spcPts val="11999"/>
              </a:lnSpc>
            </a:pPr>
            <a:r>
              <a:rPr lang="en-US" sz="9999" b="1" spc="-299">
                <a:solidFill>
                  <a:srgbClr val="0066FF"/>
                </a:solidFill>
                <a:latin typeface="JASO Sans Heavy"/>
                <a:ea typeface="JASO Sans Heavy"/>
                <a:cs typeface="JASO Sans Heavy"/>
                <a:sym typeface="JASO Sans Heavy"/>
              </a:rPr>
              <a:t>2030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18481" y="1412643"/>
            <a:ext cx="13819856" cy="753110"/>
          </a:xfrm>
          <a:prstGeom prst="rect">
            <a:avLst/>
          </a:prstGeom>
        </p:spPr>
        <p:txBody>
          <a:bodyPr lIns="0" tIns="0" rIns="0" bIns="0" rtlCol="0" anchor="t">
            <a:spAutoFit/>
          </a:bodyPr>
          <a:lstStyle/>
          <a:p>
            <a:pPr algn="l">
              <a:lnSpc>
                <a:spcPts val="5829"/>
              </a:lnSpc>
            </a:pPr>
            <a:r>
              <a:rPr lang="en-US" sz="5299" b="1" spc="-264">
                <a:solidFill>
                  <a:srgbClr val="434343"/>
                </a:solidFill>
                <a:latin typeface="JASO Sans Bold"/>
                <a:ea typeface="JASO Sans Bold"/>
                <a:cs typeface="JASO Sans Bold"/>
                <a:sym typeface="JASO Sans Bold"/>
              </a:rPr>
              <a:t>2030년 한눈에 보기</a:t>
            </a:r>
          </a:p>
        </p:txBody>
      </p:sp>
      <p:graphicFrame>
        <p:nvGraphicFramePr>
          <p:cNvPr id="4" name="Table 4"/>
          <p:cNvGraphicFramePr>
            <a:graphicFrameLocks noGrp="1"/>
          </p:cNvGraphicFramePr>
          <p:nvPr/>
        </p:nvGraphicFramePr>
        <p:xfrm>
          <a:off x="1506978" y="3768295"/>
          <a:ext cx="7488928" cy="5490006"/>
        </p:xfrm>
        <a:graphic>
          <a:graphicData uri="http://schemas.openxmlformats.org/drawingml/2006/table">
            <a:tbl>
              <a:tblPr/>
              <a:tblGrid>
                <a:gridCol w="2316037">
                  <a:extLst>
                    <a:ext uri="{9D8B030D-6E8A-4147-A177-3AD203B41FA5}">
                      <a16:colId xmlns:a16="http://schemas.microsoft.com/office/drawing/2014/main" val="20000"/>
                    </a:ext>
                  </a:extLst>
                </a:gridCol>
                <a:gridCol w="5172891">
                  <a:extLst>
                    <a:ext uri="{9D8B030D-6E8A-4147-A177-3AD203B41FA5}">
                      <a16:colId xmlns:a16="http://schemas.microsoft.com/office/drawing/2014/main" val="20001"/>
                    </a:ext>
                  </a:extLst>
                </a:gridCol>
              </a:tblGrid>
              <a:tr h="835522">
                <a:tc>
                  <a:txBody>
                    <a:bodyPr/>
                    <a:lstStyle/>
                    <a:p>
                      <a:pPr algn="ctr">
                        <a:lnSpc>
                          <a:spcPts val="2454"/>
                        </a:lnSpc>
                        <a:defRPr/>
                      </a:pPr>
                      <a:r>
                        <a:rPr lang="en-US" sz="1753" b="1">
                          <a:solidFill>
                            <a:srgbClr val="FFFFFF"/>
                          </a:solidFill>
                          <a:latin typeface="JASO Sans Bold"/>
                          <a:ea typeface="JASO Sans Bold"/>
                          <a:cs typeface="JASO Sans Bold"/>
                          <a:sym typeface="JASO Sans Bold"/>
                        </a:rPr>
                        <a:t>구분</a:t>
                      </a:r>
                      <a:endParaRPr lang="en-US" sz="1100"/>
                    </a:p>
                  </a:txBody>
                  <a:tcPr marL="0" marR="0" marT="0" marB="0" anchor="ctr">
                    <a:lnL w="0" cap="flat" cmpd="sng" algn="ctr">
                      <a:solidFill>
                        <a:srgbClr val="B4B4B4"/>
                      </a:solidFill>
                      <a:prstDash val="solid"/>
                      <a:round/>
                      <a:headEnd type="none" w="med" len="med"/>
                      <a:tailEnd type="none" w="med" len="med"/>
                    </a:lnL>
                    <a:lnR w="19647" cap="flat" cmpd="sng" algn="ctr">
                      <a:solidFill>
                        <a:srgbClr val="D9D9D9"/>
                      </a:solidFill>
                      <a:prstDash val="solid"/>
                      <a:round/>
                      <a:headEnd type="none" w="med" len="med"/>
                      <a:tailEnd type="none" w="med" len="med"/>
                    </a:lnR>
                    <a:lnT w="0" cap="flat" cmpd="sng" algn="ctr">
                      <a:solidFill>
                        <a:srgbClr val="526AD9"/>
                      </a:solidFill>
                      <a:prstDash val="solid"/>
                      <a:round/>
                      <a:headEnd type="none" w="med" len="med"/>
                      <a:tailEnd type="none" w="med" len="med"/>
                    </a:lnT>
                    <a:lnB w="19647" cap="flat" cmpd="sng" algn="ctr">
                      <a:solidFill>
                        <a:srgbClr val="FFFFFF"/>
                      </a:solidFill>
                      <a:prstDash val="solid"/>
                      <a:round/>
                      <a:headEnd type="none" w="med" len="med"/>
                      <a:tailEnd type="none" w="med" len="med"/>
                    </a:lnB>
                    <a:solidFill>
                      <a:srgbClr val="86B0E7"/>
                    </a:solidFill>
                  </a:tcPr>
                </a:tc>
                <a:tc>
                  <a:txBody>
                    <a:bodyPr/>
                    <a:lstStyle/>
                    <a:p>
                      <a:pPr algn="ctr">
                        <a:lnSpc>
                          <a:spcPts val="2454"/>
                        </a:lnSpc>
                        <a:defRPr/>
                      </a:pPr>
                      <a:r>
                        <a:rPr lang="en-US" sz="1753" b="1">
                          <a:solidFill>
                            <a:srgbClr val="FFFFFF"/>
                          </a:solidFill>
                          <a:latin typeface="JASO Sans Bold"/>
                          <a:ea typeface="JASO Sans Bold"/>
                          <a:cs typeface="JASO Sans Bold"/>
                          <a:sym typeface="JASO Sans Bold"/>
                        </a:rPr>
                        <a:t>상세내용</a:t>
                      </a:r>
                      <a:endParaRPr lang="en-US" sz="1100"/>
                    </a:p>
                  </a:txBody>
                  <a:tcPr marL="0" marR="0" marT="0" marB="0" anchor="ctr">
                    <a:lnL w="19647" cap="flat" cmpd="sng" algn="ctr">
                      <a:solidFill>
                        <a:srgbClr val="D9D9D9"/>
                      </a:solidFill>
                      <a:prstDash val="solid"/>
                      <a:round/>
                      <a:headEnd type="none" w="med" len="med"/>
                      <a:tailEnd type="none" w="med" len="med"/>
                    </a:lnL>
                    <a:lnR w="0" cap="flat" cmpd="sng" algn="ctr">
                      <a:solidFill>
                        <a:srgbClr val="B4B4B4"/>
                      </a:solidFill>
                      <a:prstDash val="solid"/>
                      <a:round/>
                      <a:headEnd type="none" w="med" len="med"/>
                      <a:tailEnd type="none" w="med" len="med"/>
                    </a:lnR>
                    <a:lnT w="0" cap="flat" cmpd="sng" algn="ctr">
                      <a:solidFill>
                        <a:srgbClr val="526AD9"/>
                      </a:solidFill>
                      <a:prstDash val="solid"/>
                      <a:round/>
                      <a:headEnd type="none" w="med" len="med"/>
                      <a:tailEnd type="none" w="med" len="med"/>
                    </a:lnT>
                    <a:lnB w="19647" cap="flat" cmpd="sng" algn="ctr">
                      <a:solidFill>
                        <a:srgbClr val="D9D9D9"/>
                      </a:solidFill>
                      <a:prstDash val="solid"/>
                      <a:round/>
                      <a:headEnd type="none" w="med" len="med"/>
                      <a:tailEnd type="none" w="med" len="med"/>
                    </a:lnB>
                    <a:solidFill>
                      <a:srgbClr val="86B0E7"/>
                    </a:solidFill>
                  </a:tcPr>
                </a:tc>
                <a:extLst>
                  <a:ext uri="{0D108BD9-81ED-4DB2-BD59-A6C34878D82A}">
                    <a16:rowId xmlns:a16="http://schemas.microsoft.com/office/drawing/2014/main" val="10000"/>
                  </a:ext>
                </a:extLst>
              </a:tr>
              <a:tr h="1163621">
                <a:tc>
                  <a:txBody>
                    <a:bodyPr/>
                    <a:lstStyle/>
                    <a:p>
                      <a:pPr algn="ctr">
                        <a:lnSpc>
                          <a:spcPts val="2970"/>
                        </a:lnSpc>
                        <a:defRPr/>
                      </a:pPr>
                      <a:r>
                        <a:rPr lang="en-US" sz="1856" b="1">
                          <a:solidFill>
                            <a:srgbClr val="434343"/>
                          </a:solidFill>
                          <a:latin typeface="JASO Sans Bold"/>
                          <a:ea typeface="JASO Sans Bold"/>
                          <a:cs typeface="JASO Sans Bold"/>
                          <a:sym typeface="JASO Sans Bold"/>
                        </a:rPr>
                        <a:t>사업유형</a:t>
                      </a: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D9D9D9"/>
                      </a:solidFill>
                      <a:prstDash val="solid"/>
                      <a:round/>
                      <a:headEnd type="none" w="med" len="med"/>
                      <a:tailEnd type="none" w="med" len="med"/>
                    </a:lnR>
                    <a:lnT w="19647" cap="flat" cmpd="sng" algn="ctr">
                      <a:solidFill>
                        <a:srgbClr val="FFFFFF"/>
                      </a:solidFill>
                      <a:prstDash val="solid"/>
                      <a:round/>
                      <a:headEnd type="none" w="med" len="med"/>
                      <a:tailEnd type="none" w="med" len="med"/>
                    </a:lnT>
                    <a:lnB w="19647" cap="flat" cmpd="sng" algn="ctr">
                      <a:solidFill>
                        <a:srgbClr val="FFFFFF"/>
                      </a:solidFill>
                      <a:prstDash val="solid"/>
                      <a:round/>
                      <a:headEnd type="none" w="med" len="med"/>
                      <a:tailEnd type="none" w="med" len="med"/>
                    </a:lnB>
                    <a:solidFill>
                      <a:srgbClr val="EDF3FB"/>
                    </a:solidFill>
                  </a:tcPr>
                </a:tc>
                <a:tc>
                  <a:txBody>
                    <a:bodyPr/>
                    <a:lstStyle/>
                    <a:p>
                      <a:pPr algn="ctr">
                        <a:lnSpc>
                          <a:spcPts val="2970"/>
                        </a:lnSpc>
                        <a:defRPr/>
                      </a:pPr>
                      <a:r>
                        <a:rPr lang="en-US" sz="1856">
                          <a:solidFill>
                            <a:srgbClr val="434343"/>
                          </a:solidFill>
                          <a:latin typeface="JASO Sans"/>
                          <a:ea typeface="JASO Sans"/>
                          <a:cs typeface="JASO Sans"/>
                          <a:sym typeface="JASO Sans"/>
                        </a:rPr>
                        <a:t>라이프스타일 &amp; 데일리 굿즈 소매</a:t>
                      </a:r>
                      <a:endParaRPr lang="en-US" sz="1100"/>
                    </a:p>
                  </a:txBody>
                  <a:tcPr marL="0" marR="0" marT="0" marB="0" anchor="ctr">
                    <a:lnL w="0" cap="flat" cmpd="sng" algn="ctr">
                      <a:solidFill>
                        <a:srgbClr val="D9D9D9"/>
                      </a:solidFill>
                      <a:prstDash val="solid"/>
                      <a:round/>
                      <a:headEnd type="none" w="med" len="med"/>
                      <a:tailEnd type="none" w="med" len="med"/>
                    </a:lnL>
                    <a:lnR w="0" cap="flat" cmpd="sng" algn="ctr">
                      <a:solidFill>
                        <a:srgbClr val="B4B4B4"/>
                      </a:solidFill>
                      <a:prstDash val="solid"/>
                      <a:round/>
                      <a:headEnd type="none" w="med" len="med"/>
                      <a:tailEnd type="none" w="med" len="med"/>
                    </a:lnR>
                    <a:lnT w="19647" cap="flat" cmpd="sng" algn="ctr">
                      <a:solidFill>
                        <a:srgbClr val="D9D9D9"/>
                      </a:solidFill>
                      <a:prstDash val="solid"/>
                      <a:round/>
                      <a:headEnd type="none" w="med" len="med"/>
                      <a:tailEnd type="none" w="med" len="med"/>
                    </a:lnT>
                    <a:lnB w="19647"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1163621">
                <a:tc>
                  <a:txBody>
                    <a:bodyPr/>
                    <a:lstStyle/>
                    <a:p>
                      <a:pPr algn="ctr">
                        <a:lnSpc>
                          <a:spcPts val="2970"/>
                        </a:lnSpc>
                        <a:defRPr/>
                      </a:pPr>
                      <a:r>
                        <a:rPr lang="en-US" sz="1856" b="1">
                          <a:solidFill>
                            <a:srgbClr val="434343"/>
                          </a:solidFill>
                          <a:latin typeface="JASO Sans Bold"/>
                          <a:ea typeface="JASO Sans Bold"/>
                          <a:cs typeface="JASO Sans Bold"/>
                          <a:sym typeface="JASO Sans Bold"/>
                        </a:rPr>
                        <a:t>운영채널</a:t>
                      </a: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D9D9D9"/>
                      </a:solidFill>
                      <a:prstDash val="solid"/>
                      <a:round/>
                      <a:headEnd type="none" w="med" len="med"/>
                      <a:tailEnd type="none" w="med" len="med"/>
                    </a:lnR>
                    <a:lnT w="19647" cap="flat" cmpd="sng" algn="ctr">
                      <a:solidFill>
                        <a:srgbClr val="FFFFFF"/>
                      </a:solidFill>
                      <a:prstDash val="solid"/>
                      <a:round/>
                      <a:headEnd type="none" w="med" len="med"/>
                      <a:tailEnd type="none" w="med" len="med"/>
                    </a:lnT>
                    <a:lnB w="19647" cap="flat" cmpd="sng" algn="ctr">
                      <a:solidFill>
                        <a:srgbClr val="FFFFFF"/>
                      </a:solidFill>
                      <a:prstDash val="solid"/>
                      <a:round/>
                      <a:headEnd type="none" w="med" len="med"/>
                      <a:tailEnd type="none" w="med" len="med"/>
                    </a:lnB>
                    <a:solidFill>
                      <a:srgbClr val="EDF3FB"/>
                    </a:solidFill>
                  </a:tcPr>
                </a:tc>
                <a:tc>
                  <a:txBody>
                    <a:bodyPr/>
                    <a:lstStyle/>
                    <a:p>
                      <a:pPr algn="ctr">
                        <a:lnSpc>
                          <a:spcPts val="2970"/>
                        </a:lnSpc>
                        <a:defRPr/>
                      </a:pPr>
                      <a:r>
                        <a:rPr lang="en-US" sz="1856">
                          <a:solidFill>
                            <a:srgbClr val="434343"/>
                          </a:solidFill>
                          <a:latin typeface="JASO Sans"/>
                          <a:ea typeface="JASO Sans"/>
                          <a:cs typeface="JASO Sans"/>
                          <a:sym typeface="JASO Sans"/>
                        </a:rPr>
                        <a:t>오프라인 매장 3곳 + 자사몰</a:t>
                      </a:r>
                      <a:endParaRPr lang="en-US" sz="1100"/>
                    </a:p>
                  </a:txBody>
                  <a:tcPr marL="0" marR="0" marT="0" marB="0" anchor="ctr">
                    <a:lnL w="0" cap="flat" cmpd="sng" algn="ctr">
                      <a:solidFill>
                        <a:srgbClr val="D9D9D9"/>
                      </a:solidFill>
                      <a:prstDash val="solid"/>
                      <a:round/>
                      <a:headEnd type="none" w="med" len="med"/>
                      <a:tailEnd type="none" w="med" len="med"/>
                    </a:lnL>
                    <a:lnR w="0" cap="flat" cmpd="sng" algn="ctr">
                      <a:solidFill>
                        <a:srgbClr val="B4B4B4"/>
                      </a:solidFill>
                      <a:prstDash val="solid"/>
                      <a:round/>
                      <a:headEnd type="none" w="med" len="med"/>
                      <a:tailEnd type="none" w="med" len="med"/>
                    </a:lnR>
                    <a:lnT w="19647" cap="flat" cmpd="sng" algn="ctr">
                      <a:solidFill>
                        <a:srgbClr val="D9D9D9"/>
                      </a:solidFill>
                      <a:prstDash val="solid"/>
                      <a:round/>
                      <a:headEnd type="none" w="med" len="med"/>
                      <a:tailEnd type="none" w="med" len="med"/>
                    </a:lnT>
                    <a:lnB w="19647"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1163621">
                <a:tc>
                  <a:txBody>
                    <a:bodyPr/>
                    <a:lstStyle/>
                    <a:p>
                      <a:pPr algn="ctr">
                        <a:lnSpc>
                          <a:spcPts val="2970"/>
                        </a:lnSpc>
                        <a:defRPr/>
                      </a:pPr>
                      <a:r>
                        <a:rPr lang="en-US" sz="1856" b="1">
                          <a:solidFill>
                            <a:srgbClr val="434343"/>
                          </a:solidFill>
                          <a:latin typeface="JASO Sans Bold"/>
                          <a:ea typeface="JASO Sans Bold"/>
                          <a:cs typeface="JASO Sans Bold"/>
                          <a:sym typeface="JASO Sans Bold"/>
                        </a:rPr>
                        <a:t>현재단계</a:t>
                      </a: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D9D9D9"/>
                      </a:solidFill>
                      <a:prstDash val="solid"/>
                      <a:round/>
                      <a:headEnd type="none" w="med" len="med"/>
                      <a:tailEnd type="none" w="med" len="med"/>
                    </a:lnR>
                    <a:lnT w="19647" cap="flat" cmpd="sng" algn="ctr">
                      <a:solidFill>
                        <a:srgbClr val="FFFFFF"/>
                      </a:solidFill>
                      <a:prstDash val="solid"/>
                      <a:round/>
                      <a:headEnd type="none" w="med" len="med"/>
                      <a:tailEnd type="none" w="med" len="med"/>
                    </a:lnT>
                    <a:lnB w="19647" cap="flat" cmpd="sng" algn="ctr">
                      <a:solidFill>
                        <a:srgbClr val="FFFFFF"/>
                      </a:solidFill>
                      <a:prstDash val="solid"/>
                      <a:round/>
                      <a:headEnd type="none" w="med" len="med"/>
                      <a:tailEnd type="none" w="med" len="med"/>
                    </a:lnB>
                    <a:solidFill>
                      <a:srgbClr val="EDF3FB"/>
                    </a:solidFill>
                  </a:tcPr>
                </a:tc>
                <a:tc>
                  <a:txBody>
                    <a:bodyPr/>
                    <a:lstStyle/>
                    <a:p>
                      <a:pPr algn="ctr">
                        <a:lnSpc>
                          <a:spcPts val="2970"/>
                        </a:lnSpc>
                        <a:defRPr/>
                      </a:pPr>
                      <a:r>
                        <a:rPr lang="en-US" sz="1856">
                          <a:solidFill>
                            <a:srgbClr val="434343"/>
                          </a:solidFill>
                          <a:latin typeface="JASO Sans"/>
                          <a:ea typeface="JASO Sans"/>
                          <a:cs typeface="JASO Sans"/>
                          <a:sym typeface="JASO Sans"/>
                        </a:rPr>
                        <a:t>안정적 매출 유지,</a:t>
                      </a:r>
                      <a:endParaRPr lang="en-US" sz="1100"/>
                    </a:p>
                    <a:p>
                      <a:pPr algn="ctr">
                        <a:lnSpc>
                          <a:spcPts val="2970"/>
                        </a:lnSpc>
                      </a:pPr>
                      <a:r>
                        <a:rPr lang="en-US" sz="1856">
                          <a:solidFill>
                            <a:srgbClr val="434343"/>
                          </a:solidFill>
                          <a:latin typeface="JASO Sans"/>
                          <a:ea typeface="JASO Sans"/>
                          <a:cs typeface="JASO Sans"/>
                          <a:sym typeface="JASO Sans"/>
                        </a:rPr>
                        <a:t>수익성 개선 및 확장 단계</a:t>
                      </a:r>
                    </a:p>
                  </a:txBody>
                  <a:tcPr marL="0" marR="0" marT="0" marB="0" anchor="ctr">
                    <a:lnL w="0" cap="flat" cmpd="sng" algn="ctr">
                      <a:solidFill>
                        <a:srgbClr val="D9D9D9"/>
                      </a:solidFill>
                      <a:prstDash val="solid"/>
                      <a:round/>
                      <a:headEnd type="none" w="med" len="med"/>
                      <a:tailEnd type="none" w="med" len="med"/>
                    </a:lnL>
                    <a:lnR w="0" cap="flat" cmpd="sng" algn="ctr">
                      <a:solidFill>
                        <a:srgbClr val="B4B4B4"/>
                      </a:solidFill>
                      <a:prstDash val="solid"/>
                      <a:round/>
                      <a:headEnd type="none" w="med" len="med"/>
                      <a:tailEnd type="none" w="med" len="med"/>
                    </a:lnR>
                    <a:lnT w="19647" cap="flat" cmpd="sng" algn="ctr">
                      <a:solidFill>
                        <a:srgbClr val="D9D9D9"/>
                      </a:solidFill>
                      <a:prstDash val="solid"/>
                      <a:round/>
                      <a:headEnd type="none" w="med" len="med"/>
                      <a:tailEnd type="none" w="med" len="med"/>
                    </a:lnT>
                    <a:lnB w="19647"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1163621">
                <a:tc>
                  <a:txBody>
                    <a:bodyPr/>
                    <a:lstStyle/>
                    <a:p>
                      <a:pPr algn="ctr">
                        <a:lnSpc>
                          <a:spcPts val="2970"/>
                        </a:lnSpc>
                        <a:defRPr/>
                      </a:pPr>
                      <a:r>
                        <a:rPr lang="en-US" sz="1856" b="1">
                          <a:solidFill>
                            <a:srgbClr val="434343"/>
                          </a:solidFill>
                          <a:latin typeface="JASO Sans Bold"/>
                          <a:ea typeface="JASO Sans Bold"/>
                          <a:cs typeface="JASO Sans Bold"/>
                          <a:sym typeface="JASO Sans Bold"/>
                        </a:rPr>
                        <a:t>핵심과제</a:t>
                      </a: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D9D9D9"/>
                      </a:solidFill>
                      <a:prstDash val="solid"/>
                      <a:round/>
                      <a:headEnd type="none" w="med" len="med"/>
                      <a:tailEnd type="none" w="med" len="med"/>
                    </a:lnR>
                    <a:lnT w="19647" cap="flat" cmpd="sng" algn="ctr">
                      <a:solidFill>
                        <a:srgbClr val="FFFFFF"/>
                      </a:solidFill>
                      <a:prstDash val="solid"/>
                      <a:round/>
                      <a:headEnd type="none" w="med" len="med"/>
                      <a:tailEnd type="none" w="med" len="med"/>
                    </a:lnT>
                    <a:lnB w="19647" cap="flat" cmpd="sng" algn="ctr">
                      <a:solidFill>
                        <a:srgbClr val="D9D9D9"/>
                      </a:solidFill>
                      <a:prstDash val="solid"/>
                      <a:round/>
                      <a:headEnd type="none" w="med" len="med"/>
                      <a:tailEnd type="none" w="med" len="med"/>
                    </a:lnB>
                    <a:solidFill>
                      <a:srgbClr val="EDF3FB"/>
                    </a:solidFill>
                  </a:tcPr>
                </a:tc>
                <a:tc>
                  <a:txBody>
                    <a:bodyPr/>
                    <a:lstStyle/>
                    <a:p>
                      <a:pPr algn="ctr">
                        <a:lnSpc>
                          <a:spcPts val="2970"/>
                        </a:lnSpc>
                        <a:defRPr/>
                      </a:pPr>
                      <a:r>
                        <a:rPr lang="en-US" sz="1856">
                          <a:solidFill>
                            <a:srgbClr val="434343"/>
                          </a:solidFill>
                          <a:latin typeface="JASO Sans"/>
                          <a:ea typeface="JASO Sans"/>
                          <a:cs typeface="JASO Sans"/>
                          <a:sym typeface="JASO Sans"/>
                        </a:rPr>
                        <a:t>성장률 회복 + 운영 효율화</a:t>
                      </a:r>
                      <a:endParaRPr lang="en-US" sz="1100"/>
                    </a:p>
                  </a:txBody>
                  <a:tcPr marL="0" marR="0" marT="0" marB="0" anchor="ctr">
                    <a:lnL w="0" cap="flat" cmpd="sng" algn="ctr">
                      <a:solidFill>
                        <a:srgbClr val="D9D9D9"/>
                      </a:solidFill>
                      <a:prstDash val="solid"/>
                      <a:round/>
                      <a:headEnd type="none" w="med" len="med"/>
                      <a:tailEnd type="none" w="med" len="med"/>
                    </a:lnL>
                    <a:lnR w="0" cap="flat" cmpd="sng" algn="ctr">
                      <a:solidFill>
                        <a:srgbClr val="B4B4B4"/>
                      </a:solidFill>
                      <a:prstDash val="solid"/>
                      <a:round/>
                      <a:headEnd type="none" w="med" len="med"/>
                      <a:tailEnd type="none" w="med" len="med"/>
                    </a:lnR>
                    <a:lnT w="19647" cap="flat" cmpd="sng" algn="ctr">
                      <a:solidFill>
                        <a:srgbClr val="D9D9D9"/>
                      </a:solidFill>
                      <a:prstDash val="solid"/>
                      <a:round/>
                      <a:headEnd type="none" w="med" len="med"/>
                      <a:tailEnd type="none" w="med" len="med"/>
                    </a:lnT>
                    <a:lnB w="19647"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Freeform 5"/>
          <p:cNvSpPr/>
          <p:nvPr/>
        </p:nvSpPr>
        <p:spPr>
          <a:xfrm>
            <a:off x="1506978" y="3150368"/>
            <a:ext cx="154523" cy="224058"/>
          </a:xfrm>
          <a:custGeom>
            <a:avLst/>
            <a:gdLst/>
            <a:ahLst/>
            <a:cxnLst/>
            <a:rect l="l" t="t" r="r" b="b"/>
            <a:pathLst>
              <a:path w="154523" h="224058">
                <a:moveTo>
                  <a:pt x="0" y="0"/>
                </a:moveTo>
                <a:lnTo>
                  <a:pt x="154523" y="0"/>
                </a:lnTo>
                <a:lnTo>
                  <a:pt x="154523" y="224058"/>
                </a:lnTo>
                <a:lnTo>
                  <a:pt x="0" y="22405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ko-KR" altLang="en-US"/>
          </a:p>
        </p:txBody>
      </p:sp>
      <p:sp>
        <p:nvSpPr>
          <p:cNvPr id="6" name="Freeform 6"/>
          <p:cNvSpPr/>
          <p:nvPr/>
        </p:nvSpPr>
        <p:spPr>
          <a:xfrm>
            <a:off x="9770371" y="3150368"/>
            <a:ext cx="154523" cy="224058"/>
          </a:xfrm>
          <a:custGeom>
            <a:avLst/>
            <a:gdLst/>
            <a:ahLst/>
            <a:cxnLst/>
            <a:rect l="l" t="t" r="r" b="b"/>
            <a:pathLst>
              <a:path w="154523" h="224058">
                <a:moveTo>
                  <a:pt x="0" y="0"/>
                </a:moveTo>
                <a:lnTo>
                  <a:pt x="154524" y="0"/>
                </a:lnTo>
                <a:lnTo>
                  <a:pt x="154524" y="224058"/>
                </a:lnTo>
                <a:lnTo>
                  <a:pt x="0" y="22405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ko-KR" altLang="en-US"/>
          </a:p>
        </p:txBody>
      </p:sp>
      <p:sp>
        <p:nvSpPr>
          <p:cNvPr id="7" name="TextBox 7"/>
          <p:cNvSpPr txBox="1"/>
          <p:nvPr/>
        </p:nvSpPr>
        <p:spPr>
          <a:xfrm>
            <a:off x="1804366" y="2999555"/>
            <a:ext cx="7191541" cy="443590"/>
          </a:xfrm>
          <a:prstGeom prst="rect">
            <a:avLst/>
          </a:prstGeom>
        </p:spPr>
        <p:txBody>
          <a:bodyPr lIns="0" tIns="0" rIns="0" bIns="0" rtlCol="0" anchor="t">
            <a:spAutoFit/>
          </a:bodyPr>
          <a:lstStyle/>
          <a:p>
            <a:pPr algn="l">
              <a:lnSpc>
                <a:spcPts val="3712"/>
              </a:lnSpc>
            </a:pPr>
            <a:r>
              <a:rPr lang="en-US" sz="2475" b="1" spc="-49">
                <a:solidFill>
                  <a:srgbClr val="434343"/>
                </a:solidFill>
                <a:latin typeface="JASO Sans Bold"/>
                <a:ea typeface="JASO Sans Bold"/>
                <a:cs typeface="JASO Sans Bold"/>
                <a:sym typeface="JASO Sans Bold"/>
              </a:rPr>
              <a:t>회사 개요</a:t>
            </a:r>
          </a:p>
        </p:txBody>
      </p:sp>
      <p:sp>
        <p:nvSpPr>
          <p:cNvPr id="8" name="TextBox 8"/>
          <p:cNvSpPr txBox="1"/>
          <p:nvPr/>
        </p:nvSpPr>
        <p:spPr>
          <a:xfrm>
            <a:off x="10067759" y="2999555"/>
            <a:ext cx="7191541" cy="443590"/>
          </a:xfrm>
          <a:prstGeom prst="rect">
            <a:avLst/>
          </a:prstGeom>
        </p:spPr>
        <p:txBody>
          <a:bodyPr lIns="0" tIns="0" rIns="0" bIns="0" rtlCol="0" anchor="t">
            <a:spAutoFit/>
          </a:bodyPr>
          <a:lstStyle/>
          <a:p>
            <a:pPr algn="l">
              <a:lnSpc>
                <a:spcPts val="3712"/>
              </a:lnSpc>
            </a:pPr>
            <a:r>
              <a:rPr lang="en-US" sz="2475" b="1" spc="-49">
                <a:solidFill>
                  <a:srgbClr val="434343"/>
                </a:solidFill>
                <a:latin typeface="JASO Sans Bold"/>
                <a:ea typeface="JASO Sans Bold"/>
                <a:cs typeface="JASO Sans Bold"/>
                <a:sym typeface="JASO Sans Bold"/>
              </a:rPr>
              <a:t>2030년 예측 및 주요 목표</a:t>
            </a:r>
          </a:p>
        </p:txBody>
      </p:sp>
      <p:grpSp>
        <p:nvGrpSpPr>
          <p:cNvPr id="9" name="Group 9"/>
          <p:cNvGrpSpPr/>
          <p:nvPr/>
        </p:nvGrpSpPr>
        <p:grpSpPr>
          <a:xfrm>
            <a:off x="9770371" y="3768295"/>
            <a:ext cx="7488929" cy="1620838"/>
            <a:chOff x="0" y="0"/>
            <a:chExt cx="1912506" cy="413926"/>
          </a:xfrm>
        </p:grpSpPr>
        <p:sp>
          <p:nvSpPr>
            <p:cNvPr id="10" name="Freeform 10"/>
            <p:cNvSpPr/>
            <p:nvPr/>
          </p:nvSpPr>
          <p:spPr>
            <a:xfrm>
              <a:off x="0" y="0"/>
              <a:ext cx="1912506" cy="413926"/>
            </a:xfrm>
            <a:custGeom>
              <a:avLst/>
              <a:gdLst/>
              <a:ahLst/>
              <a:cxnLst/>
              <a:rect l="l" t="t" r="r" b="b"/>
              <a:pathLst>
                <a:path w="1912506" h="413926">
                  <a:moveTo>
                    <a:pt x="0" y="0"/>
                  </a:moveTo>
                  <a:lnTo>
                    <a:pt x="1912506" y="0"/>
                  </a:lnTo>
                  <a:lnTo>
                    <a:pt x="1912506" y="413926"/>
                  </a:lnTo>
                  <a:lnTo>
                    <a:pt x="0" y="413926"/>
                  </a:lnTo>
                  <a:close/>
                </a:path>
              </a:pathLst>
            </a:custGeom>
            <a:solidFill>
              <a:srgbClr val="EDF3FB"/>
            </a:solidFill>
          </p:spPr>
          <p:txBody>
            <a:bodyPr/>
            <a:lstStyle/>
            <a:p>
              <a:endParaRPr lang="ko-KR" altLang="en-US"/>
            </a:p>
          </p:txBody>
        </p:sp>
        <p:sp>
          <p:nvSpPr>
            <p:cNvPr id="11" name="TextBox 11"/>
            <p:cNvSpPr txBox="1"/>
            <p:nvPr/>
          </p:nvSpPr>
          <p:spPr>
            <a:xfrm>
              <a:off x="0" y="-76200"/>
              <a:ext cx="1912506" cy="490126"/>
            </a:xfrm>
            <a:prstGeom prst="rect">
              <a:avLst/>
            </a:prstGeom>
          </p:spPr>
          <p:txBody>
            <a:bodyPr lIns="50800" tIns="50800" rIns="50800" bIns="50800" rtlCol="0" anchor="ctr"/>
            <a:lstStyle/>
            <a:p>
              <a:pPr marL="0" lvl="0" indent="0" algn="ctr">
                <a:lnSpc>
                  <a:spcPts val="3749"/>
                </a:lnSpc>
                <a:spcBef>
                  <a:spcPct val="0"/>
                </a:spcBef>
              </a:pPr>
              <a:endParaRPr/>
            </a:p>
          </p:txBody>
        </p:sp>
      </p:grpSp>
      <p:sp>
        <p:nvSpPr>
          <p:cNvPr id="12" name="Freeform 12"/>
          <p:cNvSpPr/>
          <p:nvPr/>
        </p:nvSpPr>
        <p:spPr>
          <a:xfrm>
            <a:off x="10256467" y="4382248"/>
            <a:ext cx="392930" cy="392930"/>
          </a:xfrm>
          <a:custGeom>
            <a:avLst/>
            <a:gdLst/>
            <a:ahLst/>
            <a:cxnLst/>
            <a:rect l="l" t="t" r="r" b="b"/>
            <a:pathLst>
              <a:path w="392930" h="392930">
                <a:moveTo>
                  <a:pt x="0" y="0"/>
                </a:moveTo>
                <a:lnTo>
                  <a:pt x="392930" y="0"/>
                </a:lnTo>
                <a:lnTo>
                  <a:pt x="392930" y="392931"/>
                </a:lnTo>
                <a:lnTo>
                  <a:pt x="0" y="39293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ko-KR" altLang="en-US"/>
          </a:p>
        </p:txBody>
      </p:sp>
      <p:sp>
        <p:nvSpPr>
          <p:cNvPr id="13" name="TextBox 13"/>
          <p:cNvSpPr txBox="1"/>
          <p:nvPr/>
        </p:nvSpPr>
        <p:spPr>
          <a:xfrm>
            <a:off x="10938365" y="4113495"/>
            <a:ext cx="1490447" cy="774125"/>
          </a:xfrm>
          <a:prstGeom prst="rect">
            <a:avLst/>
          </a:prstGeom>
        </p:spPr>
        <p:txBody>
          <a:bodyPr lIns="0" tIns="0" rIns="0" bIns="0" rtlCol="0" anchor="t">
            <a:spAutoFit/>
          </a:bodyPr>
          <a:lstStyle/>
          <a:p>
            <a:pPr algn="l">
              <a:lnSpc>
                <a:spcPts val="6497"/>
              </a:lnSpc>
            </a:pPr>
            <a:r>
              <a:rPr lang="en-US" sz="4331" b="1" spc="-129">
                <a:solidFill>
                  <a:srgbClr val="0066FF"/>
                </a:solidFill>
                <a:latin typeface="JASO Sans Bold"/>
                <a:ea typeface="JASO Sans Bold"/>
                <a:cs typeface="JASO Sans Bold"/>
                <a:sym typeface="JASO Sans Bold"/>
              </a:rPr>
              <a:t>+6%</a:t>
            </a:r>
          </a:p>
        </p:txBody>
      </p:sp>
      <p:sp>
        <p:nvSpPr>
          <p:cNvPr id="14" name="TextBox 14"/>
          <p:cNvSpPr txBox="1"/>
          <p:nvPr/>
        </p:nvSpPr>
        <p:spPr>
          <a:xfrm>
            <a:off x="12635100" y="4024834"/>
            <a:ext cx="4138104" cy="371494"/>
          </a:xfrm>
          <a:prstGeom prst="rect">
            <a:avLst/>
          </a:prstGeom>
        </p:spPr>
        <p:txBody>
          <a:bodyPr lIns="0" tIns="0" rIns="0" bIns="0" rtlCol="0" anchor="t">
            <a:spAutoFit/>
          </a:bodyPr>
          <a:lstStyle/>
          <a:p>
            <a:pPr algn="l">
              <a:lnSpc>
                <a:spcPts val="3093"/>
              </a:lnSpc>
            </a:pPr>
            <a:r>
              <a:rPr lang="en-US" sz="2062" b="1" spc="-61">
                <a:solidFill>
                  <a:srgbClr val="434343"/>
                </a:solidFill>
                <a:latin typeface="JASO Sans Bold"/>
                <a:ea typeface="JASO Sans Bold"/>
                <a:cs typeface="JASO Sans Bold"/>
                <a:sym typeface="JASO Sans Bold"/>
              </a:rPr>
              <a:t>평균 객단가</a:t>
            </a:r>
          </a:p>
        </p:txBody>
      </p:sp>
      <p:sp>
        <p:nvSpPr>
          <p:cNvPr id="15" name="TextBox 15"/>
          <p:cNvSpPr txBox="1"/>
          <p:nvPr/>
        </p:nvSpPr>
        <p:spPr>
          <a:xfrm>
            <a:off x="12635100" y="4424612"/>
            <a:ext cx="4138104" cy="650831"/>
          </a:xfrm>
          <a:prstGeom prst="rect">
            <a:avLst/>
          </a:prstGeom>
        </p:spPr>
        <p:txBody>
          <a:bodyPr lIns="0" tIns="0" rIns="0" bIns="0" rtlCol="0" anchor="t">
            <a:spAutoFit/>
          </a:bodyPr>
          <a:lstStyle/>
          <a:p>
            <a:pPr algn="l">
              <a:lnSpc>
                <a:spcPts val="2640"/>
              </a:lnSpc>
            </a:pPr>
            <a:r>
              <a:rPr lang="en-US" sz="1650">
                <a:solidFill>
                  <a:srgbClr val="434343"/>
                </a:solidFill>
                <a:latin typeface="JASO Sans"/>
                <a:ea typeface="JASO Sans"/>
                <a:cs typeface="JASO Sans"/>
                <a:sym typeface="JASO Sans"/>
              </a:rPr>
              <a:t>평균 객단가는 고객 한 명이 구매한 상품의 평균 가격을 의미합니다. </a:t>
            </a:r>
          </a:p>
        </p:txBody>
      </p:sp>
      <p:grpSp>
        <p:nvGrpSpPr>
          <p:cNvPr id="16" name="Group 16"/>
          <p:cNvGrpSpPr/>
          <p:nvPr/>
        </p:nvGrpSpPr>
        <p:grpSpPr>
          <a:xfrm>
            <a:off x="9770371" y="5701521"/>
            <a:ext cx="7488929" cy="1620838"/>
            <a:chOff x="0" y="0"/>
            <a:chExt cx="1912506" cy="413926"/>
          </a:xfrm>
        </p:grpSpPr>
        <p:sp>
          <p:nvSpPr>
            <p:cNvPr id="17" name="Freeform 17"/>
            <p:cNvSpPr/>
            <p:nvPr/>
          </p:nvSpPr>
          <p:spPr>
            <a:xfrm>
              <a:off x="0" y="0"/>
              <a:ext cx="1912506" cy="413926"/>
            </a:xfrm>
            <a:custGeom>
              <a:avLst/>
              <a:gdLst/>
              <a:ahLst/>
              <a:cxnLst/>
              <a:rect l="l" t="t" r="r" b="b"/>
              <a:pathLst>
                <a:path w="1912506" h="413926">
                  <a:moveTo>
                    <a:pt x="0" y="0"/>
                  </a:moveTo>
                  <a:lnTo>
                    <a:pt x="1912506" y="0"/>
                  </a:lnTo>
                  <a:lnTo>
                    <a:pt x="1912506" y="413926"/>
                  </a:lnTo>
                  <a:lnTo>
                    <a:pt x="0" y="413926"/>
                  </a:lnTo>
                  <a:close/>
                </a:path>
              </a:pathLst>
            </a:custGeom>
            <a:solidFill>
              <a:srgbClr val="EDF3FB"/>
            </a:solidFill>
          </p:spPr>
          <p:txBody>
            <a:bodyPr/>
            <a:lstStyle/>
            <a:p>
              <a:endParaRPr lang="ko-KR" altLang="en-US"/>
            </a:p>
          </p:txBody>
        </p:sp>
        <p:sp>
          <p:nvSpPr>
            <p:cNvPr id="18" name="TextBox 18"/>
            <p:cNvSpPr txBox="1"/>
            <p:nvPr/>
          </p:nvSpPr>
          <p:spPr>
            <a:xfrm>
              <a:off x="0" y="-76200"/>
              <a:ext cx="1912506" cy="490126"/>
            </a:xfrm>
            <a:prstGeom prst="rect">
              <a:avLst/>
            </a:prstGeom>
          </p:spPr>
          <p:txBody>
            <a:bodyPr lIns="50800" tIns="50800" rIns="50800" bIns="50800" rtlCol="0" anchor="ctr"/>
            <a:lstStyle/>
            <a:p>
              <a:pPr marL="0" lvl="0" indent="0" algn="ctr">
                <a:lnSpc>
                  <a:spcPts val="3749"/>
                </a:lnSpc>
                <a:spcBef>
                  <a:spcPct val="0"/>
                </a:spcBef>
              </a:pPr>
              <a:endParaRPr/>
            </a:p>
          </p:txBody>
        </p:sp>
      </p:grpSp>
      <p:sp>
        <p:nvSpPr>
          <p:cNvPr id="19" name="Freeform 19"/>
          <p:cNvSpPr/>
          <p:nvPr/>
        </p:nvSpPr>
        <p:spPr>
          <a:xfrm>
            <a:off x="10250406" y="6315475"/>
            <a:ext cx="410079" cy="392930"/>
          </a:xfrm>
          <a:custGeom>
            <a:avLst/>
            <a:gdLst/>
            <a:ahLst/>
            <a:cxnLst/>
            <a:rect l="l" t="t" r="r" b="b"/>
            <a:pathLst>
              <a:path w="410079" h="392930">
                <a:moveTo>
                  <a:pt x="0" y="0"/>
                </a:moveTo>
                <a:lnTo>
                  <a:pt x="410080" y="0"/>
                </a:lnTo>
                <a:lnTo>
                  <a:pt x="410080" y="392930"/>
                </a:lnTo>
                <a:lnTo>
                  <a:pt x="0" y="392930"/>
                </a:lnTo>
                <a:lnTo>
                  <a:pt x="0" y="0"/>
                </a:lnTo>
                <a:close/>
              </a:path>
            </a:pathLst>
          </a:custGeom>
          <a:blipFill>
            <a:blip>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ko-KR" altLang="en-US"/>
          </a:p>
        </p:txBody>
      </p:sp>
      <p:sp>
        <p:nvSpPr>
          <p:cNvPr id="20" name="TextBox 20"/>
          <p:cNvSpPr txBox="1"/>
          <p:nvPr/>
        </p:nvSpPr>
        <p:spPr>
          <a:xfrm>
            <a:off x="12641161" y="5958060"/>
            <a:ext cx="4138104" cy="371494"/>
          </a:xfrm>
          <a:prstGeom prst="rect">
            <a:avLst/>
          </a:prstGeom>
        </p:spPr>
        <p:txBody>
          <a:bodyPr lIns="0" tIns="0" rIns="0" bIns="0" rtlCol="0" anchor="t">
            <a:spAutoFit/>
          </a:bodyPr>
          <a:lstStyle/>
          <a:p>
            <a:pPr algn="l">
              <a:lnSpc>
                <a:spcPts val="3093"/>
              </a:lnSpc>
            </a:pPr>
            <a:r>
              <a:rPr lang="en-US" sz="2062" b="1" spc="-61">
                <a:solidFill>
                  <a:srgbClr val="434343"/>
                </a:solidFill>
                <a:latin typeface="JASO Sans Bold"/>
                <a:ea typeface="JASO Sans Bold"/>
                <a:cs typeface="JASO Sans Bold"/>
                <a:sym typeface="JASO Sans Bold"/>
              </a:rPr>
              <a:t>온라인 채널 매출 비중</a:t>
            </a:r>
          </a:p>
        </p:txBody>
      </p:sp>
      <p:sp>
        <p:nvSpPr>
          <p:cNvPr id="21" name="TextBox 21"/>
          <p:cNvSpPr txBox="1"/>
          <p:nvPr/>
        </p:nvSpPr>
        <p:spPr>
          <a:xfrm>
            <a:off x="12641161" y="6357839"/>
            <a:ext cx="4138104" cy="650831"/>
          </a:xfrm>
          <a:prstGeom prst="rect">
            <a:avLst/>
          </a:prstGeom>
        </p:spPr>
        <p:txBody>
          <a:bodyPr lIns="0" tIns="0" rIns="0" bIns="0" rtlCol="0" anchor="t">
            <a:spAutoFit/>
          </a:bodyPr>
          <a:lstStyle/>
          <a:p>
            <a:pPr marL="0" lvl="0" indent="0" algn="l">
              <a:lnSpc>
                <a:spcPts val="2640"/>
              </a:lnSpc>
              <a:spcBef>
                <a:spcPct val="0"/>
              </a:spcBef>
            </a:pPr>
            <a:r>
              <a:rPr lang="en-US" sz="1650" u="none" strike="noStrike">
                <a:solidFill>
                  <a:srgbClr val="434343"/>
                </a:solidFill>
                <a:latin typeface="JASO Sans"/>
                <a:ea typeface="JASO Sans"/>
                <a:cs typeface="JASO Sans"/>
                <a:sym typeface="JASO Sans"/>
              </a:rPr>
              <a:t>온라인 채널 매출 비중은 전체 매출에서 온라인을 통해 발생하는 비율을 나타냅니다.</a:t>
            </a:r>
          </a:p>
        </p:txBody>
      </p:sp>
      <p:sp>
        <p:nvSpPr>
          <p:cNvPr id="22" name="TextBox 22"/>
          <p:cNvSpPr txBox="1"/>
          <p:nvPr/>
        </p:nvSpPr>
        <p:spPr>
          <a:xfrm>
            <a:off x="10944426" y="6072222"/>
            <a:ext cx="1490447" cy="774125"/>
          </a:xfrm>
          <a:prstGeom prst="rect">
            <a:avLst/>
          </a:prstGeom>
        </p:spPr>
        <p:txBody>
          <a:bodyPr lIns="0" tIns="0" rIns="0" bIns="0" rtlCol="0" anchor="t">
            <a:spAutoFit/>
          </a:bodyPr>
          <a:lstStyle/>
          <a:p>
            <a:pPr algn="l">
              <a:lnSpc>
                <a:spcPts val="6497"/>
              </a:lnSpc>
            </a:pPr>
            <a:r>
              <a:rPr lang="en-US" sz="4331" b="1" spc="-129">
                <a:solidFill>
                  <a:srgbClr val="0066FF"/>
                </a:solidFill>
                <a:latin typeface="JASO Sans Bold"/>
                <a:ea typeface="JASO Sans Bold"/>
                <a:cs typeface="JASO Sans Bold"/>
                <a:sym typeface="JASO Sans Bold"/>
              </a:rPr>
              <a:t>45%</a:t>
            </a:r>
          </a:p>
        </p:txBody>
      </p:sp>
      <p:grpSp>
        <p:nvGrpSpPr>
          <p:cNvPr id="23" name="Group 23"/>
          <p:cNvGrpSpPr/>
          <p:nvPr/>
        </p:nvGrpSpPr>
        <p:grpSpPr>
          <a:xfrm>
            <a:off x="9770371" y="7634747"/>
            <a:ext cx="7488929" cy="1623553"/>
            <a:chOff x="0" y="0"/>
            <a:chExt cx="1912506" cy="414619"/>
          </a:xfrm>
        </p:grpSpPr>
        <p:sp>
          <p:nvSpPr>
            <p:cNvPr id="24" name="Freeform 24"/>
            <p:cNvSpPr/>
            <p:nvPr/>
          </p:nvSpPr>
          <p:spPr>
            <a:xfrm>
              <a:off x="0" y="0"/>
              <a:ext cx="1912506" cy="414619"/>
            </a:xfrm>
            <a:custGeom>
              <a:avLst/>
              <a:gdLst/>
              <a:ahLst/>
              <a:cxnLst/>
              <a:rect l="l" t="t" r="r" b="b"/>
              <a:pathLst>
                <a:path w="1912506" h="414619">
                  <a:moveTo>
                    <a:pt x="0" y="0"/>
                  </a:moveTo>
                  <a:lnTo>
                    <a:pt x="1912506" y="0"/>
                  </a:lnTo>
                  <a:lnTo>
                    <a:pt x="1912506" y="414619"/>
                  </a:lnTo>
                  <a:lnTo>
                    <a:pt x="0" y="414619"/>
                  </a:lnTo>
                  <a:close/>
                </a:path>
              </a:pathLst>
            </a:custGeom>
            <a:solidFill>
              <a:srgbClr val="EDF3FB"/>
            </a:solidFill>
          </p:spPr>
          <p:txBody>
            <a:bodyPr/>
            <a:lstStyle/>
            <a:p>
              <a:endParaRPr lang="ko-KR" altLang="en-US"/>
            </a:p>
          </p:txBody>
        </p:sp>
        <p:sp>
          <p:nvSpPr>
            <p:cNvPr id="25" name="TextBox 25"/>
            <p:cNvSpPr txBox="1"/>
            <p:nvPr/>
          </p:nvSpPr>
          <p:spPr>
            <a:xfrm>
              <a:off x="0" y="-76200"/>
              <a:ext cx="1912506" cy="490819"/>
            </a:xfrm>
            <a:prstGeom prst="rect">
              <a:avLst/>
            </a:prstGeom>
          </p:spPr>
          <p:txBody>
            <a:bodyPr lIns="50800" tIns="50800" rIns="50800" bIns="50800" rtlCol="0" anchor="ctr"/>
            <a:lstStyle/>
            <a:p>
              <a:pPr marL="0" lvl="0" indent="0" algn="ctr">
                <a:lnSpc>
                  <a:spcPts val="3749"/>
                </a:lnSpc>
                <a:spcBef>
                  <a:spcPct val="0"/>
                </a:spcBef>
              </a:pPr>
              <a:endParaRPr/>
            </a:p>
          </p:txBody>
        </p:sp>
      </p:grpSp>
      <p:sp>
        <p:nvSpPr>
          <p:cNvPr id="26" name="Freeform 26"/>
          <p:cNvSpPr/>
          <p:nvPr/>
        </p:nvSpPr>
        <p:spPr>
          <a:xfrm>
            <a:off x="10262527" y="8250059"/>
            <a:ext cx="392930" cy="392930"/>
          </a:xfrm>
          <a:custGeom>
            <a:avLst/>
            <a:gdLst/>
            <a:ahLst/>
            <a:cxnLst/>
            <a:rect l="l" t="t" r="r" b="b"/>
            <a:pathLst>
              <a:path w="392930" h="392930">
                <a:moveTo>
                  <a:pt x="0" y="0"/>
                </a:moveTo>
                <a:lnTo>
                  <a:pt x="392931" y="0"/>
                </a:lnTo>
                <a:lnTo>
                  <a:pt x="392931" y="392930"/>
                </a:lnTo>
                <a:lnTo>
                  <a:pt x="0" y="392930"/>
                </a:lnTo>
                <a:lnTo>
                  <a:pt x="0" y="0"/>
                </a:lnTo>
                <a:close/>
              </a:path>
            </a:pathLst>
          </a:custGeom>
          <a:blipFill>
            <a:blip>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ko-KR" altLang="en-US"/>
          </a:p>
        </p:txBody>
      </p:sp>
      <p:sp>
        <p:nvSpPr>
          <p:cNvPr id="27" name="TextBox 27"/>
          <p:cNvSpPr txBox="1"/>
          <p:nvPr/>
        </p:nvSpPr>
        <p:spPr>
          <a:xfrm>
            <a:off x="12641161" y="7892644"/>
            <a:ext cx="4138104" cy="371494"/>
          </a:xfrm>
          <a:prstGeom prst="rect">
            <a:avLst/>
          </a:prstGeom>
        </p:spPr>
        <p:txBody>
          <a:bodyPr lIns="0" tIns="0" rIns="0" bIns="0" rtlCol="0" anchor="t">
            <a:spAutoFit/>
          </a:bodyPr>
          <a:lstStyle/>
          <a:p>
            <a:pPr algn="l">
              <a:lnSpc>
                <a:spcPts val="3093"/>
              </a:lnSpc>
            </a:pPr>
            <a:r>
              <a:rPr lang="en-US" sz="2062" b="1" spc="-61">
                <a:solidFill>
                  <a:srgbClr val="434343"/>
                </a:solidFill>
                <a:latin typeface="JASO Sans Bold"/>
                <a:ea typeface="JASO Sans Bold"/>
                <a:cs typeface="JASO Sans Bold"/>
                <a:sym typeface="JASO Sans Bold"/>
              </a:rPr>
              <a:t>재고 회전율</a:t>
            </a:r>
          </a:p>
        </p:txBody>
      </p:sp>
      <p:sp>
        <p:nvSpPr>
          <p:cNvPr id="28" name="TextBox 28"/>
          <p:cNvSpPr txBox="1"/>
          <p:nvPr/>
        </p:nvSpPr>
        <p:spPr>
          <a:xfrm>
            <a:off x="12641161" y="8292423"/>
            <a:ext cx="4138104" cy="650831"/>
          </a:xfrm>
          <a:prstGeom prst="rect">
            <a:avLst/>
          </a:prstGeom>
        </p:spPr>
        <p:txBody>
          <a:bodyPr lIns="0" tIns="0" rIns="0" bIns="0" rtlCol="0" anchor="t">
            <a:spAutoFit/>
          </a:bodyPr>
          <a:lstStyle/>
          <a:p>
            <a:pPr marL="0" lvl="0" indent="0" algn="l">
              <a:lnSpc>
                <a:spcPts val="2640"/>
              </a:lnSpc>
              <a:spcBef>
                <a:spcPct val="0"/>
              </a:spcBef>
            </a:pPr>
            <a:r>
              <a:rPr lang="en-US" sz="1650" u="none" strike="noStrike">
                <a:solidFill>
                  <a:srgbClr val="434343"/>
                </a:solidFill>
                <a:latin typeface="JASO Sans"/>
                <a:ea typeface="JASO Sans"/>
                <a:cs typeface="JASO Sans"/>
                <a:sym typeface="JASO Sans"/>
              </a:rPr>
              <a:t>재고 회전율은 기업이 보유한 재고가 얼마나 빨리 판매되는지를 보여주는 지표입니다.</a:t>
            </a:r>
          </a:p>
        </p:txBody>
      </p:sp>
      <p:sp>
        <p:nvSpPr>
          <p:cNvPr id="29" name="TextBox 29"/>
          <p:cNvSpPr txBox="1"/>
          <p:nvPr/>
        </p:nvSpPr>
        <p:spPr>
          <a:xfrm>
            <a:off x="10944426" y="7997549"/>
            <a:ext cx="1490447" cy="774125"/>
          </a:xfrm>
          <a:prstGeom prst="rect">
            <a:avLst/>
          </a:prstGeom>
        </p:spPr>
        <p:txBody>
          <a:bodyPr lIns="0" tIns="0" rIns="0" bIns="0" rtlCol="0" anchor="t">
            <a:spAutoFit/>
          </a:bodyPr>
          <a:lstStyle/>
          <a:p>
            <a:pPr algn="l">
              <a:lnSpc>
                <a:spcPts val="6497"/>
              </a:lnSpc>
            </a:pPr>
            <a:r>
              <a:rPr lang="en-US" sz="4331" b="1" spc="-129">
                <a:solidFill>
                  <a:srgbClr val="0066FF"/>
                </a:solidFill>
                <a:latin typeface="JASO Sans Bold"/>
                <a:ea typeface="JASO Sans Bold"/>
                <a:cs typeface="JASO Sans Bold"/>
                <a:sym typeface="JASO Sans Bold"/>
              </a:rPr>
              <a:t>5.5회</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18481" y="1412643"/>
            <a:ext cx="13819856" cy="753110"/>
          </a:xfrm>
          <a:prstGeom prst="rect">
            <a:avLst/>
          </a:prstGeom>
        </p:spPr>
        <p:txBody>
          <a:bodyPr lIns="0" tIns="0" rIns="0" bIns="0" rtlCol="0" anchor="t">
            <a:spAutoFit/>
          </a:bodyPr>
          <a:lstStyle/>
          <a:p>
            <a:pPr algn="l">
              <a:lnSpc>
                <a:spcPts val="5829"/>
              </a:lnSpc>
            </a:pPr>
            <a:r>
              <a:rPr lang="en-US" sz="5299" b="1" spc="-264">
                <a:solidFill>
                  <a:srgbClr val="434343"/>
                </a:solidFill>
                <a:latin typeface="JASO Sans Bold"/>
                <a:ea typeface="JASO Sans Bold"/>
                <a:cs typeface="JASO Sans Bold"/>
                <a:sym typeface="JASO Sans Bold"/>
              </a:rPr>
              <a:t>2030년 목표 한눈에 보기</a:t>
            </a:r>
          </a:p>
        </p:txBody>
      </p:sp>
      <p:grpSp>
        <p:nvGrpSpPr>
          <p:cNvPr id="4" name="Group 4"/>
          <p:cNvGrpSpPr/>
          <p:nvPr/>
        </p:nvGrpSpPr>
        <p:grpSpPr>
          <a:xfrm>
            <a:off x="1518481" y="7722665"/>
            <a:ext cx="15740819" cy="1535635"/>
            <a:chOff x="0" y="0"/>
            <a:chExt cx="4022793" cy="392454"/>
          </a:xfrm>
        </p:grpSpPr>
        <p:sp>
          <p:nvSpPr>
            <p:cNvPr id="5" name="Freeform 5"/>
            <p:cNvSpPr/>
            <p:nvPr/>
          </p:nvSpPr>
          <p:spPr>
            <a:xfrm>
              <a:off x="0" y="0"/>
              <a:ext cx="4022793" cy="392454"/>
            </a:xfrm>
            <a:custGeom>
              <a:avLst/>
              <a:gdLst/>
              <a:ahLst/>
              <a:cxnLst/>
              <a:rect l="l" t="t" r="r" b="b"/>
              <a:pathLst>
                <a:path w="4022793" h="392454">
                  <a:moveTo>
                    <a:pt x="0" y="0"/>
                  </a:moveTo>
                  <a:lnTo>
                    <a:pt x="4022793" y="0"/>
                  </a:lnTo>
                  <a:lnTo>
                    <a:pt x="4022793" y="392454"/>
                  </a:lnTo>
                  <a:lnTo>
                    <a:pt x="0" y="392454"/>
                  </a:lnTo>
                  <a:close/>
                </a:path>
              </a:pathLst>
            </a:custGeom>
            <a:solidFill>
              <a:srgbClr val="EDF3FB"/>
            </a:solidFill>
          </p:spPr>
          <p:txBody>
            <a:bodyPr/>
            <a:lstStyle/>
            <a:p>
              <a:endParaRPr lang="ko-KR" altLang="en-US"/>
            </a:p>
          </p:txBody>
        </p:sp>
        <p:sp>
          <p:nvSpPr>
            <p:cNvPr id="6" name="TextBox 6"/>
            <p:cNvSpPr txBox="1"/>
            <p:nvPr/>
          </p:nvSpPr>
          <p:spPr>
            <a:xfrm>
              <a:off x="0" y="-76200"/>
              <a:ext cx="4022793" cy="468654"/>
            </a:xfrm>
            <a:prstGeom prst="rect">
              <a:avLst/>
            </a:prstGeom>
          </p:spPr>
          <p:txBody>
            <a:bodyPr lIns="50800" tIns="50800" rIns="50800" bIns="50800" rtlCol="0" anchor="ctr"/>
            <a:lstStyle/>
            <a:p>
              <a:pPr marL="0" lvl="0" indent="0" algn="ctr">
                <a:lnSpc>
                  <a:spcPts val="3749"/>
                </a:lnSpc>
                <a:spcBef>
                  <a:spcPct val="0"/>
                </a:spcBef>
              </a:pPr>
              <a:endParaRPr/>
            </a:p>
          </p:txBody>
        </p:sp>
      </p:grpSp>
      <p:sp>
        <p:nvSpPr>
          <p:cNvPr id="7" name="Freeform 7"/>
          <p:cNvSpPr/>
          <p:nvPr/>
        </p:nvSpPr>
        <p:spPr>
          <a:xfrm>
            <a:off x="1518481" y="3154828"/>
            <a:ext cx="154410" cy="223895"/>
          </a:xfrm>
          <a:custGeom>
            <a:avLst/>
            <a:gdLst/>
            <a:ahLst/>
            <a:cxnLst/>
            <a:rect l="l" t="t" r="r" b="b"/>
            <a:pathLst>
              <a:path w="154410" h="223895">
                <a:moveTo>
                  <a:pt x="0" y="0"/>
                </a:moveTo>
                <a:lnTo>
                  <a:pt x="154410" y="0"/>
                </a:lnTo>
                <a:lnTo>
                  <a:pt x="154410" y="223895"/>
                </a:lnTo>
                <a:lnTo>
                  <a:pt x="0" y="22389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ko-KR" altLang="en-US"/>
          </a:p>
        </p:txBody>
      </p:sp>
      <p:sp>
        <p:nvSpPr>
          <p:cNvPr id="8" name="Freeform 8"/>
          <p:cNvSpPr/>
          <p:nvPr/>
        </p:nvSpPr>
        <p:spPr>
          <a:xfrm>
            <a:off x="9775840" y="3154828"/>
            <a:ext cx="154410" cy="223895"/>
          </a:xfrm>
          <a:custGeom>
            <a:avLst/>
            <a:gdLst/>
            <a:ahLst/>
            <a:cxnLst/>
            <a:rect l="l" t="t" r="r" b="b"/>
            <a:pathLst>
              <a:path w="154410" h="223895">
                <a:moveTo>
                  <a:pt x="0" y="0"/>
                </a:moveTo>
                <a:lnTo>
                  <a:pt x="154410" y="0"/>
                </a:lnTo>
                <a:lnTo>
                  <a:pt x="154410" y="223895"/>
                </a:lnTo>
                <a:lnTo>
                  <a:pt x="0" y="22389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ko-KR" altLang="en-US"/>
          </a:p>
        </p:txBody>
      </p:sp>
      <p:sp>
        <p:nvSpPr>
          <p:cNvPr id="9" name="TextBox 9"/>
          <p:cNvSpPr txBox="1"/>
          <p:nvPr/>
        </p:nvSpPr>
        <p:spPr>
          <a:xfrm>
            <a:off x="2251919" y="8230722"/>
            <a:ext cx="14273942" cy="443322"/>
          </a:xfrm>
          <a:prstGeom prst="rect">
            <a:avLst/>
          </a:prstGeom>
        </p:spPr>
        <p:txBody>
          <a:bodyPr lIns="0" tIns="0" rIns="0" bIns="0" rtlCol="0" anchor="t">
            <a:spAutoFit/>
          </a:bodyPr>
          <a:lstStyle/>
          <a:p>
            <a:pPr algn="ctr">
              <a:lnSpc>
                <a:spcPts val="3710"/>
              </a:lnSpc>
            </a:pPr>
            <a:r>
              <a:rPr lang="en-US" sz="2473" b="1" spc="-74">
                <a:solidFill>
                  <a:srgbClr val="434343"/>
                </a:solidFill>
                <a:latin typeface="JASO Sans Bold"/>
                <a:ea typeface="JASO Sans Bold"/>
                <a:cs typeface="JASO Sans Bold"/>
                <a:sym typeface="JASO Sans Bold"/>
              </a:rPr>
              <a:t>국내외 채널별 매출 증가 및 고객 만족도 향상을 위해 다양한 전략을 수립</a:t>
            </a:r>
          </a:p>
        </p:txBody>
      </p:sp>
      <p:sp>
        <p:nvSpPr>
          <p:cNvPr id="10" name="TextBox 10"/>
          <p:cNvSpPr txBox="1"/>
          <p:nvPr/>
        </p:nvSpPr>
        <p:spPr>
          <a:xfrm>
            <a:off x="1815651" y="3004070"/>
            <a:ext cx="7186290" cy="443322"/>
          </a:xfrm>
          <a:prstGeom prst="rect">
            <a:avLst/>
          </a:prstGeom>
        </p:spPr>
        <p:txBody>
          <a:bodyPr lIns="0" tIns="0" rIns="0" bIns="0" rtlCol="0" anchor="t">
            <a:spAutoFit/>
          </a:bodyPr>
          <a:lstStyle/>
          <a:p>
            <a:pPr algn="l">
              <a:lnSpc>
                <a:spcPts val="3710"/>
              </a:lnSpc>
            </a:pPr>
            <a:r>
              <a:rPr lang="en-US" sz="2473" b="1" spc="-49">
                <a:solidFill>
                  <a:srgbClr val="434343"/>
                </a:solidFill>
                <a:latin typeface="JASO Sans Bold"/>
                <a:ea typeface="JASO Sans Bold"/>
                <a:cs typeface="JASO Sans Bold"/>
                <a:sym typeface="JASO Sans Bold"/>
              </a:rPr>
              <a:t>2030년 신사업 매출 향상</a:t>
            </a:r>
          </a:p>
        </p:txBody>
      </p:sp>
      <p:sp>
        <p:nvSpPr>
          <p:cNvPr id="11" name="TextBox 11"/>
          <p:cNvSpPr txBox="1"/>
          <p:nvPr/>
        </p:nvSpPr>
        <p:spPr>
          <a:xfrm>
            <a:off x="10073010" y="3004070"/>
            <a:ext cx="7186290" cy="443322"/>
          </a:xfrm>
          <a:prstGeom prst="rect">
            <a:avLst/>
          </a:prstGeom>
        </p:spPr>
        <p:txBody>
          <a:bodyPr lIns="0" tIns="0" rIns="0" bIns="0" rtlCol="0" anchor="t">
            <a:spAutoFit/>
          </a:bodyPr>
          <a:lstStyle/>
          <a:p>
            <a:pPr algn="l">
              <a:lnSpc>
                <a:spcPts val="3710"/>
              </a:lnSpc>
            </a:pPr>
            <a:r>
              <a:rPr lang="en-US" sz="2473" b="1" spc="-49">
                <a:solidFill>
                  <a:srgbClr val="434343"/>
                </a:solidFill>
                <a:latin typeface="JASO Sans Bold"/>
                <a:ea typeface="JASO Sans Bold"/>
                <a:cs typeface="JASO Sans Bold"/>
                <a:sym typeface="JASO Sans Bold"/>
              </a:rPr>
              <a:t>고객이 만족하는 서비스와 질</a:t>
            </a:r>
          </a:p>
        </p:txBody>
      </p:sp>
      <p:sp>
        <p:nvSpPr>
          <p:cNvPr id="12" name="TextBox 12"/>
          <p:cNvSpPr txBox="1"/>
          <p:nvPr/>
        </p:nvSpPr>
        <p:spPr>
          <a:xfrm>
            <a:off x="1518481" y="3667129"/>
            <a:ext cx="7493276" cy="3394544"/>
          </a:xfrm>
          <a:prstGeom prst="rect">
            <a:avLst/>
          </a:prstGeom>
        </p:spPr>
        <p:txBody>
          <a:bodyPr lIns="0" tIns="0" rIns="0" bIns="0" rtlCol="0" anchor="t">
            <a:spAutoFit/>
          </a:bodyPr>
          <a:lstStyle/>
          <a:p>
            <a:pPr algn="l">
              <a:lnSpc>
                <a:spcPts val="3895"/>
              </a:lnSpc>
            </a:pPr>
            <a:r>
              <a:rPr lang="en-US" sz="2164" spc="-64">
                <a:solidFill>
                  <a:srgbClr val="434343"/>
                </a:solidFill>
                <a:latin typeface="JASO Sans"/>
                <a:ea typeface="JASO Sans"/>
                <a:cs typeface="JASO Sans"/>
                <a:sym typeface="JASO Sans"/>
              </a:rPr>
              <a:t>2030년 신사업 매출 향상을 위해 당사는 혁신적인 제품 개발과 새로운 시장 진출을 계획하고 있습니다. 이를 통해 고객의 다양한 요구를 충족시키고, 시장 점유율을 확대할 것입니다. 또한, 지속 가능한 성장을 위해 내부 프로세스를 최적화하고, 디지털 전환을 가속화할 것입니다. 주요 전략으로는 고객 맞춤형 서비스 제공, 글로벌 파트너십 강화, 그리고 차세대 기술 도입이 포함됩니다. 이러한 노력을 통해 2030년까지 신사업 매출을 획기적으로 향상시키는 것을 목표로 하고 있습니다.</a:t>
            </a:r>
          </a:p>
        </p:txBody>
      </p:sp>
      <p:sp>
        <p:nvSpPr>
          <p:cNvPr id="13" name="TextBox 13"/>
          <p:cNvSpPr txBox="1"/>
          <p:nvPr/>
        </p:nvSpPr>
        <p:spPr>
          <a:xfrm>
            <a:off x="9766024" y="3667129"/>
            <a:ext cx="7493276" cy="3394544"/>
          </a:xfrm>
          <a:prstGeom prst="rect">
            <a:avLst/>
          </a:prstGeom>
        </p:spPr>
        <p:txBody>
          <a:bodyPr lIns="0" tIns="0" rIns="0" bIns="0" rtlCol="0" anchor="t">
            <a:spAutoFit/>
          </a:bodyPr>
          <a:lstStyle/>
          <a:p>
            <a:pPr algn="l">
              <a:lnSpc>
                <a:spcPts val="3895"/>
              </a:lnSpc>
            </a:pPr>
            <a:r>
              <a:rPr lang="en-US" sz="2164" spc="-64">
                <a:solidFill>
                  <a:srgbClr val="434343"/>
                </a:solidFill>
                <a:latin typeface="JASO Sans"/>
                <a:ea typeface="JASO Sans"/>
                <a:cs typeface="JASO Sans"/>
                <a:sym typeface="JASO Sans"/>
              </a:rPr>
              <a:t>고객이 만족하는 서비스와 질을 높이기 위해 우리는 고객의 피드백을 적극적으로 수렴하고, 이를 바탕으로 서비스 개선을 지속할 것입니다. 최신 기술을 도입하여 고객 경험을 개인화하고, 고객의 기대를 초과하는 서비스를 제공함으로써 고객 충성도를 강화할 계획입니다. 또한, 고객 지원 팀의 역량을 강화하여 모든 접점에서 일관된 고품질의 서비스를 제공할 수 있도록 할 것입니다. 이러한 노력은 장기적인 고객 관계를 구축하는 데 기여할 것입니다.</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18481" y="1412643"/>
            <a:ext cx="13819856" cy="753110"/>
          </a:xfrm>
          <a:prstGeom prst="rect">
            <a:avLst/>
          </a:prstGeom>
        </p:spPr>
        <p:txBody>
          <a:bodyPr lIns="0" tIns="0" rIns="0" bIns="0" rtlCol="0" anchor="t">
            <a:spAutoFit/>
          </a:bodyPr>
          <a:lstStyle/>
          <a:p>
            <a:pPr algn="l">
              <a:lnSpc>
                <a:spcPts val="5829"/>
              </a:lnSpc>
            </a:pPr>
            <a:r>
              <a:rPr lang="en-US" sz="5299" b="1" spc="-264">
                <a:solidFill>
                  <a:srgbClr val="434343"/>
                </a:solidFill>
                <a:latin typeface="JASO Sans Bold"/>
                <a:ea typeface="JASO Sans Bold"/>
                <a:cs typeface="JASO Sans Bold"/>
                <a:sym typeface="JASO Sans Bold"/>
              </a:rPr>
              <a:t>시장 및 트렌드 전망</a:t>
            </a:r>
          </a:p>
        </p:txBody>
      </p:sp>
      <p:grpSp>
        <p:nvGrpSpPr>
          <p:cNvPr id="4" name="Group 4"/>
          <p:cNvGrpSpPr/>
          <p:nvPr/>
        </p:nvGrpSpPr>
        <p:grpSpPr>
          <a:xfrm>
            <a:off x="1518481" y="3354938"/>
            <a:ext cx="4945667" cy="5903362"/>
            <a:chOff x="0" y="0"/>
            <a:chExt cx="1263937" cy="1508689"/>
          </a:xfrm>
        </p:grpSpPr>
        <p:sp>
          <p:nvSpPr>
            <p:cNvPr id="5" name="Freeform 5"/>
            <p:cNvSpPr/>
            <p:nvPr/>
          </p:nvSpPr>
          <p:spPr>
            <a:xfrm>
              <a:off x="0" y="0"/>
              <a:ext cx="1263937" cy="1508689"/>
            </a:xfrm>
            <a:custGeom>
              <a:avLst/>
              <a:gdLst/>
              <a:ahLst/>
              <a:cxnLst/>
              <a:rect l="l" t="t" r="r" b="b"/>
              <a:pathLst>
                <a:path w="1263937" h="1508689">
                  <a:moveTo>
                    <a:pt x="0" y="0"/>
                  </a:moveTo>
                  <a:lnTo>
                    <a:pt x="1263937" y="0"/>
                  </a:lnTo>
                  <a:lnTo>
                    <a:pt x="1263937" y="1508689"/>
                  </a:lnTo>
                  <a:lnTo>
                    <a:pt x="0" y="1508689"/>
                  </a:lnTo>
                  <a:close/>
                </a:path>
              </a:pathLst>
            </a:custGeom>
            <a:solidFill>
              <a:srgbClr val="EDF3FB"/>
            </a:solidFill>
          </p:spPr>
          <p:txBody>
            <a:bodyPr/>
            <a:lstStyle/>
            <a:p>
              <a:endParaRPr lang="ko-KR" altLang="en-US"/>
            </a:p>
          </p:txBody>
        </p:sp>
        <p:sp>
          <p:nvSpPr>
            <p:cNvPr id="6" name="TextBox 6"/>
            <p:cNvSpPr txBox="1"/>
            <p:nvPr/>
          </p:nvSpPr>
          <p:spPr>
            <a:xfrm>
              <a:off x="0" y="-76200"/>
              <a:ext cx="1263937" cy="1584889"/>
            </a:xfrm>
            <a:prstGeom prst="rect">
              <a:avLst/>
            </a:prstGeom>
          </p:spPr>
          <p:txBody>
            <a:bodyPr lIns="50800" tIns="50800" rIns="50800" bIns="50800" rtlCol="0" anchor="ctr"/>
            <a:lstStyle/>
            <a:p>
              <a:pPr marL="0" lvl="0" indent="0" algn="ctr">
                <a:lnSpc>
                  <a:spcPts val="3749"/>
                </a:lnSpc>
                <a:spcBef>
                  <a:spcPct val="0"/>
                </a:spcBef>
              </a:pPr>
              <a:endParaRPr/>
            </a:p>
          </p:txBody>
        </p:sp>
      </p:grpSp>
      <p:grpSp>
        <p:nvGrpSpPr>
          <p:cNvPr id="7" name="Group 7"/>
          <p:cNvGrpSpPr/>
          <p:nvPr/>
        </p:nvGrpSpPr>
        <p:grpSpPr>
          <a:xfrm>
            <a:off x="2712285" y="3080270"/>
            <a:ext cx="2558059" cy="549337"/>
            <a:chOff x="0" y="0"/>
            <a:chExt cx="653749" cy="140391"/>
          </a:xfrm>
        </p:grpSpPr>
        <p:sp>
          <p:nvSpPr>
            <p:cNvPr id="8" name="Freeform 8"/>
            <p:cNvSpPr/>
            <p:nvPr/>
          </p:nvSpPr>
          <p:spPr>
            <a:xfrm>
              <a:off x="0" y="0"/>
              <a:ext cx="653749" cy="140391"/>
            </a:xfrm>
            <a:custGeom>
              <a:avLst/>
              <a:gdLst/>
              <a:ahLst/>
              <a:cxnLst/>
              <a:rect l="l" t="t" r="r" b="b"/>
              <a:pathLst>
                <a:path w="653749" h="140391">
                  <a:moveTo>
                    <a:pt x="70195" y="0"/>
                  </a:moveTo>
                  <a:lnTo>
                    <a:pt x="583553" y="0"/>
                  </a:lnTo>
                  <a:cubicBezTo>
                    <a:pt x="602170" y="0"/>
                    <a:pt x="620025" y="7396"/>
                    <a:pt x="633189" y="20560"/>
                  </a:cubicBezTo>
                  <a:cubicBezTo>
                    <a:pt x="646353" y="33724"/>
                    <a:pt x="653749" y="51578"/>
                    <a:pt x="653749" y="70195"/>
                  </a:cubicBezTo>
                  <a:lnTo>
                    <a:pt x="653749" y="70195"/>
                  </a:lnTo>
                  <a:cubicBezTo>
                    <a:pt x="653749" y="88812"/>
                    <a:pt x="646353" y="106667"/>
                    <a:pt x="633189" y="119831"/>
                  </a:cubicBezTo>
                  <a:cubicBezTo>
                    <a:pt x="620025" y="132995"/>
                    <a:pt x="602170" y="140391"/>
                    <a:pt x="583553" y="140391"/>
                  </a:cubicBezTo>
                  <a:lnTo>
                    <a:pt x="70195" y="140391"/>
                  </a:lnTo>
                  <a:cubicBezTo>
                    <a:pt x="51578" y="140391"/>
                    <a:pt x="33724" y="132995"/>
                    <a:pt x="20560" y="119831"/>
                  </a:cubicBezTo>
                  <a:cubicBezTo>
                    <a:pt x="7396" y="106667"/>
                    <a:pt x="0" y="88812"/>
                    <a:pt x="0" y="70195"/>
                  </a:cubicBezTo>
                  <a:lnTo>
                    <a:pt x="0" y="70195"/>
                  </a:lnTo>
                  <a:cubicBezTo>
                    <a:pt x="0" y="51578"/>
                    <a:pt x="7396" y="33724"/>
                    <a:pt x="20560" y="20560"/>
                  </a:cubicBezTo>
                  <a:cubicBezTo>
                    <a:pt x="33724" y="7396"/>
                    <a:pt x="51578" y="0"/>
                    <a:pt x="70195" y="0"/>
                  </a:cubicBezTo>
                  <a:close/>
                </a:path>
              </a:pathLst>
            </a:custGeom>
            <a:solidFill>
              <a:srgbClr val="0066FF"/>
            </a:solidFill>
          </p:spPr>
          <p:txBody>
            <a:bodyPr/>
            <a:lstStyle/>
            <a:p>
              <a:endParaRPr lang="ko-KR" altLang="en-US"/>
            </a:p>
          </p:txBody>
        </p:sp>
        <p:sp>
          <p:nvSpPr>
            <p:cNvPr id="9" name="TextBox 9"/>
            <p:cNvSpPr txBox="1"/>
            <p:nvPr/>
          </p:nvSpPr>
          <p:spPr>
            <a:xfrm>
              <a:off x="0" y="-28575"/>
              <a:ext cx="653749" cy="168966"/>
            </a:xfrm>
            <a:prstGeom prst="rect">
              <a:avLst/>
            </a:prstGeom>
          </p:spPr>
          <p:txBody>
            <a:bodyPr lIns="50800" tIns="50800" rIns="50800" bIns="50800" rtlCol="0" anchor="ctr"/>
            <a:lstStyle/>
            <a:p>
              <a:pPr marL="0" lvl="0" indent="0" algn="ctr">
                <a:lnSpc>
                  <a:spcPts val="2660"/>
                </a:lnSpc>
              </a:pPr>
              <a:r>
                <a:rPr lang="en-US" sz="1900" b="1">
                  <a:solidFill>
                    <a:srgbClr val="FFFFFF"/>
                  </a:solidFill>
                  <a:latin typeface="JASO Sans Bold"/>
                  <a:ea typeface="JASO Sans Bold"/>
                  <a:cs typeface="JASO Sans Bold"/>
                  <a:sym typeface="JASO Sans Bold"/>
                </a:rPr>
                <a:t>소비심리</a:t>
              </a:r>
            </a:p>
          </p:txBody>
        </p:sp>
      </p:grpSp>
      <p:grpSp>
        <p:nvGrpSpPr>
          <p:cNvPr id="10" name="Group 10"/>
          <p:cNvGrpSpPr/>
          <p:nvPr/>
        </p:nvGrpSpPr>
        <p:grpSpPr>
          <a:xfrm>
            <a:off x="6916057" y="3354938"/>
            <a:ext cx="4945667" cy="5903362"/>
            <a:chOff x="0" y="0"/>
            <a:chExt cx="1263937" cy="1508689"/>
          </a:xfrm>
        </p:grpSpPr>
        <p:sp>
          <p:nvSpPr>
            <p:cNvPr id="11" name="Freeform 11"/>
            <p:cNvSpPr/>
            <p:nvPr/>
          </p:nvSpPr>
          <p:spPr>
            <a:xfrm>
              <a:off x="0" y="0"/>
              <a:ext cx="1263937" cy="1508689"/>
            </a:xfrm>
            <a:custGeom>
              <a:avLst/>
              <a:gdLst/>
              <a:ahLst/>
              <a:cxnLst/>
              <a:rect l="l" t="t" r="r" b="b"/>
              <a:pathLst>
                <a:path w="1263937" h="1508689">
                  <a:moveTo>
                    <a:pt x="0" y="0"/>
                  </a:moveTo>
                  <a:lnTo>
                    <a:pt x="1263937" y="0"/>
                  </a:lnTo>
                  <a:lnTo>
                    <a:pt x="1263937" y="1508689"/>
                  </a:lnTo>
                  <a:lnTo>
                    <a:pt x="0" y="1508689"/>
                  </a:lnTo>
                  <a:close/>
                </a:path>
              </a:pathLst>
            </a:custGeom>
            <a:solidFill>
              <a:srgbClr val="EDF3FB"/>
            </a:solidFill>
          </p:spPr>
          <p:txBody>
            <a:bodyPr/>
            <a:lstStyle/>
            <a:p>
              <a:endParaRPr lang="ko-KR" altLang="en-US"/>
            </a:p>
          </p:txBody>
        </p:sp>
        <p:sp>
          <p:nvSpPr>
            <p:cNvPr id="12" name="TextBox 12"/>
            <p:cNvSpPr txBox="1"/>
            <p:nvPr/>
          </p:nvSpPr>
          <p:spPr>
            <a:xfrm>
              <a:off x="0" y="-76200"/>
              <a:ext cx="1263937" cy="1584889"/>
            </a:xfrm>
            <a:prstGeom prst="rect">
              <a:avLst/>
            </a:prstGeom>
          </p:spPr>
          <p:txBody>
            <a:bodyPr lIns="50800" tIns="50800" rIns="50800" bIns="50800" rtlCol="0" anchor="ctr"/>
            <a:lstStyle/>
            <a:p>
              <a:pPr marL="0" lvl="0" indent="0" algn="ctr">
                <a:lnSpc>
                  <a:spcPts val="3749"/>
                </a:lnSpc>
                <a:spcBef>
                  <a:spcPct val="0"/>
                </a:spcBef>
              </a:pPr>
              <a:endParaRPr/>
            </a:p>
          </p:txBody>
        </p:sp>
      </p:grpSp>
      <p:grpSp>
        <p:nvGrpSpPr>
          <p:cNvPr id="13" name="Group 13"/>
          <p:cNvGrpSpPr/>
          <p:nvPr/>
        </p:nvGrpSpPr>
        <p:grpSpPr>
          <a:xfrm>
            <a:off x="8109861" y="3080270"/>
            <a:ext cx="2558059" cy="549337"/>
            <a:chOff x="0" y="0"/>
            <a:chExt cx="653749" cy="140391"/>
          </a:xfrm>
        </p:grpSpPr>
        <p:sp>
          <p:nvSpPr>
            <p:cNvPr id="14" name="Freeform 14"/>
            <p:cNvSpPr/>
            <p:nvPr/>
          </p:nvSpPr>
          <p:spPr>
            <a:xfrm>
              <a:off x="0" y="0"/>
              <a:ext cx="653749" cy="140391"/>
            </a:xfrm>
            <a:custGeom>
              <a:avLst/>
              <a:gdLst/>
              <a:ahLst/>
              <a:cxnLst/>
              <a:rect l="l" t="t" r="r" b="b"/>
              <a:pathLst>
                <a:path w="653749" h="140391">
                  <a:moveTo>
                    <a:pt x="70195" y="0"/>
                  </a:moveTo>
                  <a:lnTo>
                    <a:pt x="583553" y="0"/>
                  </a:lnTo>
                  <a:cubicBezTo>
                    <a:pt x="602170" y="0"/>
                    <a:pt x="620025" y="7396"/>
                    <a:pt x="633189" y="20560"/>
                  </a:cubicBezTo>
                  <a:cubicBezTo>
                    <a:pt x="646353" y="33724"/>
                    <a:pt x="653749" y="51578"/>
                    <a:pt x="653749" y="70195"/>
                  </a:cubicBezTo>
                  <a:lnTo>
                    <a:pt x="653749" y="70195"/>
                  </a:lnTo>
                  <a:cubicBezTo>
                    <a:pt x="653749" y="88812"/>
                    <a:pt x="646353" y="106667"/>
                    <a:pt x="633189" y="119831"/>
                  </a:cubicBezTo>
                  <a:cubicBezTo>
                    <a:pt x="620025" y="132995"/>
                    <a:pt x="602170" y="140391"/>
                    <a:pt x="583553" y="140391"/>
                  </a:cubicBezTo>
                  <a:lnTo>
                    <a:pt x="70195" y="140391"/>
                  </a:lnTo>
                  <a:cubicBezTo>
                    <a:pt x="51578" y="140391"/>
                    <a:pt x="33724" y="132995"/>
                    <a:pt x="20560" y="119831"/>
                  </a:cubicBezTo>
                  <a:cubicBezTo>
                    <a:pt x="7396" y="106667"/>
                    <a:pt x="0" y="88812"/>
                    <a:pt x="0" y="70195"/>
                  </a:cubicBezTo>
                  <a:lnTo>
                    <a:pt x="0" y="70195"/>
                  </a:lnTo>
                  <a:cubicBezTo>
                    <a:pt x="0" y="51578"/>
                    <a:pt x="7396" y="33724"/>
                    <a:pt x="20560" y="20560"/>
                  </a:cubicBezTo>
                  <a:cubicBezTo>
                    <a:pt x="33724" y="7396"/>
                    <a:pt x="51578" y="0"/>
                    <a:pt x="70195" y="0"/>
                  </a:cubicBezTo>
                  <a:close/>
                </a:path>
              </a:pathLst>
            </a:custGeom>
            <a:solidFill>
              <a:srgbClr val="0066FF"/>
            </a:solidFill>
          </p:spPr>
          <p:txBody>
            <a:bodyPr/>
            <a:lstStyle/>
            <a:p>
              <a:endParaRPr lang="ko-KR" altLang="en-US"/>
            </a:p>
          </p:txBody>
        </p:sp>
        <p:sp>
          <p:nvSpPr>
            <p:cNvPr id="15" name="TextBox 15"/>
            <p:cNvSpPr txBox="1"/>
            <p:nvPr/>
          </p:nvSpPr>
          <p:spPr>
            <a:xfrm>
              <a:off x="0" y="-28575"/>
              <a:ext cx="653749" cy="168966"/>
            </a:xfrm>
            <a:prstGeom prst="rect">
              <a:avLst/>
            </a:prstGeom>
          </p:spPr>
          <p:txBody>
            <a:bodyPr lIns="50800" tIns="50800" rIns="50800" bIns="50800" rtlCol="0" anchor="ctr"/>
            <a:lstStyle/>
            <a:p>
              <a:pPr marL="0" lvl="0" indent="0" algn="ctr">
                <a:lnSpc>
                  <a:spcPts val="2660"/>
                </a:lnSpc>
              </a:pPr>
              <a:r>
                <a:rPr lang="en-US" sz="1900" b="1">
                  <a:solidFill>
                    <a:srgbClr val="FFFFFF"/>
                  </a:solidFill>
                  <a:latin typeface="JASO Sans Bold"/>
                  <a:ea typeface="JASO Sans Bold"/>
                  <a:cs typeface="JASO Sans Bold"/>
                  <a:sym typeface="JASO Sans Bold"/>
                </a:rPr>
                <a:t>채널변화</a:t>
              </a:r>
            </a:p>
          </p:txBody>
        </p:sp>
      </p:grpSp>
      <p:grpSp>
        <p:nvGrpSpPr>
          <p:cNvPr id="16" name="Group 16"/>
          <p:cNvGrpSpPr/>
          <p:nvPr/>
        </p:nvGrpSpPr>
        <p:grpSpPr>
          <a:xfrm>
            <a:off x="12313633" y="3354938"/>
            <a:ext cx="4945667" cy="5903362"/>
            <a:chOff x="0" y="0"/>
            <a:chExt cx="1263937" cy="1508689"/>
          </a:xfrm>
        </p:grpSpPr>
        <p:sp>
          <p:nvSpPr>
            <p:cNvPr id="17" name="Freeform 17"/>
            <p:cNvSpPr/>
            <p:nvPr/>
          </p:nvSpPr>
          <p:spPr>
            <a:xfrm>
              <a:off x="0" y="0"/>
              <a:ext cx="1263937" cy="1508689"/>
            </a:xfrm>
            <a:custGeom>
              <a:avLst/>
              <a:gdLst/>
              <a:ahLst/>
              <a:cxnLst/>
              <a:rect l="l" t="t" r="r" b="b"/>
              <a:pathLst>
                <a:path w="1263937" h="1508689">
                  <a:moveTo>
                    <a:pt x="0" y="0"/>
                  </a:moveTo>
                  <a:lnTo>
                    <a:pt x="1263937" y="0"/>
                  </a:lnTo>
                  <a:lnTo>
                    <a:pt x="1263937" y="1508689"/>
                  </a:lnTo>
                  <a:lnTo>
                    <a:pt x="0" y="1508689"/>
                  </a:lnTo>
                  <a:close/>
                </a:path>
              </a:pathLst>
            </a:custGeom>
            <a:solidFill>
              <a:srgbClr val="EDF3FB"/>
            </a:solidFill>
          </p:spPr>
          <p:txBody>
            <a:bodyPr/>
            <a:lstStyle/>
            <a:p>
              <a:endParaRPr lang="ko-KR" altLang="en-US"/>
            </a:p>
          </p:txBody>
        </p:sp>
        <p:sp>
          <p:nvSpPr>
            <p:cNvPr id="18" name="TextBox 18"/>
            <p:cNvSpPr txBox="1"/>
            <p:nvPr/>
          </p:nvSpPr>
          <p:spPr>
            <a:xfrm>
              <a:off x="0" y="-76200"/>
              <a:ext cx="1263937" cy="1584889"/>
            </a:xfrm>
            <a:prstGeom prst="rect">
              <a:avLst/>
            </a:prstGeom>
          </p:spPr>
          <p:txBody>
            <a:bodyPr lIns="50800" tIns="50800" rIns="50800" bIns="50800" rtlCol="0" anchor="ctr"/>
            <a:lstStyle/>
            <a:p>
              <a:pPr marL="0" lvl="0" indent="0" algn="ctr">
                <a:lnSpc>
                  <a:spcPts val="3749"/>
                </a:lnSpc>
                <a:spcBef>
                  <a:spcPct val="0"/>
                </a:spcBef>
              </a:pPr>
              <a:endParaRPr/>
            </a:p>
          </p:txBody>
        </p:sp>
      </p:grpSp>
      <p:grpSp>
        <p:nvGrpSpPr>
          <p:cNvPr id="19" name="Group 19"/>
          <p:cNvGrpSpPr/>
          <p:nvPr/>
        </p:nvGrpSpPr>
        <p:grpSpPr>
          <a:xfrm>
            <a:off x="13507437" y="3080270"/>
            <a:ext cx="2558059" cy="549337"/>
            <a:chOff x="0" y="0"/>
            <a:chExt cx="653749" cy="140391"/>
          </a:xfrm>
        </p:grpSpPr>
        <p:sp>
          <p:nvSpPr>
            <p:cNvPr id="20" name="Freeform 20"/>
            <p:cNvSpPr/>
            <p:nvPr/>
          </p:nvSpPr>
          <p:spPr>
            <a:xfrm>
              <a:off x="0" y="0"/>
              <a:ext cx="653749" cy="140391"/>
            </a:xfrm>
            <a:custGeom>
              <a:avLst/>
              <a:gdLst/>
              <a:ahLst/>
              <a:cxnLst/>
              <a:rect l="l" t="t" r="r" b="b"/>
              <a:pathLst>
                <a:path w="653749" h="140391">
                  <a:moveTo>
                    <a:pt x="70195" y="0"/>
                  </a:moveTo>
                  <a:lnTo>
                    <a:pt x="583553" y="0"/>
                  </a:lnTo>
                  <a:cubicBezTo>
                    <a:pt x="602170" y="0"/>
                    <a:pt x="620025" y="7396"/>
                    <a:pt x="633189" y="20560"/>
                  </a:cubicBezTo>
                  <a:cubicBezTo>
                    <a:pt x="646353" y="33724"/>
                    <a:pt x="653749" y="51578"/>
                    <a:pt x="653749" y="70195"/>
                  </a:cubicBezTo>
                  <a:lnTo>
                    <a:pt x="653749" y="70195"/>
                  </a:lnTo>
                  <a:cubicBezTo>
                    <a:pt x="653749" y="88812"/>
                    <a:pt x="646353" y="106667"/>
                    <a:pt x="633189" y="119831"/>
                  </a:cubicBezTo>
                  <a:cubicBezTo>
                    <a:pt x="620025" y="132995"/>
                    <a:pt x="602170" y="140391"/>
                    <a:pt x="583553" y="140391"/>
                  </a:cubicBezTo>
                  <a:lnTo>
                    <a:pt x="70195" y="140391"/>
                  </a:lnTo>
                  <a:cubicBezTo>
                    <a:pt x="51578" y="140391"/>
                    <a:pt x="33724" y="132995"/>
                    <a:pt x="20560" y="119831"/>
                  </a:cubicBezTo>
                  <a:cubicBezTo>
                    <a:pt x="7396" y="106667"/>
                    <a:pt x="0" y="88812"/>
                    <a:pt x="0" y="70195"/>
                  </a:cubicBezTo>
                  <a:lnTo>
                    <a:pt x="0" y="70195"/>
                  </a:lnTo>
                  <a:cubicBezTo>
                    <a:pt x="0" y="51578"/>
                    <a:pt x="7396" y="33724"/>
                    <a:pt x="20560" y="20560"/>
                  </a:cubicBezTo>
                  <a:cubicBezTo>
                    <a:pt x="33724" y="7396"/>
                    <a:pt x="51578" y="0"/>
                    <a:pt x="70195" y="0"/>
                  </a:cubicBezTo>
                  <a:close/>
                </a:path>
              </a:pathLst>
            </a:custGeom>
            <a:solidFill>
              <a:srgbClr val="0066FF"/>
            </a:solidFill>
          </p:spPr>
          <p:txBody>
            <a:bodyPr/>
            <a:lstStyle/>
            <a:p>
              <a:endParaRPr lang="ko-KR" altLang="en-US"/>
            </a:p>
          </p:txBody>
        </p:sp>
        <p:sp>
          <p:nvSpPr>
            <p:cNvPr id="21" name="TextBox 21"/>
            <p:cNvSpPr txBox="1"/>
            <p:nvPr/>
          </p:nvSpPr>
          <p:spPr>
            <a:xfrm>
              <a:off x="0" y="-28575"/>
              <a:ext cx="653749" cy="168966"/>
            </a:xfrm>
            <a:prstGeom prst="rect">
              <a:avLst/>
            </a:prstGeom>
          </p:spPr>
          <p:txBody>
            <a:bodyPr lIns="50800" tIns="50800" rIns="50800" bIns="50800" rtlCol="0" anchor="ctr"/>
            <a:lstStyle/>
            <a:p>
              <a:pPr marL="0" lvl="0" indent="0" algn="ctr">
                <a:lnSpc>
                  <a:spcPts val="2660"/>
                </a:lnSpc>
              </a:pPr>
              <a:r>
                <a:rPr lang="en-US" sz="1900" b="1">
                  <a:solidFill>
                    <a:srgbClr val="FFFFFF"/>
                  </a:solidFill>
                  <a:latin typeface="JASO Sans Bold"/>
                  <a:ea typeface="JASO Sans Bold"/>
                  <a:cs typeface="JASO Sans Bold"/>
                  <a:sym typeface="JASO Sans Bold"/>
                </a:rPr>
                <a:t>운영 트렌드</a:t>
              </a:r>
            </a:p>
          </p:txBody>
        </p:sp>
      </p:grpSp>
      <p:sp>
        <p:nvSpPr>
          <p:cNvPr id="22" name="Freeform 22"/>
          <p:cNvSpPr/>
          <p:nvPr/>
        </p:nvSpPr>
        <p:spPr>
          <a:xfrm>
            <a:off x="3647751" y="4189123"/>
            <a:ext cx="687126" cy="687126"/>
          </a:xfrm>
          <a:custGeom>
            <a:avLst/>
            <a:gdLst/>
            <a:ahLst/>
            <a:cxnLst/>
            <a:rect l="l" t="t" r="r" b="b"/>
            <a:pathLst>
              <a:path w="687126" h="687126">
                <a:moveTo>
                  <a:pt x="0" y="0"/>
                </a:moveTo>
                <a:lnTo>
                  <a:pt x="687126" y="0"/>
                </a:lnTo>
                <a:lnTo>
                  <a:pt x="687126" y="687126"/>
                </a:lnTo>
                <a:lnTo>
                  <a:pt x="0" y="68712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ko-KR" altLang="en-US"/>
          </a:p>
        </p:txBody>
      </p:sp>
      <p:sp>
        <p:nvSpPr>
          <p:cNvPr id="23" name="Freeform 23"/>
          <p:cNvSpPr/>
          <p:nvPr/>
        </p:nvSpPr>
        <p:spPr>
          <a:xfrm>
            <a:off x="9045327" y="4189123"/>
            <a:ext cx="687126" cy="687126"/>
          </a:xfrm>
          <a:custGeom>
            <a:avLst/>
            <a:gdLst/>
            <a:ahLst/>
            <a:cxnLst/>
            <a:rect l="l" t="t" r="r" b="b"/>
            <a:pathLst>
              <a:path w="687126" h="687126">
                <a:moveTo>
                  <a:pt x="0" y="0"/>
                </a:moveTo>
                <a:lnTo>
                  <a:pt x="687126" y="0"/>
                </a:lnTo>
                <a:lnTo>
                  <a:pt x="687126" y="687126"/>
                </a:lnTo>
                <a:lnTo>
                  <a:pt x="0" y="687126"/>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ko-KR" altLang="en-US"/>
          </a:p>
        </p:txBody>
      </p:sp>
      <p:sp>
        <p:nvSpPr>
          <p:cNvPr id="24" name="Freeform 24"/>
          <p:cNvSpPr/>
          <p:nvPr/>
        </p:nvSpPr>
        <p:spPr>
          <a:xfrm>
            <a:off x="14427227" y="4189123"/>
            <a:ext cx="718478" cy="687126"/>
          </a:xfrm>
          <a:custGeom>
            <a:avLst/>
            <a:gdLst/>
            <a:ahLst/>
            <a:cxnLst/>
            <a:rect l="l" t="t" r="r" b="b"/>
            <a:pathLst>
              <a:path w="718478" h="687126">
                <a:moveTo>
                  <a:pt x="0" y="0"/>
                </a:moveTo>
                <a:lnTo>
                  <a:pt x="718478" y="0"/>
                </a:lnTo>
                <a:lnTo>
                  <a:pt x="718478" y="687126"/>
                </a:lnTo>
                <a:lnTo>
                  <a:pt x="0" y="687126"/>
                </a:lnTo>
                <a:lnTo>
                  <a:pt x="0" y="0"/>
                </a:lnTo>
                <a:close/>
              </a:path>
            </a:pathLst>
          </a:custGeom>
          <a:blipFill>
            <a:blip>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ko-KR" altLang="en-US"/>
          </a:p>
        </p:txBody>
      </p:sp>
      <p:sp>
        <p:nvSpPr>
          <p:cNvPr id="25" name="TextBox 25"/>
          <p:cNvSpPr txBox="1"/>
          <p:nvPr/>
        </p:nvSpPr>
        <p:spPr>
          <a:xfrm>
            <a:off x="2086549" y="5122382"/>
            <a:ext cx="3809532" cy="399623"/>
          </a:xfrm>
          <a:prstGeom prst="rect">
            <a:avLst/>
          </a:prstGeom>
        </p:spPr>
        <p:txBody>
          <a:bodyPr lIns="0" tIns="0" rIns="0" bIns="0" rtlCol="0" anchor="t">
            <a:spAutoFit/>
          </a:bodyPr>
          <a:lstStyle/>
          <a:p>
            <a:pPr algn="ctr">
              <a:lnSpc>
                <a:spcPts val="3215"/>
              </a:lnSpc>
            </a:pPr>
            <a:r>
              <a:rPr lang="en-US" sz="2473" b="1" spc="-49">
                <a:solidFill>
                  <a:srgbClr val="434343"/>
                </a:solidFill>
                <a:latin typeface="JASO Sans Bold"/>
                <a:ea typeface="JASO Sans Bold"/>
                <a:cs typeface="JASO Sans Bold"/>
                <a:sym typeface="JASO Sans Bold"/>
              </a:rPr>
              <a:t>덜 사고, 더 따진다</a:t>
            </a:r>
          </a:p>
        </p:txBody>
      </p:sp>
      <p:sp>
        <p:nvSpPr>
          <p:cNvPr id="26" name="TextBox 26"/>
          <p:cNvSpPr txBox="1"/>
          <p:nvPr/>
        </p:nvSpPr>
        <p:spPr>
          <a:xfrm>
            <a:off x="7484125" y="5122382"/>
            <a:ext cx="3809532" cy="399623"/>
          </a:xfrm>
          <a:prstGeom prst="rect">
            <a:avLst/>
          </a:prstGeom>
        </p:spPr>
        <p:txBody>
          <a:bodyPr lIns="0" tIns="0" rIns="0" bIns="0" rtlCol="0" anchor="t">
            <a:spAutoFit/>
          </a:bodyPr>
          <a:lstStyle/>
          <a:p>
            <a:pPr algn="ctr">
              <a:lnSpc>
                <a:spcPts val="3215"/>
              </a:lnSpc>
            </a:pPr>
            <a:r>
              <a:rPr lang="en-US" sz="2473" b="1" spc="-49">
                <a:solidFill>
                  <a:srgbClr val="434343"/>
                </a:solidFill>
                <a:latin typeface="JASO Sans Bold"/>
                <a:ea typeface="JASO Sans Bold"/>
                <a:cs typeface="JASO Sans Bold"/>
                <a:sym typeface="JASO Sans Bold"/>
              </a:rPr>
              <a:t>온라인 증가, 오프라인 감소</a:t>
            </a:r>
          </a:p>
        </p:txBody>
      </p:sp>
      <p:sp>
        <p:nvSpPr>
          <p:cNvPr id="27" name="TextBox 27"/>
          <p:cNvSpPr txBox="1"/>
          <p:nvPr/>
        </p:nvSpPr>
        <p:spPr>
          <a:xfrm>
            <a:off x="12881701" y="5122382"/>
            <a:ext cx="3809532" cy="399623"/>
          </a:xfrm>
          <a:prstGeom prst="rect">
            <a:avLst/>
          </a:prstGeom>
        </p:spPr>
        <p:txBody>
          <a:bodyPr lIns="0" tIns="0" rIns="0" bIns="0" rtlCol="0" anchor="t">
            <a:spAutoFit/>
          </a:bodyPr>
          <a:lstStyle/>
          <a:p>
            <a:pPr algn="ctr">
              <a:lnSpc>
                <a:spcPts val="3215"/>
              </a:lnSpc>
            </a:pPr>
            <a:r>
              <a:rPr lang="en-US" sz="2473" b="1" spc="-49">
                <a:solidFill>
                  <a:srgbClr val="434343"/>
                </a:solidFill>
                <a:latin typeface="JASO Sans Bold"/>
                <a:ea typeface="JASO Sans Bold"/>
                <a:cs typeface="JASO Sans Bold"/>
                <a:sym typeface="JASO Sans Bold"/>
              </a:rPr>
              <a:t>감(感) → 데이터</a:t>
            </a:r>
          </a:p>
        </p:txBody>
      </p:sp>
      <p:sp>
        <p:nvSpPr>
          <p:cNvPr id="28" name="TextBox 28"/>
          <p:cNvSpPr txBox="1"/>
          <p:nvPr/>
        </p:nvSpPr>
        <p:spPr>
          <a:xfrm>
            <a:off x="2076332" y="6145089"/>
            <a:ext cx="3829966" cy="2412936"/>
          </a:xfrm>
          <a:prstGeom prst="rect">
            <a:avLst/>
          </a:prstGeom>
        </p:spPr>
        <p:txBody>
          <a:bodyPr lIns="0" tIns="0" rIns="0" bIns="0" rtlCol="0" anchor="t">
            <a:spAutoFit/>
          </a:bodyPr>
          <a:lstStyle/>
          <a:p>
            <a:pPr marL="467246" lvl="1" indent="-233623" algn="l">
              <a:lnSpc>
                <a:spcPts val="3895"/>
              </a:lnSpc>
              <a:buFont typeface="Arial"/>
              <a:buChar char="•"/>
            </a:pPr>
            <a:r>
              <a:rPr lang="en-US" sz="2164" spc="-64">
                <a:solidFill>
                  <a:srgbClr val="434343"/>
                </a:solidFill>
                <a:latin typeface="JASO Sans"/>
                <a:ea typeface="JASO Sans"/>
                <a:cs typeface="JASO Sans"/>
                <a:sym typeface="JASO Sans"/>
              </a:rPr>
              <a:t>가격 민감도 상승 &gt; 충동구매 감소 경향 높아짐</a:t>
            </a:r>
          </a:p>
          <a:p>
            <a:pPr marL="467246" lvl="1" indent="-233623" algn="l">
              <a:lnSpc>
                <a:spcPts val="3895"/>
              </a:lnSpc>
              <a:buFont typeface="Arial"/>
              <a:buChar char="•"/>
            </a:pPr>
            <a:r>
              <a:rPr lang="en-US" sz="2164" spc="-64">
                <a:solidFill>
                  <a:srgbClr val="434343"/>
                </a:solidFill>
                <a:latin typeface="JASO Sans"/>
                <a:ea typeface="JASO Sans"/>
                <a:cs typeface="JASO Sans"/>
                <a:sym typeface="JASO Sans"/>
              </a:rPr>
              <a:t>가치·필요성 중심 소비 강화</a:t>
            </a:r>
          </a:p>
          <a:p>
            <a:pPr marL="467246" lvl="1" indent="-233623" algn="l">
              <a:lnSpc>
                <a:spcPts val="3895"/>
              </a:lnSpc>
              <a:buFont typeface="Arial"/>
              <a:buChar char="•"/>
            </a:pPr>
            <a:r>
              <a:rPr lang="en-US" sz="2164" spc="-64">
                <a:solidFill>
                  <a:srgbClr val="434343"/>
                </a:solidFill>
                <a:latin typeface="JASO Sans"/>
                <a:ea typeface="JASO Sans"/>
                <a:cs typeface="JASO Sans"/>
                <a:sym typeface="JASO Sans"/>
              </a:rPr>
              <a:t>브랜드 신뢰 &amp; 사용 경험이 재구매에 결정적</a:t>
            </a:r>
          </a:p>
        </p:txBody>
      </p:sp>
      <p:sp>
        <p:nvSpPr>
          <p:cNvPr id="29" name="TextBox 29"/>
          <p:cNvSpPr txBox="1"/>
          <p:nvPr/>
        </p:nvSpPr>
        <p:spPr>
          <a:xfrm>
            <a:off x="7473908" y="6145089"/>
            <a:ext cx="3829966" cy="2412936"/>
          </a:xfrm>
          <a:prstGeom prst="rect">
            <a:avLst/>
          </a:prstGeom>
        </p:spPr>
        <p:txBody>
          <a:bodyPr lIns="0" tIns="0" rIns="0" bIns="0" rtlCol="0" anchor="t">
            <a:spAutoFit/>
          </a:bodyPr>
          <a:lstStyle/>
          <a:p>
            <a:pPr marL="467246" lvl="1" indent="-233623" algn="l">
              <a:lnSpc>
                <a:spcPts val="3895"/>
              </a:lnSpc>
              <a:buFont typeface="Arial"/>
              <a:buChar char="•"/>
            </a:pPr>
            <a:r>
              <a:rPr lang="en-US" sz="2164" spc="-64">
                <a:solidFill>
                  <a:srgbClr val="434343"/>
                </a:solidFill>
                <a:latin typeface="JASO Sans"/>
                <a:ea typeface="JASO Sans"/>
                <a:cs typeface="JASO Sans"/>
                <a:sym typeface="JASO Sans"/>
              </a:rPr>
              <a:t>자사몰·D2C 채널 성장 지속</a:t>
            </a:r>
          </a:p>
          <a:p>
            <a:pPr marL="467246" lvl="1" indent="-233623" algn="l">
              <a:lnSpc>
                <a:spcPts val="3895"/>
              </a:lnSpc>
              <a:buFont typeface="Arial"/>
              <a:buChar char="•"/>
            </a:pPr>
            <a:r>
              <a:rPr lang="en-US" sz="2164" spc="-64">
                <a:solidFill>
                  <a:srgbClr val="434343"/>
                </a:solidFill>
                <a:latin typeface="JASO Sans"/>
                <a:ea typeface="JASO Sans"/>
                <a:cs typeface="JASO Sans"/>
                <a:sym typeface="JASO Sans"/>
              </a:rPr>
              <a:t>오프라인 매장은 체험·브랜드 접점 역할 강화</a:t>
            </a:r>
          </a:p>
          <a:p>
            <a:pPr marL="467246" lvl="1" indent="-233623" algn="l">
              <a:lnSpc>
                <a:spcPts val="3895"/>
              </a:lnSpc>
              <a:buFont typeface="Arial"/>
              <a:buChar char="•"/>
            </a:pPr>
            <a:r>
              <a:rPr lang="en-US" sz="2164" spc="-64">
                <a:solidFill>
                  <a:srgbClr val="434343"/>
                </a:solidFill>
                <a:latin typeface="JASO Sans"/>
                <a:ea typeface="JASO Sans"/>
                <a:cs typeface="JASO Sans"/>
                <a:sym typeface="JASO Sans"/>
              </a:rPr>
              <a:t>채널 간 가격·재고 불일치에 대한 고객 민감도 증가</a:t>
            </a:r>
          </a:p>
        </p:txBody>
      </p:sp>
      <p:sp>
        <p:nvSpPr>
          <p:cNvPr id="30" name="TextBox 30"/>
          <p:cNvSpPr txBox="1"/>
          <p:nvPr/>
        </p:nvSpPr>
        <p:spPr>
          <a:xfrm>
            <a:off x="12871484" y="6145089"/>
            <a:ext cx="3829966" cy="2412936"/>
          </a:xfrm>
          <a:prstGeom prst="rect">
            <a:avLst/>
          </a:prstGeom>
        </p:spPr>
        <p:txBody>
          <a:bodyPr lIns="0" tIns="0" rIns="0" bIns="0" rtlCol="0" anchor="t">
            <a:spAutoFit/>
          </a:bodyPr>
          <a:lstStyle/>
          <a:p>
            <a:pPr marL="467246" lvl="1" indent="-233623" algn="l">
              <a:lnSpc>
                <a:spcPts val="3895"/>
              </a:lnSpc>
              <a:buFont typeface="Arial"/>
              <a:buChar char="•"/>
            </a:pPr>
            <a:r>
              <a:rPr lang="en-US" sz="2164" spc="-64">
                <a:solidFill>
                  <a:srgbClr val="434343"/>
                </a:solidFill>
                <a:latin typeface="JASO Sans"/>
                <a:ea typeface="JASO Sans"/>
                <a:cs typeface="JASO Sans"/>
                <a:sym typeface="JASO Sans"/>
              </a:rPr>
              <a:t>수요 예측 실패 = 재고 리스크</a:t>
            </a:r>
          </a:p>
          <a:p>
            <a:pPr marL="467246" lvl="1" indent="-233623" algn="l">
              <a:lnSpc>
                <a:spcPts val="3895"/>
              </a:lnSpc>
              <a:buFont typeface="Arial"/>
              <a:buChar char="•"/>
            </a:pPr>
            <a:r>
              <a:rPr lang="en-US" sz="2164" spc="-64">
                <a:solidFill>
                  <a:srgbClr val="434343"/>
                </a:solidFill>
                <a:latin typeface="JASO Sans"/>
                <a:ea typeface="JASO Sans"/>
                <a:cs typeface="JASO Sans"/>
                <a:sym typeface="JASO Sans"/>
              </a:rPr>
              <a:t>소규모 브랜드도 예측·자동화 도구 도입 가속</a:t>
            </a:r>
          </a:p>
          <a:p>
            <a:pPr marL="467246" lvl="1" indent="-233623" algn="l">
              <a:lnSpc>
                <a:spcPts val="3895"/>
              </a:lnSpc>
              <a:buFont typeface="Arial"/>
              <a:buChar char="•"/>
            </a:pPr>
            <a:r>
              <a:rPr lang="en-US" sz="2164" spc="-64">
                <a:solidFill>
                  <a:srgbClr val="434343"/>
                </a:solidFill>
                <a:latin typeface="JASO Sans"/>
                <a:ea typeface="JASO Sans"/>
                <a:cs typeface="JASO Sans"/>
                <a:sym typeface="JASO Sans"/>
              </a:rPr>
              <a:t>재고·마케팅·매출 데이터의 통합 관리 필요성 증가</a:t>
            </a:r>
          </a:p>
        </p:txBody>
      </p:sp>
      <p:sp>
        <p:nvSpPr>
          <p:cNvPr id="31" name="AutoShape 31"/>
          <p:cNvSpPr/>
          <p:nvPr/>
        </p:nvSpPr>
        <p:spPr>
          <a:xfrm>
            <a:off x="2076332" y="5838411"/>
            <a:ext cx="3829966" cy="0"/>
          </a:xfrm>
          <a:prstGeom prst="line">
            <a:avLst/>
          </a:prstGeom>
          <a:ln w="28575" cap="flat">
            <a:solidFill>
              <a:srgbClr val="0066FF">
                <a:alpha val="19608"/>
              </a:srgbClr>
            </a:solidFill>
            <a:prstDash val="solid"/>
            <a:headEnd type="none" w="sm" len="sm"/>
            <a:tailEnd type="none" w="sm" len="sm"/>
          </a:ln>
        </p:spPr>
        <p:txBody>
          <a:bodyPr/>
          <a:lstStyle/>
          <a:p>
            <a:endParaRPr lang="ko-KR" altLang="en-US"/>
          </a:p>
        </p:txBody>
      </p:sp>
      <p:sp>
        <p:nvSpPr>
          <p:cNvPr id="32" name="AutoShape 32"/>
          <p:cNvSpPr/>
          <p:nvPr/>
        </p:nvSpPr>
        <p:spPr>
          <a:xfrm>
            <a:off x="7473908" y="5838411"/>
            <a:ext cx="3829966" cy="0"/>
          </a:xfrm>
          <a:prstGeom prst="line">
            <a:avLst/>
          </a:prstGeom>
          <a:ln w="28575" cap="flat">
            <a:solidFill>
              <a:srgbClr val="0066FF">
                <a:alpha val="19608"/>
              </a:srgbClr>
            </a:solidFill>
            <a:prstDash val="solid"/>
            <a:headEnd type="none" w="sm" len="sm"/>
            <a:tailEnd type="none" w="sm" len="sm"/>
          </a:ln>
        </p:spPr>
        <p:txBody>
          <a:bodyPr/>
          <a:lstStyle/>
          <a:p>
            <a:endParaRPr lang="ko-KR" altLang="en-US"/>
          </a:p>
        </p:txBody>
      </p:sp>
      <p:sp>
        <p:nvSpPr>
          <p:cNvPr id="33" name="AutoShape 33"/>
          <p:cNvSpPr/>
          <p:nvPr/>
        </p:nvSpPr>
        <p:spPr>
          <a:xfrm>
            <a:off x="12871484" y="5838411"/>
            <a:ext cx="3829966" cy="0"/>
          </a:xfrm>
          <a:prstGeom prst="line">
            <a:avLst/>
          </a:prstGeom>
          <a:ln w="28575" cap="flat">
            <a:solidFill>
              <a:srgbClr val="0066FF">
                <a:alpha val="19608"/>
              </a:srgbClr>
            </a:solidFill>
            <a:prstDash val="solid"/>
            <a:headEnd type="none" w="sm" len="sm"/>
            <a:tailEnd type="none" w="sm" len="sm"/>
          </a:ln>
        </p:spPr>
        <p:txBody>
          <a:bodyPr/>
          <a:lstStyle/>
          <a:p>
            <a:endParaRPr lang="ko-KR"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18481" y="1412643"/>
            <a:ext cx="13819856" cy="753110"/>
          </a:xfrm>
          <a:prstGeom prst="rect">
            <a:avLst/>
          </a:prstGeom>
        </p:spPr>
        <p:txBody>
          <a:bodyPr lIns="0" tIns="0" rIns="0" bIns="0" rtlCol="0" anchor="t">
            <a:spAutoFit/>
          </a:bodyPr>
          <a:lstStyle/>
          <a:p>
            <a:pPr algn="l">
              <a:lnSpc>
                <a:spcPts val="5829"/>
              </a:lnSpc>
            </a:pPr>
            <a:r>
              <a:rPr lang="en-US" sz="5299" b="1" spc="-264">
                <a:solidFill>
                  <a:srgbClr val="434343"/>
                </a:solidFill>
                <a:latin typeface="JASO Sans Bold"/>
                <a:ea typeface="JASO Sans Bold"/>
                <a:cs typeface="JASO Sans Bold"/>
                <a:sym typeface="JASO Sans Bold"/>
              </a:rPr>
              <a:t>2030년 매출 예측</a:t>
            </a:r>
          </a:p>
        </p:txBody>
      </p:sp>
      <p:graphicFrame>
        <p:nvGraphicFramePr>
          <p:cNvPr id="4" name="Table 4"/>
          <p:cNvGraphicFramePr>
            <a:graphicFrameLocks noGrp="1"/>
          </p:cNvGraphicFramePr>
          <p:nvPr/>
        </p:nvGraphicFramePr>
        <p:xfrm>
          <a:off x="1518481" y="3756103"/>
          <a:ext cx="9273459" cy="5492388"/>
        </p:xfrm>
        <a:graphic>
          <a:graphicData uri="http://schemas.openxmlformats.org/drawingml/2006/table">
            <a:tbl>
              <a:tblPr/>
              <a:tblGrid>
                <a:gridCol w="1938361">
                  <a:extLst>
                    <a:ext uri="{9D8B030D-6E8A-4147-A177-3AD203B41FA5}">
                      <a16:colId xmlns:a16="http://schemas.microsoft.com/office/drawing/2014/main" val="20000"/>
                    </a:ext>
                  </a:extLst>
                </a:gridCol>
                <a:gridCol w="3667549">
                  <a:extLst>
                    <a:ext uri="{9D8B030D-6E8A-4147-A177-3AD203B41FA5}">
                      <a16:colId xmlns:a16="http://schemas.microsoft.com/office/drawing/2014/main" val="20001"/>
                    </a:ext>
                  </a:extLst>
                </a:gridCol>
                <a:gridCol w="3667549">
                  <a:extLst>
                    <a:ext uri="{9D8B030D-6E8A-4147-A177-3AD203B41FA5}">
                      <a16:colId xmlns:a16="http://schemas.microsoft.com/office/drawing/2014/main" val="20002"/>
                    </a:ext>
                  </a:extLst>
                </a:gridCol>
              </a:tblGrid>
              <a:tr h="849069">
                <a:tc>
                  <a:txBody>
                    <a:bodyPr/>
                    <a:lstStyle/>
                    <a:p>
                      <a:pPr algn="ctr">
                        <a:lnSpc>
                          <a:spcPts val="2451"/>
                        </a:lnSpc>
                        <a:defRPr/>
                      </a:pPr>
                      <a:r>
                        <a:rPr lang="en-US" sz="1750" b="1">
                          <a:solidFill>
                            <a:srgbClr val="FFFFFF"/>
                          </a:solidFill>
                          <a:latin typeface="JASO Sans Bold"/>
                          <a:ea typeface="JASO Sans Bold"/>
                          <a:cs typeface="JASO Sans Bold"/>
                          <a:sym typeface="JASO Sans Bold"/>
                        </a:rPr>
                        <a:t>항목</a:t>
                      </a:r>
                      <a:endParaRPr lang="en-US" sz="1100"/>
                    </a:p>
                  </a:txBody>
                  <a:tcPr marL="0" marR="0" marT="0" marB="0" anchor="ctr">
                    <a:lnL w="0" cap="flat" cmpd="sng" algn="ctr">
                      <a:solidFill>
                        <a:srgbClr val="B4B4B4"/>
                      </a:solidFill>
                      <a:prstDash val="solid"/>
                      <a:round/>
                      <a:headEnd type="none" w="med" len="med"/>
                      <a:tailEnd type="none" w="med" len="med"/>
                    </a:lnL>
                    <a:lnR w="19620" cap="flat" cmpd="sng" algn="ctr">
                      <a:solidFill>
                        <a:srgbClr val="D9D9D9"/>
                      </a:solidFill>
                      <a:prstDash val="solid"/>
                      <a:round/>
                      <a:headEnd type="none" w="med" len="med"/>
                      <a:tailEnd type="none" w="med" len="med"/>
                    </a:lnR>
                    <a:lnT w="0" cap="flat" cmpd="sng" algn="ctr">
                      <a:solidFill>
                        <a:srgbClr val="526AD9"/>
                      </a:solidFill>
                      <a:prstDash val="solid"/>
                      <a:round/>
                      <a:headEnd type="none" w="med" len="med"/>
                      <a:tailEnd type="none" w="med" len="med"/>
                    </a:lnT>
                    <a:lnB w="19620" cap="flat" cmpd="sng" algn="ctr">
                      <a:solidFill>
                        <a:srgbClr val="FFFFFF"/>
                      </a:solidFill>
                      <a:prstDash val="solid"/>
                      <a:round/>
                      <a:headEnd type="none" w="med" len="med"/>
                      <a:tailEnd type="none" w="med" len="med"/>
                    </a:lnB>
                    <a:solidFill>
                      <a:srgbClr val="86B0E7"/>
                    </a:solidFill>
                  </a:tcPr>
                </a:tc>
                <a:tc>
                  <a:txBody>
                    <a:bodyPr/>
                    <a:lstStyle/>
                    <a:p>
                      <a:pPr algn="ctr">
                        <a:lnSpc>
                          <a:spcPts val="2451"/>
                        </a:lnSpc>
                        <a:defRPr/>
                      </a:pPr>
                      <a:r>
                        <a:rPr lang="en-US" sz="1750" b="1">
                          <a:solidFill>
                            <a:srgbClr val="FFFFFF"/>
                          </a:solidFill>
                          <a:latin typeface="JASO Sans Bold"/>
                          <a:ea typeface="JASO Sans Bold"/>
                          <a:cs typeface="JASO Sans Bold"/>
                          <a:sym typeface="JASO Sans Bold"/>
                        </a:rPr>
                        <a:t>전년도 매출 추정</a:t>
                      </a:r>
                      <a:endParaRPr lang="en-US" sz="1100"/>
                    </a:p>
                  </a:txBody>
                  <a:tcPr marL="0" marR="0" marT="0" marB="0" anchor="ctr">
                    <a:lnL w="19620" cap="flat" cmpd="sng" algn="ctr">
                      <a:solidFill>
                        <a:srgbClr val="D9D9D9"/>
                      </a:solidFill>
                      <a:prstDash val="solid"/>
                      <a:round/>
                      <a:headEnd type="none" w="med" len="med"/>
                      <a:tailEnd type="none" w="med" len="med"/>
                    </a:lnL>
                    <a:lnR w="0" cap="flat" cmpd="sng" algn="ctr">
                      <a:solidFill>
                        <a:srgbClr val="B4B4B4"/>
                      </a:solidFill>
                      <a:prstDash val="solid"/>
                      <a:round/>
                      <a:headEnd type="none" w="med" len="med"/>
                      <a:tailEnd type="none" w="med" len="med"/>
                    </a:lnR>
                    <a:lnT w="0" cap="flat" cmpd="sng" algn="ctr">
                      <a:solidFill>
                        <a:srgbClr val="526AD9"/>
                      </a:solidFill>
                      <a:prstDash val="solid"/>
                      <a:round/>
                      <a:headEnd type="none" w="med" len="med"/>
                      <a:tailEnd type="none" w="med" len="med"/>
                    </a:lnT>
                    <a:lnB w="19620" cap="flat" cmpd="sng" algn="ctr">
                      <a:solidFill>
                        <a:srgbClr val="D9D9D9"/>
                      </a:solidFill>
                      <a:prstDash val="solid"/>
                      <a:round/>
                      <a:headEnd type="none" w="med" len="med"/>
                      <a:tailEnd type="none" w="med" len="med"/>
                    </a:lnB>
                    <a:solidFill>
                      <a:srgbClr val="86B0E7"/>
                    </a:solidFill>
                  </a:tcPr>
                </a:tc>
                <a:tc>
                  <a:txBody>
                    <a:bodyPr/>
                    <a:lstStyle/>
                    <a:p>
                      <a:pPr algn="ctr">
                        <a:lnSpc>
                          <a:spcPts val="2451"/>
                        </a:lnSpc>
                        <a:defRPr/>
                      </a:pPr>
                      <a:r>
                        <a:rPr lang="en-US" sz="1750" b="1">
                          <a:solidFill>
                            <a:srgbClr val="FFFFFF"/>
                          </a:solidFill>
                          <a:latin typeface="JASO Sans Bold"/>
                          <a:ea typeface="JASO Sans Bold"/>
                          <a:cs typeface="JASO Sans Bold"/>
                          <a:sym typeface="JASO Sans Bold"/>
                        </a:rPr>
                        <a:t>금년도 매출 예측</a:t>
                      </a: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0" cap="flat" cmpd="sng" algn="ctr">
                      <a:solidFill>
                        <a:srgbClr val="526AD9"/>
                      </a:solidFill>
                      <a:prstDash val="solid"/>
                      <a:round/>
                      <a:headEnd type="none" w="med" len="med"/>
                      <a:tailEnd type="none" w="med" len="med"/>
                    </a:lnT>
                    <a:lnB w="19620" cap="flat" cmpd="sng" algn="ctr">
                      <a:solidFill>
                        <a:srgbClr val="D9D9D9"/>
                      </a:solidFill>
                      <a:prstDash val="solid"/>
                      <a:round/>
                      <a:headEnd type="none" w="med" len="med"/>
                      <a:tailEnd type="none" w="med" len="med"/>
                    </a:lnB>
                    <a:solidFill>
                      <a:srgbClr val="86B0E7"/>
                    </a:solidFill>
                  </a:tcPr>
                </a:tc>
                <a:extLst>
                  <a:ext uri="{0D108BD9-81ED-4DB2-BD59-A6C34878D82A}">
                    <a16:rowId xmlns:a16="http://schemas.microsoft.com/office/drawing/2014/main" val="10000"/>
                  </a:ext>
                </a:extLst>
              </a:tr>
              <a:tr h="1547773">
                <a:tc>
                  <a:txBody>
                    <a:bodyPr/>
                    <a:lstStyle/>
                    <a:p>
                      <a:pPr algn="ctr">
                        <a:lnSpc>
                          <a:spcPts val="2966"/>
                        </a:lnSpc>
                        <a:defRPr/>
                      </a:pPr>
                      <a:r>
                        <a:rPr lang="en-US" sz="1853" b="1">
                          <a:solidFill>
                            <a:srgbClr val="434343"/>
                          </a:solidFill>
                          <a:latin typeface="JASO Sans Bold"/>
                          <a:ea typeface="JASO Sans Bold"/>
                          <a:cs typeface="JASO Sans Bold"/>
                          <a:sym typeface="JASO Sans Bold"/>
                        </a:rPr>
                        <a:t>총매출</a:t>
                      </a: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D9D9D9"/>
                      </a:solidFill>
                      <a:prstDash val="solid"/>
                      <a:round/>
                      <a:headEnd type="none" w="med" len="med"/>
                      <a:tailEnd type="none" w="med" len="med"/>
                    </a:lnR>
                    <a:lnT w="19620" cap="flat" cmpd="sng" algn="ctr">
                      <a:solidFill>
                        <a:srgbClr val="FFFFFF"/>
                      </a:solidFill>
                      <a:prstDash val="solid"/>
                      <a:round/>
                      <a:headEnd type="none" w="med" len="med"/>
                      <a:tailEnd type="none" w="med" len="med"/>
                    </a:lnT>
                    <a:lnB w="19620" cap="flat" cmpd="sng" algn="ctr">
                      <a:solidFill>
                        <a:srgbClr val="FFFFFF"/>
                      </a:solidFill>
                      <a:prstDash val="solid"/>
                      <a:round/>
                      <a:headEnd type="none" w="med" len="med"/>
                      <a:tailEnd type="none" w="med" len="med"/>
                    </a:lnB>
                    <a:solidFill>
                      <a:srgbClr val="EDF3FB"/>
                    </a:solidFill>
                  </a:tcPr>
                </a:tc>
                <a:tc>
                  <a:txBody>
                    <a:bodyPr/>
                    <a:lstStyle/>
                    <a:p>
                      <a:pPr algn="ctr">
                        <a:lnSpc>
                          <a:spcPts val="2966"/>
                        </a:lnSpc>
                        <a:defRPr/>
                      </a:pPr>
                      <a:r>
                        <a:rPr lang="en-US" sz="1853">
                          <a:solidFill>
                            <a:srgbClr val="434343"/>
                          </a:solidFill>
                          <a:latin typeface="JASO Sans"/>
                          <a:ea typeface="JASO Sans"/>
                          <a:cs typeface="JASO Sans"/>
                          <a:sym typeface="JASO Sans"/>
                        </a:rPr>
                        <a:t>48억 원</a:t>
                      </a:r>
                      <a:endParaRPr lang="en-US" sz="1100"/>
                    </a:p>
                  </a:txBody>
                  <a:tcPr marL="0" marR="0" marT="0" marB="0" anchor="ctr">
                    <a:lnL w="0" cap="flat" cmpd="sng" algn="ctr">
                      <a:solidFill>
                        <a:srgbClr val="D9D9D9"/>
                      </a:solidFill>
                      <a:prstDash val="solid"/>
                      <a:round/>
                      <a:headEnd type="none" w="med" len="med"/>
                      <a:tailEnd type="none" w="med" len="med"/>
                    </a:lnL>
                    <a:lnR w="0" cap="flat" cmpd="sng" algn="ctr">
                      <a:solidFill>
                        <a:srgbClr val="B4B4B4"/>
                      </a:solidFill>
                      <a:prstDash val="solid"/>
                      <a:round/>
                      <a:headEnd type="none" w="med" len="med"/>
                      <a:tailEnd type="none" w="med" len="med"/>
                    </a:lnR>
                    <a:lnT w="19620" cap="flat" cmpd="sng" algn="ctr">
                      <a:solidFill>
                        <a:srgbClr val="D9D9D9"/>
                      </a:solidFill>
                      <a:prstDash val="solid"/>
                      <a:round/>
                      <a:headEnd type="none" w="med" len="med"/>
                      <a:tailEnd type="none" w="med" len="med"/>
                    </a:lnT>
                    <a:lnB w="19620" cap="flat" cmpd="sng" algn="ctr">
                      <a:solidFill>
                        <a:srgbClr val="D9D9D9"/>
                      </a:solidFill>
                      <a:prstDash val="solid"/>
                      <a:round/>
                      <a:headEnd type="none" w="med" len="med"/>
                      <a:tailEnd type="none" w="med" len="med"/>
                    </a:lnB>
                  </a:tcPr>
                </a:tc>
                <a:tc>
                  <a:txBody>
                    <a:bodyPr/>
                    <a:lstStyle/>
                    <a:p>
                      <a:pPr algn="ctr">
                        <a:lnSpc>
                          <a:spcPts val="3625"/>
                        </a:lnSpc>
                        <a:defRPr/>
                      </a:pPr>
                      <a:r>
                        <a:rPr lang="en-US" sz="2265" b="1">
                          <a:solidFill>
                            <a:srgbClr val="434343"/>
                          </a:solidFill>
                          <a:latin typeface="JASO Sans Bold"/>
                          <a:ea typeface="JASO Sans Bold"/>
                          <a:cs typeface="JASO Sans Bold"/>
                          <a:sym typeface="JASO Sans Bold"/>
                        </a:rPr>
                        <a:t>58억 원</a:t>
                      </a: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19620" cap="flat" cmpd="sng" algn="ctr">
                      <a:solidFill>
                        <a:srgbClr val="D9D9D9"/>
                      </a:solidFill>
                      <a:prstDash val="solid"/>
                      <a:round/>
                      <a:headEnd type="none" w="med" len="med"/>
                      <a:tailEnd type="none" w="med" len="med"/>
                    </a:lnT>
                    <a:lnB w="19620" cap="flat" cmpd="sng" algn="ctr">
                      <a:solidFill>
                        <a:srgbClr val="D9D9D9"/>
                      </a:solidFill>
                      <a:prstDash val="solid"/>
                      <a:round/>
                      <a:headEnd type="none" w="med" len="med"/>
                      <a:tailEnd type="none" w="med" len="med"/>
                    </a:lnB>
                    <a:solidFill>
                      <a:srgbClr val="F9F9F9"/>
                    </a:solidFill>
                  </a:tcPr>
                </a:tc>
                <a:extLst>
                  <a:ext uri="{0D108BD9-81ED-4DB2-BD59-A6C34878D82A}">
                    <a16:rowId xmlns:a16="http://schemas.microsoft.com/office/drawing/2014/main" val="10001"/>
                  </a:ext>
                </a:extLst>
              </a:tr>
              <a:tr h="1547773">
                <a:tc>
                  <a:txBody>
                    <a:bodyPr/>
                    <a:lstStyle/>
                    <a:p>
                      <a:pPr algn="ctr">
                        <a:lnSpc>
                          <a:spcPts val="2966"/>
                        </a:lnSpc>
                        <a:defRPr/>
                      </a:pPr>
                      <a:r>
                        <a:rPr lang="en-US" sz="1853" b="1">
                          <a:solidFill>
                            <a:srgbClr val="434343"/>
                          </a:solidFill>
                          <a:latin typeface="JASO Sans Bold"/>
                          <a:ea typeface="JASO Sans Bold"/>
                          <a:cs typeface="JASO Sans Bold"/>
                          <a:sym typeface="JASO Sans Bold"/>
                        </a:rPr>
                        <a:t>성장률</a:t>
                      </a: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D9D9D9"/>
                      </a:solidFill>
                      <a:prstDash val="solid"/>
                      <a:round/>
                      <a:headEnd type="none" w="med" len="med"/>
                      <a:tailEnd type="none" w="med" len="med"/>
                    </a:lnR>
                    <a:lnT w="19620" cap="flat" cmpd="sng" algn="ctr">
                      <a:solidFill>
                        <a:srgbClr val="FFFFFF"/>
                      </a:solidFill>
                      <a:prstDash val="solid"/>
                      <a:round/>
                      <a:headEnd type="none" w="med" len="med"/>
                      <a:tailEnd type="none" w="med" len="med"/>
                    </a:lnT>
                    <a:lnB w="19620" cap="flat" cmpd="sng" algn="ctr">
                      <a:solidFill>
                        <a:srgbClr val="FFFFFF"/>
                      </a:solidFill>
                      <a:prstDash val="solid"/>
                      <a:round/>
                      <a:headEnd type="none" w="med" len="med"/>
                      <a:tailEnd type="none" w="med" len="med"/>
                    </a:lnB>
                    <a:solidFill>
                      <a:srgbClr val="EDF3FB"/>
                    </a:solidFill>
                  </a:tcPr>
                </a:tc>
                <a:tc>
                  <a:txBody>
                    <a:bodyPr/>
                    <a:lstStyle/>
                    <a:p>
                      <a:pPr algn="ctr">
                        <a:lnSpc>
                          <a:spcPts val="2966"/>
                        </a:lnSpc>
                        <a:defRPr/>
                      </a:pPr>
                      <a:r>
                        <a:rPr lang="en-US" sz="1853">
                          <a:solidFill>
                            <a:srgbClr val="434343"/>
                          </a:solidFill>
                          <a:latin typeface="JASO Sans"/>
                          <a:ea typeface="JASO Sans"/>
                          <a:cs typeface="JASO Sans"/>
                          <a:sym typeface="JASO Sans"/>
                        </a:rPr>
                        <a:t>+15%</a:t>
                      </a:r>
                      <a:endParaRPr lang="en-US" sz="1100"/>
                    </a:p>
                  </a:txBody>
                  <a:tcPr marL="0" marR="0" marT="0" marB="0" anchor="ctr">
                    <a:lnL w="0" cap="flat" cmpd="sng" algn="ctr">
                      <a:solidFill>
                        <a:srgbClr val="D9D9D9"/>
                      </a:solidFill>
                      <a:prstDash val="solid"/>
                      <a:round/>
                      <a:headEnd type="none" w="med" len="med"/>
                      <a:tailEnd type="none" w="med" len="med"/>
                    </a:lnL>
                    <a:lnR w="0" cap="flat" cmpd="sng" algn="ctr">
                      <a:solidFill>
                        <a:srgbClr val="B4B4B4"/>
                      </a:solidFill>
                      <a:prstDash val="solid"/>
                      <a:round/>
                      <a:headEnd type="none" w="med" len="med"/>
                      <a:tailEnd type="none" w="med" len="med"/>
                    </a:lnR>
                    <a:lnT w="19620" cap="flat" cmpd="sng" algn="ctr">
                      <a:solidFill>
                        <a:srgbClr val="D9D9D9"/>
                      </a:solidFill>
                      <a:prstDash val="solid"/>
                      <a:round/>
                      <a:headEnd type="none" w="med" len="med"/>
                      <a:tailEnd type="none" w="med" len="med"/>
                    </a:lnT>
                    <a:lnB w="19620" cap="flat" cmpd="sng" algn="ctr">
                      <a:solidFill>
                        <a:srgbClr val="D9D9D9"/>
                      </a:solidFill>
                      <a:prstDash val="solid"/>
                      <a:round/>
                      <a:headEnd type="none" w="med" len="med"/>
                      <a:tailEnd type="none" w="med" len="med"/>
                    </a:lnB>
                  </a:tcPr>
                </a:tc>
                <a:tc>
                  <a:txBody>
                    <a:bodyPr/>
                    <a:lstStyle/>
                    <a:p>
                      <a:pPr algn="ctr">
                        <a:lnSpc>
                          <a:spcPts val="3625"/>
                        </a:lnSpc>
                        <a:defRPr/>
                      </a:pPr>
                      <a:r>
                        <a:rPr lang="en-US" sz="2265" b="1">
                          <a:solidFill>
                            <a:srgbClr val="434343"/>
                          </a:solidFill>
                          <a:latin typeface="JASO Sans Bold"/>
                          <a:ea typeface="JASO Sans Bold"/>
                          <a:cs typeface="JASO Sans Bold"/>
                          <a:sym typeface="JASO Sans Bold"/>
                        </a:rPr>
                        <a:t>+21%</a:t>
                      </a: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19620" cap="flat" cmpd="sng" algn="ctr">
                      <a:solidFill>
                        <a:srgbClr val="D9D9D9"/>
                      </a:solidFill>
                      <a:prstDash val="solid"/>
                      <a:round/>
                      <a:headEnd type="none" w="med" len="med"/>
                      <a:tailEnd type="none" w="med" len="med"/>
                    </a:lnT>
                    <a:lnB w="19620" cap="flat" cmpd="sng" algn="ctr">
                      <a:solidFill>
                        <a:srgbClr val="D9D9D9"/>
                      </a:solidFill>
                      <a:prstDash val="solid"/>
                      <a:round/>
                      <a:headEnd type="none" w="med" len="med"/>
                      <a:tailEnd type="none" w="med" len="med"/>
                    </a:lnB>
                    <a:solidFill>
                      <a:srgbClr val="F9F9F9"/>
                    </a:solidFill>
                  </a:tcPr>
                </a:tc>
                <a:extLst>
                  <a:ext uri="{0D108BD9-81ED-4DB2-BD59-A6C34878D82A}">
                    <a16:rowId xmlns:a16="http://schemas.microsoft.com/office/drawing/2014/main" val="10002"/>
                  </a:ext>
                </a:extLst>
              </a:tr>
              <a:tr h="1547773">
                <a:tc>
                  <a:txBody>
                    <a:bodyPr/>
                    <a:lstStyle/>
                    <a:p>
                      <a:pPr algn="ctr">
                        <a:lnSpc>
                          <a:spcPts val="2966"/>
                        </a:lnSpc>
                        <a:defRPr/>
                      </a:pPr>
                      <a:r>
                        <a:rPr lang="en-US" sz="1853" b="1">
                          <a:solidFill>
                            <a:srgbClr val="434343"/>
                          </a:solidFill>
                          <a:latin typeface="JASO Sans Bold"/>
                          <a:ea typeface="JASO Sans Bold"/>
                          <a:cs typeface="JASO Sans Bold"/>
                          <a:sym typeface="JASO Sans Bold"/>
                        </a:rPr>
                        <a:t>월 평균 매출</a:t>
                      </a: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D9D9D9"/>
                      </a:solidFill>
                      <a:prstDash val="solid"/>
                      <a:round/>
                      <a:headEnd type="none" w="med" len="med"/>
                      <a:tailEnd type="none" w="med" len="med"/>
                    </a:lnR>
                    <a:lnT w="19620" cap="flat" cmpd="sng" algn="ctr">
                      <a:solidFill>
                        <a:srgbClr val="FFFFFF"/>
                      </a:solidFill>
                      <a:prstDash val="solid"/>
                      <a:round/>
                      <a:headEnd type="none" w="med" len="med"/>
                      <a:tailEnd type="none" w="med" len="med"/>
                    </a:lnT>
                    <a:lnB w="19620" cap="flat" cmpd="sng" algn="ctr">
                      <a:solidFill>
                        <a:srgbClr val="D9D9D9"/>
                      </a:solidFill>
                      <a:prstDash val="solid"/>
                      <a:round/>
                      <a:headEnd type="none" w="med" len="med"/>
                      <a:tailEnd type="none" w="med" len="med"/>
                    </a:lnB>
                    <a:solidFill>
                      <a:srgbClr val="EDF3FB"/>
                    </a:solidFill>
                  </a:tcPr>
                </a:tc>
                <a:tc>
                  <a:txBody>
                    <a:bodyPr/>
                    <a:lstStyle/>
                    <a:p>
                      <a:pPr algn="ctr">
                        <a:lnSpc>
                          <a:spcPts val="2966"/>
                        </a:lnSpc>
                        <a:defRPr/>
                      </a:pPr>
                      <a:r>
                        <a:rPr lang="en-US" sz="1853">
                          <a:solidFill>
                            <a:srgbClr val="434343"/>
                          </a:solidFill>
                          <a:latin typeface="JASO Sans"/>
                          <a:ea typeface="JASO Sans"/>
                          <a:cs typeface="JASO Sans"/>
                          <a:sym typeface="JASO Sans"/>
                        </a:rPr>
                        <a:t>4억 원</a:t>
                      </a:r>
                      <a:endParaRPr lang="en-US" sz="1100"/>
                    </a:p>
                  </a:txBody>
                  <a:tcPr marL="0" marR="0" marT="0" marB="0" anchor="ctr">
                    <a:lnL w="0" cap="flat" cmpd="sng" algn="ctr">
                      <a:solidFill>
                        <a:srgbClr val="D9D9D9"/>
                      </a:solidFill>
                      <a:prstDash val="solid"/>
                      <a:round/>
                      <a:headEnd type="none" w="med" len="med"/>
                      <a:tailEnd type="none" w="med" len="med"/>
                    </a:lnL>
                    <a:lnR w="0" cap="flat" cmpd="sng" algn="ctr">
                      <a:solidFill>
                        <a:srgbClr val="B4B4B4"/>
                      </a:solidFill>
                      <a:prstDash val="solid"/>
                      <a:round/>
                      <a:headEnd type="none" w="med" len="med"/>
                      <a:tailEnd type="none" w="med" len="med"/>
                    </a:lnR>
                    <a:lnT w="19620" cap="flat" cmpd="sng" algn="ctr">
                      <a:solidFill>
                        <a:srgbClr val="D9D9D9"/>
                      </a:solidFill>
                      <a:prstDash val="solid"/>
                      <a:round/>
                      <a:headEnd type="none" w="med" len="med"/>
                      <a:tailEnd type="none" w="med" len="med"/>
                    </a:lnT>
                    <a:lnB w="19620" cap="flat" cmpd="sng" algn="ctr">
                      <a:solidFill>
                        <a:srgbClr val="D9D9D9"/>
                      </a:solidFill>
                      <a:prstDash val="solid"/>
                      <a:round/>
                      <a:headEnd type="none" w="med" len="med"/>
                      <a:tailEnd type="none" w="med" len="med"/>
                    </a:lnB>
                  </a:tcPr>
                </a:tc>
                <a:tc>
                  <a:txBody>
                    <a:bodyPr/>
                    <a:lstStyle/>
                    <a:p>
                      <a:pPr algn="ctr">
                        <a:lnSpc>
                          <a:spcPts val="3625"/>
                        </a:lnSpc>
                        <a:defRPr/>
                      </a:pPr>
                      <a:r>
                        <a:rPr lang="en-US" sz="2265" b="1">
                          <a:solidFill>
                            <a:srgbClr val="434343"/>
                          </a:solidFill>
                          <a:latin typeface="JASO Sans Bold"/>
                          <a:ea typeface="JASO Sans Bold"/>
                          <a:cs typeface="JASO Sans Bold"/>
                          <a:sym typeface="JASO Sans Bold"/>
                        </a:rPr>
                        <a:t>4.8억 원</a:t>
                      </a: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19620" cap="flat" cmpd="sng" algn="ctr">
                      <a:solidFill>
                        <a:srgbClr val="D9D9D9"/>
                      </a:solidFill>
                      <a:prstDash val="solid"/>
                      <a:round/>
                      <a:headEnd type="none" w="med" len="med"/>
                      <a:tailEnd type="none" w="med" len="med"/>
                    </a:lnT>
                    <a:lnB w="19620" cap="flat" cmpd="sng" algn="ctr">
                      <a:solidFill>
                        <a:srgbClr val="D9D9D9"/>
                      </a:solidFill>
                      <a:prstDash val="solid"/>
                      <a:round/>
                      <a:headEnd type="none" w="med" len="med"/>
                      <a:tailEnd type="none" w="med" len="med"/>
                    </a:lnB>
                    <a:solidFill>
                      <a:srgbClr val="F9F9F9"/>
                    </a:solidFill>
                  </a:tcPr>
                </a:tc>
                <a:extLst>
                  <a:ext uri="{0D108BD9-81ED-4DB2-BD59-A6C34878D82A}">
                    <a16:rowId xmlns:a16="http://schemas.microsoft.com/office/drawing/2014/main" val="10003"/>
                  </a:ext>
                </a:extLst>
              </a:tr>
            </a:tbl>
          </a:graphicData>
        </a:graphic>
      </p:graphicFrame>
      <p:sp>
        <p:nvSpPr>
          <p:cNvPr id="5" name="AutoShape 5"/>
          <p:cNvSpPr/>
          <p:nvPr/>
        </p:nvSpPr>
        <p:spPr>
          <a:xfrm>
            <a:off x="7153200" y="3756103"/>
            <a:ext cx="0" cy="5492388"/>
          </a:xfrm>
          <a:prstGeom prst="line">
            <a:avLst/>
          </a:prstGeom>
          <a:ln w="76200" cap="flat">
            <a:solidFill>
              <a:srgbClr val="0066FF"/>
            </a:solidFill>
            <a:prstDash val="solid"/>
            <a:headEnd type="none" w="sm" len="sm"/>
            <a:tailEnd type="none" w="sm" len="sm"/>
          </a:ln>
        </p:spPr>
        <p:txBody>
          <a:bodyPr/>
          <a:lstStyle/>
          <a:p>
            <a:endParaRPr lang="ko-KR" altLang="en-US"/>
          </a:p>
        </p:txBody>
      </p:sp>
      <p:sp>
        <p:nvSpPr>
          <p:cNvPr id="6" name="AutoShape 6"/>
          <p:cNvSpPr/>
          <p:nvPr/>
        </p:nvSpPr>
        <p:spPr>
          <a:xfrm>
            <a:off x="10762511" y="3756103"/>
            <a:ext cx="0" cy="5492388"/>
          </a:xfrm>
          <a:prstGeom prst="line">
            <a:avLst/>
          </a:prstGeom>
          <a:ln w="76200" cap="flat">
            <a:solidFill>
              <a:srgbClr val="0066FF"/>
            </a:solidFill>
            <a:prstDash val="solid"/>
            <a:headEnd type="none" w="sm" len="sm"/>
            <a:tailEnd type="none" w="sm" len="sm"/>
          </a:ln>
        </p:spPr>
        <p:txBody>
          <a:bodyPr/>
          <a:lstStyle/>
          <a:p>
            <a:endParaRPr lang="ko-KR" altLang="en-US"/>
          </a:p>
        </p:txBody>
      </p:sp>
      <p:sp>
        <p:nvSpPr>
          <p:cNvPr id="7" name="AutoShape 7"/>
          <p:cNvSpPr/>
          <p:nvPr/>
        </p:nvSpPr>
        <p:spPr>
          <a:xfrm>
            <a:off x="7153200" y="9219060"/>
            <a:ext cx="3609311" cy="0"/>
          </a:xfrm>
          <a:prstGeom prst="line">
            <a:avLst/>
          </a:prstGeom>
          <a:ln w="76200" cap="flat">
            <a:solidFill>
              <a:srgbClr val="0066FF"/>
            </a:solidFill>
            <a:prstDash val="solid"/>
            <a:headEnd type="none" w="sm" len="sm"/>
            <a:tailEnd type="none" w="sm" len="sm"/>
          </a:ln>
        </p:spPr>
        <p:txBody>
          <a:bodyPr/>
          <a:lstStyle/>
          <a:p>
            <a:endParaRPr lang="ko-KR" altLang="en-US"/>
          </a:p>
        </p:txBody>
      </p:sp>
      <p:sp>
        <p:nvSpPr>
          <p:cNvPr id="8" name="AutoShape 8"/>
          <p:cNvSpPr/>
          <p:nvPr/>
        </p:nvSpPr>
        <p:spPr>
          <a:xfrm>
            <a:off x="7153200" y="3795342"/>
            <a:ext cx="3609311" cy="0"/>
          </a:xfrm>
          <a:prstGeom prst="line">
            <a:avLst/>
          </a:prstGeom>
          <a:ln w="76200" cap="flat">
            <a:solidFill>
              <a:srgbClr val="0066FF"/>
            </a:solidFill>
            <a:prstDash val="solid"/>
            <a:headEnd type="none" w="sm" len="sm"/>
            <a:tailEnd type="none" w="sm" len="sm"/>
          </a:ln>
        </p:spPr>
        <p:txBody>
          <a:bodyPr/>
          <a:lstStyle/>
          <a:p>
            <a:endParaRPr lang="ko-KR" altLang="en-US"/>
          </a:p>
        </p:txBody>
      </p:sp>
      <p:sp>
        <p:nvSpPr>
          <p:cNvPr id="9" name="Freeform 9"/>
          <p:cNvSpPr/>
          <p:nvPr/>
        </p:nvSpPr>
        <p:spPr>
          <a:xfrm>
            <a:off x="1518481" y="3148822"/>
            <a:ext cx="154314" cy="223755"/>
          </a:xfrm>
          <a:custGeom>
            <a:avLst/>
            <a:gdLst/>
            <a:ahLst/>
            <a:cxnLst/>
            <a:rect l="l" t="t" r="r" b="b"/>
            <a:pathLst>
              <a:path w="154314" h="223755">
                <a:moveTo>
                  <a:pt x="0" y="0"/>
                </a:moveTo>
                <a:lnTo>
                  <a:pt x="154314" y="0"/>
                </a:lnTo>
                <a:lnTo>
                  <a:pt x="154314" y="223755"/>
                </a:lnTo>
                <a:lnTo>
                  <a:pt x="0" y="22375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ko-KR" altLang="en-US"/>
          </a:p>
        </p:txBody>
      </p:sp>
      <p:sp>
        <p:nvSpPr>
          <p:cNvPr id="10" name="TextBox 10"/>
          <p:cNvSpPr txBox="1"/>
          <p:nvPr/>
        </p:nvSpPr>
        <p:spPr>
          <a:xfrm>
            <a:off x="1815466" y="2998110"/>
            <a:ext cx="8976475" cy="443093"/>
          </a:xfrm>
          <a:prstGeom prst="rect">
            <a:avLst/>
          </a:prstGeom>
        </p:spPr>
        <p:txBody>
          <a:bodyPr lIns="0" tIns="0" rIns="0" bIns="0" rtlCol="0" anchor="t">
            <a:spAutoFit/>
          </a:bodyPr>
          <a:lstStyle/>
          <a:p>
            <a:pPr algn="l">
              <a:lnSpc>
                <a:spcPts val="3707"/>
              </a:lnSpc>
            </a:pPr>
            <a:r>
              <a:rPr lang="en-US" sz="2471" b="1" spc="-49">
                <a:solidFill>
                  <a:srgbClr val="434343"/>
                </a:solidFill>
                <a:latin typeface="JASO Sans Bold"/>
                <a:ea typeface="JASO Sans Bold"/>
                <a:cs typeface="JASO Sans Bold"/>
                <a:sym typeface="JASO Sans Bold"/>
              </a:rPr>
              <a:t>2030년 연간 매출 목표 요약</a:t>
            </a:r>
          </a:p>
        </p:txBody>
      </p:sp>
      <p:sp>
        <p:nvSpPr>
          <p:cNvPr id="11" name="Freeform 11"/>
          <p:cNvSpPr/>
          <p:nvPr/>
        </p:nvSpPr>
        <p:spPr>
          <a:xfrm>
            <a:off x="11481587" y="3148822"/>
            <a:ext cx="154314" cy="223755"/>
          </a:xfrm>
          <a:custGeom>
            <a:avLst/>
            <a:gdLst/>
            <a:ahLst/>
            <a:cxnLst/>
            <a:rect l="l" t="t" r="r" b="b"/>
            <a:pathLst>
              <a:path w="154314" h="223755">
                <a:moveTo>
                  <a:pt x="0" y="0"/>
                </a:moveTo>
                <a:lnTo>
                  <a:pt x="154314" y="0"/>
                </a:lnTo>
                <a:lnTo>
                  <a:pt x="154314" y="223755"/>
                </a:lnTo>
                <a:lnTo>
                  <a:pt x="0" y="22375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ko-KR" altLang="en-US"/>
          </a:p>
        </p:txBody>
      </p:sp>
      <p:sp>
        <p:nvSpPr>
          <p:cNvPr id="12" name="TextBox 12"/>
          <p:cNvSpPr txBox="1"/>
          <p:nvPr/>
        </p:nvSpPr>
        <p:spPr>
          <a:xfrm>
            <a:off x="11778572" y="2998110"/>
            <a:ext cx="5480728" cy="443093"/>
          </a:xfrm>
          <a:prstGeom prst="rect">
            <a:avLst/>
          </a:prstGeom>
        </p:spPr>
        <p:txBody>
          <a:bodyPr lIns="0" tIns="0" rIns="0" bIns="0" rtlCol="0" anchor="t">
            <a:spAutoFit/>
          </a:bodyPr>
          <a:lstStyle/>
          <a:p>
            <a:pPr algn="l">
              <a:lnSpc>
                <a:spcPts val="3707"/>
              </a:lnSpc>
            </a:pPr>
            <a:r>
              <a:rPr lang="en-US" sz="2471" b="1" spc="-49">
                <a:solidFill>
                  <a:srgbClr val="434343"/>
                </a:solidFill>
                <a:latin typeface="JASO Sans Bold"/>
                <a:ea typeface="JASO Sans Bold"/>
                <a:cs typeface="JASO Sans Bold"/>
                <a:sym typeface="JASO Sans Bold"/>
              </a:rPr>
              <a:t>금년도 매출 목표 요약</a:t>
            </a:r>
          </a:p>
        </p:txBody>
      </p:sp>
      <p:grpSp>
        <p:nvGrpSpPr>
          <p:cNvPr id="13" name="Group 13"/>
          <p:cNvGrpSpPr/>
          <p:nvPr/>
        </p:nvGrpSpPr>
        <p:grpSpPr>
          <a:xfrm>
            <a:off x="11481587" y="4030600"/>
            <a:ext cx="5777713" cy="2315439"/>
            <a:chOff x="0" y="0"/>
            <a:chExt cx="1477499" cy="592113"/>
          </a:xfrm>
        </p:grpSpPr>
        <p:sp>
          <p:nvSpPr>
            <p:cNvPr id="14" name="Freeform 14"/>
            <p:cNvSpPr/>
            <p:nvPr/>
          </p:nvSpPr>
          <p:spPr>
            <a:xfrm>
              <a:off x="0" y="0"/>
              <a:ext cx="1477499" cy="592113"/>
            </a:xfrm>
            <a:custGeom>
              <a:avLst/>
              <a:gdLst/>
              <a:ahLst/>
              <a:cxnLst/>
              <a:rect l="l" t="t" r="r" b="b"/>
              <a:pathLst>
                <a:path w="1477499" h="592113">
                  <a:moveTo>
                    <a:pt x="0" y="0"/>
                  </a:moveTo>
                  <a:lnTo>
                    <a:pt x="1477499" y="0"/>
                  </a:lnTo>
                  <a:lnTo>
                    <a:pt x="1477499" y="592113"/>
                  </a:lnTo>
                  <a:lnTo>
                    <a:pt x="0" y="592113"/>
                  </a:lnTo>
                  <a:close/>
                </a:path>
              </a:pathLst>
            </a:custGeom>
            <a:solidFill>
              <a:srgbClr val="EDF3FB"/>
            </a:solidFill>
          </p:spPr>
          <p:txBody>
            <a:bodyPr/>
            <a:lstStyle/>
            <a:p>
              <a:endParaRPr lang="ko-KR" altLang="en-US"/>
            </a:p>
          </p:txBody>
        </p:sp>
        <p:sp>
          <p:nvSpPr>
            <p:cNvPr id="15" name="TextBox 15"/>
            <p:cNvSpPr txBox="1"/>
            <p:nvPr/>
          </p:nvSpPr>
          <p:spPr>
            <a:xfrm>
              <a:off x="0" y="-76200"/>
              <a:ext cx="1477499" cy="668313"/>
            </a:xfrm>
            <a:prstGeom prst="rect">
              <a:avLst/>
            </a:prstGeom>
          </p:spPr>
          <p:txBody>
            <a:bodyPr lIns="52320" tIns="52320" rIns="52320" bIns="52320" rtlCol="0" anchor="ctr"/>
            <a:lstStyle/>
            <a:p>
              <a:pPr marL="0" lvl="0" indent="0" algn="ctr">
                <a:lnSpc>
                  <a:spcPts val="3750"/>
                </a:lnSpc>
                <a:spcBef>
                  <a:spcPct val="0"/>
                </a:spcBef>
              </a:pPr>
              <a:endParaRPr/>
            </a:p>
          </p:txBody>
        </p:sp>
      </p:grpSp>
      <p:grpSp>
        <p:nvGrpSpPr>
          <p:cNvPr id="16" name="Group 16"/>
          <p:cNvGrpSpPr/>
          <p:nvPr/>
        </p:nvGrpSpPr>
        <p:grpSpPr>
          <a:xfrm>
            <a:off x="11481587" y="3756103"/>
            <a:ext cx="2556465" cy="548994"/>
            <a:chOff x="0" y="0"/>
            <a:chExt cx="653749" cy="140391"/>
          </a:xfrm>
        </p:grpSpPr>
        <p:sp>
          <p:nvSpPr>
            <p:cNvPr id="17" name="Freeform 17"/>
            <p:cNvSpPr/>
            <p:nvPr/>
          </p:nvSpPr>
          <p:spPr>
            <a:xfrm>
              <a:off x="0" y="0"/>
              <a:ext cx="653749" cy="140391"/>
            </a:xfrm>
            <a:custGeom>
              <a:avLst/>
              <a:gdLst/>
              <a:ahLst/>
              <a:cxnLst/>
              <a:rect l="l" t="t" r="r" b="b"/>
              <a:pathLst>
                <a:path w="653749" h="140391">
                  <a:moveTo>
                    <a:pt x="70195" y="0"/>
                  </a:moveTo>
                  <a:lnTo>
                    <a:pt x="583553" y="0"/>
                  </a:lnTo>
                  <a:cubicBezTo>
                    <a:pt x="602170" y="0"/>
                    <a:pt x="620025" y="7396"/>
                    <a:pt x="633189" y="20560"/>
                  </a:cubicBezTo>
                  <a:cubicBezTo>
                    <a:pt x="646353" y="33724"/>
                    <a:pt x="653749" y="51578"/>
                    <a:pt x="653749" y="70195"/>
                  </a:cubicBezTo>
                  <a:lnTo>
                    <a:pt x="653749" y="70195"/>
                  </a:lnTo>
                  <a:cubicBezTo>
                    <a:pt x="653749" y="88812"/>
                    <a:pt x="646353" y="106667"/>
                    <a:pt x="633189" y="119831"/>
                  </a:cubicBezTo>
                  <a:cubicBezTo>
                    <a:pt x="620025" y="132995"/>
                    <a:pt x="602170" y="140391"/>
                    <a:pt x="583553" y="140391"/>
                  </a:cubicBezTo>
                  <a:lnTo>
                    <a:pt x="70195" y="140391"/>
                  </a:lnTo>
                  <a:cubicBezTo>
                    <a:pt x="51578" y="140391"/>
                    <a:pt x="33724" y="132995"/>
                    <a:pt x="20560" y="119831"/>
                  </a:cubicBezTo>
                  <a:cubicBezTo>
                    <a:pt x="7396" y="106667"/>
                    <a:pt x="0" y="88812"/>
                    <a:pt x="0" y="70195"/>
                  </a:cubicBezTo>
                  <a:lnTo>
                    <a:pt x="0" y="70195"/>
                  </a:lnTo>
                  <a:cubicBezTo>
                    <a:pt x="0" y="51578"/>
                    <a:pt x="7396" y="33724"/>
                    <a:pt x="20560" y="20560"/>
                  </a:cubicBezTo>
                  <a:cubicBezTo>
                    <a:pt x="33724" y="7396"/>
                    <a:pt x="51578" y="0"/>
                    <a:pt x="70195" y="0"/>
                  </a:cubicBezTo>
                  <a:close/>
                </a:path>
              </a:pathLst>
            </a:custGeom>
            <a:solidFill>
              <a:srgbClr val="0066FF"/>
            </a:solidFill>
          </p:spPr>
          <p:txBody>
            <a:bodyPr/>
            <a:lstStyle/>
            <a:p>
              <a:endParaRPr lang="ko-KR" altLang="en-US"/>
            </a:p>
          </p:txBody>
        </p:sp>
        <p:sp>
          <p:nvSpPr>
            <p:cNvPr id="18" name="TextBox 18"/>
            <p:cNvSpPr txBox="1"/>
            <p:nvPr/>
          </p:nvSpPr>
          <p:spPr>
            <a:xfrm>
              <a:off x="0" y="-28575"/>
              <a:ext cx="653749" cy="168966"/>
            </a:xfrm>
            <a:prstGeom prst="rect">
              <a:avLst/>
            </a:prstGeom>
          </p:spPr>
          <p:txBody>
            <a:bodyPr lIns="52320" tIns="52320" rIns="52320" bIns="52320" rtlCol="0" anchor="ctr"/>
            <a:lstStyle/>
            <a:p>
              <a:pPr marL="0" lvl="0" indent="0" algn="ctr">
                <a:lnSpc>
                  <a:spcPts val="2660"/>
                </a:lnSpc>
              </a:pPr>
              <a:r>
                <a:rPr lang="en-US" sz="1900" b="1">
                  <a:solidFill>
                    <a:srgbClr val="FFFFFF"/>
                  </a:solidFill>
                  <a:latin typeface="JASO Sans Bold"/>
                  <a:ea typeface="JASO Sans Bold"/>
                  <a:cs typeface="JASO Sans Bold"/>
                  <a:sym typeface="JASO Sans Bold"/>
                </a:rPr>
                <a:t>매출 상승</a:t>
              </a:r>
            </a:p>
          </p:txBody>
        </p:sp>
      </p:grpSp>
      <p:sp>
        <p:nvSpPr>
          <p:cNvPr id="19" name="TextBox 19"/>
          <p:cNvSpPr txBox="1"/>
          <p:nvPr/>
        </p:nvSpPr>
        <p:spPr>
          <a:xfrm>
            <a:off x="12086853" y="4530959"/>
            <a:ext cx="4567180" cy="1219472"/>
          </a:xfrm>
          <a:prstGeom prst="rect">
            <a:avLst/>
          </a:prstGeom>
        </p:spPr>
        <p:txBody>
          <a:bodyPr lIns="0" tIns="0" rIns="0" bIns="0" rtlCol="0" anchor="t">
            <a:spAutoFit/>
          </a:bodyPr>
          <a:lstStyle/>
          <a:p>
            <a:pPr algn="l">
              <a:lnSpc>
                <a:spcPts val="3336"/>
              </a:lnSpc>
            </a:pPr>
            <a:r>
              <a:rPr lang="en-US" sz="1853" spc="-55">
                <a:solidFill>
                  <a:srgbClr val="434343"/>
                </a:solidFill>
                <a:latin typeface="JASO Sans"/>
                <a:ea typeface="JASO Sans"/>
                <a:cs typeface="JASO Sans"/>
                <a:sym typeface="JASO Sans"/>
              </a:rPr>
              <a:t>우리는 다양한 전략을 통해 2030년까지 매출을 지속적으로 상승시킬 계획입니다. 첫째, 제품 라인업을 확장하여 새로운 시장을 개척하고자 합니다.</a:t>
            </a:r>
          </a:p>
        </p:txBody>
      </p:sp>
      <p:grpSp>
        <p:nvGrpSpPr>
          <p:cNvPr id="20" name="Group 20"/>
          <p:cNvGrpSpPr/>
          <p:nvPr/>
        </p:nvGrpSpPr>
        <p:grpSpPr>
          <a:xfrm>
            <a:off x="11481587" y="6933051"/>
            <a:ext cx="5777713" cy="2315439"/>
            <a:chOff x="0" y="0"/>
            <a:chExt cx="1477499" cy="592113"/>
          </a:xfrm>
        </p:grpSpPr>
        <p:sp>
          <p:nvSpPr>
            <p:cNvPr id="21" name="Freeform 21"/>
            <p:cNvSpPr/>
            <p:nvPr/>
          </p:nvSpPr>
          <p:spPr>
            <a:xfrm>
              <a:off x="0" y="0"/>
              <a:ext cx="1477499" cy="592113"/>
            </a:xfrm>
            <a:custGeom>
              <a:avLst/>
              <a:gdLst/>
              <a:ahLst/>
              <a:cxnLst/>
              <a:rect l="l" t="t" r="r" b="b"/>
              <a:pathLst>
                <a:path w="1477499" h="592113">
                  <a:moveTo>
                    <a:pt x="0" y="0"/>
                  </a:moveTo>
                  <a:lnTo>
                    <a:pt x="1477499" y="0"/>
                  </a:lnTo>
                  <a:lnTo>
                    <a:pt x="1477499" y="592113"/>
                  </a:lnTo>
                  <a:lnTo>
                    <a:pt x="0" y="592113"/>
                  </a:lnTo>
                  <a:close/>
                </a:path>
              </a:pathLst>
            </a:custGeom>
            <a:solidFill>
              <a:srgbClr val="EDF3FB"/>
            </a:solidFill>
          </p:spPr>
          <p:txBody>
            <a:bodyPr/>
            <a:lstStyle/>
            <a:p>
              <a:endParaRPr lang="ko-KR" altLang="en-US"/>
            </a:p>
          </p:txBody>
        </p:sp>
        <p:sp>
          <p:nvSpPr>
            <p:cNvPr id="22" name="TextBox 22"/>
            <p:cNvSpPr txBox="1"/>
            <p:nvPr/>
          </p:nvSpPr>
          <p:spPr>
            <a:xfrm>
              <a:off x="0" y="-76200"/>
              <a:ext cx="1477499" cy="668313"/>
            </a:xfrm>
            <a:prstGeom prst="rect">
              <a:avLst/>
            </a:prstGeom>
          </p:spPr>
          <p:txBody>
            <a:bodyPr lIns="52320" tIns="52320" rIns="52320" bIns="52320" rtlCol="0" anchor="ctr"/>
            <a:lstStyle/>
            <a:p>
              <a:pPr marL="0" lvl="0" indent="0" algn="ctr">
                <a:lnSpc>
                  <a:spcPts val="3750"/>
                </a:lnSpc>
                <a:spcBef>
                  <a:spcPct val="0"/>
                </a:spcBef>
              </a:pPr>
              <a:endParaRPr/>
            </a:p>
          </p:txBody>
        </p:sp>
      </p:grpSp>
      <p:grpSp>
        <p:nvGrpSpPr>
          <p:cNvPr id="23" name="Group 23"/>
          <p:cNvGrpSpPr/>
          <p:nvPr/>
        </p:nvGrpSpPr>
        <p:grpSpPr>
          <a:xfrm>
            <a:off x="11481587" y="6658554"/>
            <a:ext cx="2556465" cy="548994"/>
            <a:chOff x="0" y="0"/>
            <a:chExt cx="653749" cy="140391"/>
          </a:xfrm>
        </p:grpSpPr>
        <p:sp>
          <p:nvSpPr>
            <p:cNvPr id="24" name="Freeform 24"/>
            <p:cNvSpPr/>
            <p:nvPr/>
          </p:nvSpPr>
          <p:spPr>
            <a:xfrm>
              <a:off x="0" y="0"/>
              <a:ext cx="653749" cy="140391"/>
            </a:xfrm>
            <a:custGeom>
              <a:avLst/>
              <a:gdLst/>
              <a:ahLst/>
              <a:cxnLst/>
              <a:rect l="l" t="t" r="r" b="b"/>
              <a:pathLst>
                <a:path w="653749" h="140391">
                  <a:moveTo>
                    <a:pt x="70195" y="0"/>
                  </a:moveTo>
                  <a:lnTo>
                    <a:pt x="583553" y="0"/>
                  </a:lnTo>
                  <a:cubicBezTo>
                    <a:pt x="602170" y="0"/>
                    <a:pt x="620025" y="7396"/>
                    <a:pt x="633189" y="20560"/>
                  </a:cubicBezTo>
                  <a:cubicBezTo>
                    <a:pt x="646353" y="33724"/>
                    <a:pt x="653749" y="51578"/>
                    <a:pt x="653749" y="70195"/>
                  </a:cubicBezTo>
                  <a:lnTo>
                    <a:pt x="653749" y="70195"/>
                  </a:lnTo>
                  <a:cubicBezTo>
                    <a:pt x="653749" y="88812"/>
                    <a:pt x="646353" y="106667"/>
                    <a:pt x="633189" y="119831"/>
                  </a:cubicBezTo>
                  <a:cubicBezTo>
                    <a:pt x="620025" y="132995"/>
                    <a:pt x="602170" y="140391"/>
                    <a:pt x="583553" y="140391"/>
                  </a:cubicBezTo>
                  <a:lnTo>
                    <a:pt x="70195" y="140391"/>
                  </a:lnTo>
                  <a:cubicBezTo>
                    <a:pt x="51578" y="140391"/>
                    <a:pt x="33724" y="132995"/>
                    <a:pt x="20560" y="119831"/>
                  </a:cubicBezTo>
                  <a:cubicBezTo>
                    <a:pt x="7396" y="106667"/>
                    <a:pt x="0" y="88812"/>
                    <a:pt x="0" y="70195"/>
                  </a:cubicBezTo>
                  <a:lnTo>
                    <a:pt x="0" y="70195"/>
                  </a:lnTo>
                  <a:cubicBezTo>
                    <a:pt x="0" y="51578"/>
                    <a:pt x="7396" y="33724"/>
                    <a:pt x="20560" y="20560"/>
                  </a:cubicBezTo>
                  <a:cubicBezTo>
                    <a:pt x="33724" y="7396"/>
                    <a:pt x="51578" y="0"/>
                    <a:pt x="70195" y="0"/>
                  </a:cubicBezTo>
                  <a:close/>
                </a:path>
              </a:pathLst>
            </a:custGeom>
            <a:solidFill>
              <a:srgbClr val="0066FF"/>
            </a:solidFill>
          </p:spPr>
          <p:txBody>
            <a:bodyPr/>
            <a:lstStyle/>
            <a:p>
              <a:endParaRPr lang="ko-KR" altLang="en-US"/>
            </a:p>
          </p:txBody>
        </p:sp>
        <p:sp>
          <p:nvSpPr>
            <p:cNvPr id="25" name="TextBox 25"/>
            <p:cNvSpPr txBox="1"/>
            <p:nvPr/>
          </p:nvSpPr>
          <p:spPr>
            <a:xfrm>
              <a:off x="0" y="-28575"/>
              <a:ext cx="653749" cy="168966"/>
            </a:xfrm>
            <a:prstGeom prst="rect">
              <a:avLst/>
            </a:prstGeom>
          </p:spPr>
          <p:txBody>
            <a:bodyPr lIns="52320" tIns="52320" rIns="52320" bIns="52320" rtlCol="0" anchor="ctr"/>
            <a:lstStyle/>
            <a:p>
              <a:pPr marL="0" lvl="0" indent="0" algn="ctr">
                <a:lnSpc>
                  <a:spcPts val="2660"/>
                </a:lnSpc>
              </a:pPr>
              <a:r>
                <a:rPr lang="en-US" sz="1900" b="1">
                  <a:solidFill>
                    <a:srgbClr val="FFFFFF"/>
                  </a:solidFill>
                  <a:latin typeface="JASO Sans Bold"/>
                  <a:ea typeface="JASO Sans Bold"/>
                  <a:cs typeface="JASO Sans Bold"/>
                  <a:sym typeface="JASO Sans Bold"/>
                </a:rPr>
                <a:t>지속적 성장</a:t>
              </a:r>
            </a:p>
          </p:txBody>
        </p:sp>
      </p:grpSp>
      <p:sp>
        <p:nvSpPr>
          <p:cNvPr id="26" name="TextBox 26"/>
          <p:cNvSpPr txBox="1"/>
          <p:nvPr/>
        </p:nvSpPr>
        <p:spPr>
          <a:xfrm>
            <a:off x="12086853" y="7433410"/>
            <a:ext cx="4567180" cy="1219472"/>
          </a:xfrm>
          <a:prstGeom prst="rect">
            <a:avLst/>
          </a:prstGeom>
        </p:spPr>
        <p:txBody>
          <a:bodyPr lIns="0" tIns="0" rIns="0" bIns="0" rtlCol="0" anchor="t">
            <a:spAutoFit/>
          </a:bodyPr>
          <a:lstStyle/>
          <a:p>
            <a:pPr algn="l">
              <a:lnSpc>
                <a:spcPts val="3336"/>
              </a:lnSpc>
            </a:pPr>
            <a:r>
              <a:rPr lang="en-US" sz="1853" spc="-55">
                <a:solidFill>
                  <a:srgbClr val="434343"/>
                </a:solidFill>
                <a:latin typeface="JASO Sans"/>
                <a:ea typeface="JASO Sans"/>
                <a:cs typeface="JASO Sans"/>
                <a:sym typeface="JASO Sans"/>
              </a:rPr>
              <a:t>지속적 성장을 위해 고객 만족도를 극대화하는 데 주력할 것입니다. 이를 위해 맞춤형 서비스와 제품 개선을 통해 고객 경험을 향상시킬 것입니다.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18481" y="1412643"/>
            <a:ext cx="13819856" cy="753110"/>
          </a:xfrm>
          <a:prstGeom prst="rect">
            <a:avLst/>
          </a:prstGeom>
        </p:spPr>
        <p:txBody>
          <a:bodyPr lIns="0" tIns="0" rIns="0" bIns="0" rtlCol="0" anchor="t">
            <a:spAutoFit/>
          </a:bodyPr>
          <a:lstStyle/>
          <a:p>
            <a:pPr algn="l">
              <a:lnSpc>
                <a:spcPts val="5829"/>
              </a:lnSpc>
            </a:pPr>
            <a:r>
              <a:rPr lang="en-US" sz="5299" b="1" spc="-264">
                <a:solidFill>
                  <a:srgbClr val="434343"/>
                </a:solidFill>
                <a:latin typeface="JASO Sans Bold"/>
                <a:ea typeface="JASO Sans Bold"/>
                <a:cs typeface="JASO Sans Bold"/>
                <a:sym typeface="JASO Sans Bold"/>
              </a:rPr>
              <a:t>수익성 및 비용구조</a:t>
            </a:r>
          </a:p>
        </p:txBody>
      </p:sp>
      <p:sp>
        <p:nvSpPr>
          <p:cNvPr id="4" name="Freeform 4"/>
          <p:cNvSpPr/>
          <p:nvPr/>
        </p:nvSpPr>
        <p:spPr>
          <a:xfrm>
            <a:off x="1538088" y="3119200"/>
            <a:ext cx="154218" cy="223616"/>
          </a:xfrm>
          <a:custGeom>
            <a:avLst/>
            <a:gdLst/>
            <a:ahLst/>
            <a:cxnLst/>
            <a:rect l="l" t="t" r="r" b="b"/>
            <a:pathLst>
              <a:path w="154218" h="223616">
                <a:moveTo>
                  <a:pt x="0" y="0"/>
                </a:moveTo>
                <a:lnTo>
                  <a:pt x="154218" y="0"/>
                </a:lnTo>
                <a:lnTo>
                  <a:pt x="154218" y="223616"/>
                </a:lnTo>
                <a:lnTo>
                  <a:pt x="0" y="22361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ko-KR" altLang="en-US"/>
          </a:p>
        </p:txBody>
      </p:sp>
      <p:sp>
        <p:nvSpPr>
          <p:cNvPr id="5" name="Freeform 5"/>
          <p:cNvSpPr/>
          <p:nvPr/>
        </p:nvSpPr>
        <p:spPr>
          <a:xfrm>
            <a:off x="9785162" y="3119200"/>
            <a:ext cx="154218" cy="223616"/>
          </a:xfrm>
          <a:custGeom>
            <a:avLst/>
            <a:gdLst/>
            <a:ahLst/>
            <a:cxnLst/>
            <a:rect l="l" t="t" r="r" b="b"/>
            <a:pathLst>
              <a:path w="154218" h="223616">
                <a:moveTo>
                  <a:pt x="0" y="0"/>
                </a:moveTo>
                <a:lnTo>
                  <a:pt x="154218" y="0"/>
                </a:lnTo>
                <a:lnTo>
                  <a:pt x="154218" y="223616"/>
                </a:lnTo>
                <a:lnTo>
                  <a:pt x="0" y="22361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ko-KR" altLang="en-US"/>
          </a:p>
        </p:txBody>
      </p:sp>
      <p:sp>
        <p:nvSpPr>
          <p:cNvPr id="6" name="TextBox 6"/>
          <p:cNvSpPr txBox="1"/>
          <p:nvPr/>
        </p:nvSpPr>
        <p:spPr>
          <a:xfrm>
            <a:off x="1834889" y="2968535"/>
            <a:ext cx="7177338" cy="442865"/>
          </a:xfrm>
          <a:prstGeom prst="rect">
            <a:avLst/>
          </a:prstGeom>
        </p:spPr>
        <p:txBody>
          <a:bodyPr lIns="0" tIns="0" rIns="0" bIns="0" rtlCol="0" anchor="t">
            <a:spAutoFit/>
          </a:bodyPr>
          <a:lstStyle/>
          <a:p>
            <a:pPr algn="l">
              <a:lnSpc>
                <a:spcPts val="3705"/>
              </a:lnSpc>
            </a:pPr>
            <a:r>
              <a:rPr lang="en-US" sz="2470" b="1" spc="-49">
                <a:solidFill>
                  <a:srgbClr val="434343"/>
                </a:solidFill>
                <a:latin typeface="JASO Sans Bold"/>
                <a:ea typeface="JASO Sans Bold"/>
                <a:cs typeface="JASO Sans Bold"/>
                <a:sym typeface="JASO Sans Bold"/>
              </a:rPr>
              <a:t>2029년 손익 요약</a:t>
            </a:r>
          </a:p>
        </p:txBody>
      </p:sp>
      <p:sp>
        <p:nvSpPr>
          <p:cNvPr id="7" name="TextBox 7"/>
          <p:cNvSpPr txBox="1"/>
          <p:nvPr/>
        </p:nvSpPr>
        <p:spPr>
          <a:xfrm>
            <a:off x="10081962" y="2968535"/>
            <a:ext cx="7177338" cy="442865"/>
          </a:xfrm>
          <a:prstGeom prst="rect">
            <a:avLst/>
          </a:prstGeom>
        </p:spPr>
        <p:txBody>
          <a:bodyPr lIns="0" tIns="0" rIns="0" bIns="0" rtlCol="0" anchor="t">
            <a:spAutoFit/>
          </a:bodyPr>
          <a:lstStyle/>
          <a:p>
            <a:pPr algn="l">
              <a:lnSpc>
                <a:spcPts val="3705"/>
              </a:lnSpc>
            </a:pPr>
            <a:r>
              <a:rPr lang="en-US" sz="2470" b="1" spc="-49">
                <a:solidFill>
                  <a:srgbClr val="434343"/>
                </a:solidFill>
                <a:latin typeface="JASO Sans Bold"/>
                <a:ea typeface="JASO Sans Bold"/>
                <a:cs typeface="JASO Sans Bold"/>
                <a:sym typeface="JASO Sans Bold"/>
              </a:rPr>
              <a:t>비용 구조 상세 분석</a:t>
            </a:r>
          </a:p>
        </p:txBody>
      </p:sp>
      <p:graphicFrame>
        <p:nvGraphicFramePr>
          <p:cNvPr id="8" name="Table 8"/>
          <p:cNvGraphicFramePr>
            <a:graphicFrameLocks noGrp="1"/>
          </p:cNvGraphicFramePr>
          <p:nvPr/>
        </p:nvGraphicFramePr>
        <p:xfrm>
          <a:off x="1518481" y="3716299"/>
          <a:ext cx="7493746" cy="5498771"/>
        </p:xfrm>
        <a:graphic>
          <a:graphicData uri="http://schemas.openxmlformats.org/drawingml/2006/table">
            <a:tbl>
              <a:tblPr/>
              <a:tblGrid>
                <a:gridCol w="2064066">
                  <a:extLst>
                    <a:ext uri="{9D8B030D-6E8A-4147-A177-3AD203B41FA5}">
                      <a16:colId xmlns:a16="http://schemas.microsoft.com/office/drawing/2014/main" val="20000"/>
                    </a:ext>
                  </a:extLst>
                </a:gridCol>
                <a:gridCol w="2714840">
                  <a:extLst>
                    <a:ext uri="{9D8B030D-6E8A-4147-A177-3AD203B41FA5}">
                      <a16:colId xmlns:a16="http://schemas.microsoft.com/office/drawing/2014/main" val="20001"/>
                    </a:ext>
                  </a:extLst>
                </a:gridCol>
                <a:gridCol w="2714840">
                  <a:extLst>
                    <a:ext uri="{9D8B030D-6E8A-4147-A177-3AD203B41FA5}">
                      <a16:colId xmlns:a16="http://schemas.microsoft.com/office/drawing/2014/main" val="20002"/>
                    </a:ext>
                  </a:extLst>
                </a:gridCol>
              </a:tblGrid>
              <a:tr h="669641">
                <a:tc>
                  <a:txBody>
                    <a:bodyPr/>
                    <a:lstStyle/>
                    <a:p>
                      <a:pPr algn="ctr">
                        <a:lnSpc>
                          <a:spcPts val="2449"/>
                        </a:lnSpc>
                        <a:defRPr/>
                      </a:pPr>
                      <a:r>
                        <a:rPr lang="en-US" sz="1749" b="1">
                          <a:solidFill>
                            <a:srgbClr val="FFFFFF"/>
                          </a:solidFill>
                          <a:latin typeface="JASO Sans Bold"/>
                          <a:ea typeface="JASO Sans Bold"/>
                          <a:cs typeface="JASO Sans Bold"/>
                          <a:sym typeface="JASO Sans Bold"/>
                        </a:rPr>
                        <a:t>항목</a:t>
                      </a:r>
                      <a:endParaRPr lang="en-US" sz="1100"/>
                    </a:p>
                  </a:txBody>
                  <a:tcPr marL="0" marR="0" marT="0" marB="0" anchor="ctr">
                    <a:lnL w="0" cap="flat" cmpd="sng" algn="ctr">
                      <a:solidFill>
                        <a:srgbClr val="B4B4B4"/>
                      </a:solidFill>
                      <a:prstDash val="solid"/>
                      <a:round/>
                      <a:headEnd type="none" w="med" len="med"/>
                      <a:tailEnd type="none" w="med" len="med"/>
                    </a:lnL>
                    <a:lnR w="19608" cap="flat" cmpd="sng" algn="ctr">
                      <a:solidFill>
                        <a:srgbClr val="D9D9D9"/>
                      </a:solidFill>
                      <a:prstDash val="solid"/>
                      <a:round/>
                      <a:headEnd type="none" w="med" len="med"/>
                      <a:tailEnd type="none" w="med" len="med"/>
                    </a:lnR>
                    <a:lnT w="0" cap="flat" cmpd="sng" algn="ctr">
                      <a:solidFill>
                        <a:srgbClr val="526AD9"/>
                      </a:solidFill>
                      <a:prstDash val="solid"/>
                      <a:round/>
                      <a:headEnd type="none" w="med" len="med"/>
                      <a:tailEnd type="none" w="med" len="med"/>
                    </a:lnT>
                    <a:lnB w="19608" cap="flat" cmpd="sng" algn="ctr">
                      <a:solidFill>
                        <a:srgbClr val="FFFFFF"/>
                      </a:solidFill>
                      <a:prstDash val="solid"/>
                      <a:round/>
                      <a:headEnd type="none" w="med" len="med"/>
                      <a:tailEnd type="none" w="med" len="med"/>
                    </a:lnB>
                    <a:solidFill>
                      <a:srgbClr val="86B0E7"/>
                    </a:solidFill>
                  </a:tcPr>
                </a:tc>
                <a:tc>
                  <a:txBody>
                    <a:bodyPr/>
                    <a:lstStyle/>
                    <a:p>
                      <a:pPr algn="ctr">
                        <a:lnSpc>
                          <a:spcPts val="2449"/>
                        </a:lnSpc>
                        <a:defRPr/>
                      </a:pPr>
                      <a:r>
                        <a:rPr lang="en-US" sz="1749" b="1">
                          <a:solidFill>
                            <a:srgbClr val="FFFFFF"/>
                          </a:solidFill>
                          <a:latin typeface="JASO Sans Bold"/>
                          <a:ea typeface="JASO Sans Bold"/>
                          <a:cs typeface="JASO Sans Bold"/>
                          <a:sym typeface="JASO Sans Bold"/>
                        </a:rPr>
                        <a:t>전년도 매출 추정</a:t>
                      </a:r>
                      <a:endParaRPr lang="en-US" sz="1100"/>
                    </a:p>
                  </a:txBody>
                  <a:tcPr marL="0" marR="0" marT="0" marB="0" anchor="ctr">
                    <a:lnL w="19608" cap="flat" cmpd="sng" algn="ctr">
                      <a:solidFill>
                        <a:srgbClr val="D9D9D9"/>
                      </a:solidFill>
                      <a:prstDash val="solid"/>
                      <a:round/>
                      <a:headEnd type="none" w="med" len="med"/>
                      <a:tailEnd type="none" w="med" len="med"/>
                    </a:lnL>
                    <a:lnR w="0" cap="flat" cmpd="sng" algn="ctr">
                      <a:solidFill>
                        <a:srgbClr val="B4B4B4"/>
                      </a:solidFill>
                      <a:prstDash val="solid"/>
                      <a:round/>
                      <a:headEnd type="none" w="med" len="med"/>
                      <a:tailEnd type="none" w="med" len="med"/>
                    </a:lnR>
                    <a:lnT w="0" cap="flat" cmpd="sng" algn="ctr">
                      <a:solidFill>
                        <a:srgbClr val="526AD9"/>
                      </a:solidFill>
                      <a:prstDash val="solid"/>
                      <a:round/>
                      <a:headEnd type="none" w="med" len="med"/>
                      <a:tailEnd type="none" w="med" len="med"/>
                    </a:lnT>
                    <a:lnB w="19608" cap="flat" cmpd="sng" algn="ctr">
                      <a:solidFill>
                        <a:srgbClr val="D9D9D9"/>
                      </a:solidFill>
                      <a:prstDash val="solid"/>
                      <a:round/>
                      <a:headEnd type="none" w="med" len="med"/>
                      <a:tailEnd type="none" w="med" len="med"/>
                    </a:lnB>
                    <a:solidFill>
                      <a:srgbClr val="86B0E7"/>
                    </a:solidFill>
                  </a:tcPr>
                </a:tc>
                <a:tc>
                  <a:txBody>
                    <a:bodyPr/>
                    <a:lstStyle/>
                    <a:p>
                      <a:pPr algn="ctr">
                        <a:lnSpc>
                          <a:spcPts val="2449"/>
                        </a:lnSpc>
                        <a:defRPr/>
                      </a:pPr>
                      <a:r>
                        <a:rPr lang="en-US" sz="1749" b="1">
                          <a:solidFill>
                            <a:srgbClr val="FFFFFF"/>
                          </a:solidFill>
                          <a:latin typeface="JASO Sans Bold"/>
                          <a:ea typeface="JASO Sans Bold"/>
                          <a:cs typeface="JASO Sans Bold"/>
                          <a:sym typeface="JASO Sans Bold"/>
                        </a:rPr>
                        <a:t>매출 대비</a:t>
                      </a: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0" cap="flat" cmpd="sng" algn="ctr">
                      <a:solidFill>
                        <a:srgbClr val="526AD9"/>
                      </a:solidFill>
                      <a:prstDash val="solid"/>
                      <a:round/>
                      <a:headEnd type="none" w="med" len="med"/>
                      <a:tailEnd type="none" w="med" len="med"/>
                    </a:lnT>
                    <a:lnB w="19608" cap="flat" cmpd="sng" algn="ctr">
                      <a:solidFill>
                        <a:srgbClr val="D9D9D9"/>
                      </a:solidFill>
                      <a:prstDash val="solid"/>
                      <a:round/>
                      <a:headEnd type="none" w="med" len="med"/>
                      <a:tailEnd type="none" w="med" len="med"/>
                    </a:lnB>
                    <a:solidFill>
                      <a:srgbClr val="86B0E7"/>
                    </a:solidFill>
                  </a:tcPr>
                </a:tc>
                <a:extLst>
                  <a:ext uri="{0D108BD9-81ED-4DB2-BD59-A6C34878D82A}">
                    <a16:rowId xmlns:a16="http://schemas.microsoft.com/office/drawing/2014/main" val="10000"/>
                  </a:ext>
                </a:extLst>
              </a:tr>
              <a:tr h="965826">
                <a:tc>
                  <a:txBody>
                    <a:bodyPr/>
                    <a:lstStyle/>
                    <a:p>
                      <a:pPr algn="ctr">
                        <a:lnSpc>
                          <a:spcPts val="2964"/>
                        </a:lnSpc>
                        <a:defRPr/>
                      </a:pPr>
                      <a:r>
                        <a:rPr lang="en-US" sz="1852" b="1">
                          <a:solidFill>
                            <a:srgbClr val="434343"/>
                          </a:solidFill>
                          <a:latin typeface="JASO Sans Bold"/>
                          <a:ea typeface="JASO Sans Bold"/>
                          <a:cs typeface="JASO Sans Bold"/>
                          <a:sym typeface="JASO Sans Bold"/>
                        </a:rPr>
                        <a:t>매출</a:t>
                      </a: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D9D9D9"/>
                      </a:solidFill>
                      <a:prstDash val="solid"/>
                      <a:round/>
                      <a:headEnd type="none" w="med" len="med"/>
                      <a:tailEnd type="none" w="med" len="med"/>
                    </a:lnR>
                    <a:lnT w="19608" cap="flat" cmpd="sng" algn="ctr">
                      <a:solidFill>
                        <a:srgbClr val="FFFFFF"/>
                      </a:solidFill>
                      <a:prstDash val="solid"/>
                      <a:round/>
                      <a:headEnd type="none" w="med" len="med"/>
                      <a:tailEnd type="none" w="med" len="med"/>
                    </a:lnT>
                    <a:lnB w="19608" cap="flat" cmpd="sng" algn="ctr">
                      <a:solidFill>
                        <a:srgbClr val="FFFFFF"/>
                      </a:solidFill>
                      <a:prstDash val="solid"/>
                      <a:round/>
                      <a:headEnd type="none" w="med" len="med"/>
                      <a:tailEnd type="none" w="med" len="med"/>
                    </a:lnB>
                    <a:solidFill>
                      <a:srgbClr val="EDF3FB"/>
                    </a:solidFill>
                  </a:tcPr>
                </a:tc>
                <a:tc>
                  <a:txBody>
                    <a:bodyPr/>
                    <a:lstStyle/>
                    <a:p>
                      <a:pPr algn="ctr">
                        <a:lnSpc>
                          <a:spcPts val="2964"/>
                        </a:lnSpc>
                        <a:defRPr/>
                      </a:pPr>
                      <a:r>
                        <a:rPr lang="en-US" sz="1852">
                          <a:solidFill>
                            <a:srgbClr val="434343"/>
                          </a:solidFill>
                          <a:latin typeface="JASO Sans"/>
                          <a:ea typeface="JASO Sans"/>
                          <a:cs typeface="JASO Sans"/>
                          <a:sym typeface="JASO Sans"/>
                        </a:rPr>
                        <a:t>58억 원</a:t>
                      </a:r>
                      <a:endParaRPr lang="en-US" sz="1100"/>
                    </a:p>
                  </a:txBody>
                  <a:tcPr marL="0" marR="0" marT="0" marB="0" anchor="ctr">
                    <a:lnL w="0" cap="flat" cmpd="sng" algn="ctr">
                      <a:solidFill>
                        <a:srgbClr val="D9D9D9"/>
                      </a:solidFill>
                      <a:prstDash val="solid"/>
                      <a:round/>
                      <a:headEnd type="none" w="med" len="med"/>
                      <a:tailEnd type="none" w="med" len="med"/>
                    </a:lnL>
                    <a:lnR w="19608" cap="flat" cmpd="sng" algn="ctr">
                      <a:solidFill>
                        <a:srgbClr val="D9D9D9"/>
                      </a:solidFill>
                      <a:prstDash val="solid"/>
                      <a:round/>
                      <a:headEnd type="none" w="med" len="med"/>
                      <a:tailEnd type="none" w="med" len="med"/>
                    </a:lnR>
                    <a:lnT w="19608" cap="flat" cmpd="sng" algn="ctr">
                      <a:solidFill>
                        <a:srgbClr val="D9D9D9"/>
                      </a:solidFill>
                      <a:prstDash val="solid"/>
                      <a:round/>
                      <a:headEnd type="none" w="med" len="med"/>
                      <a:tailEnd type="none" w="med" len="med"/>
                    </a:lnT>
                    <a:lnB w="19608" cap="flat" cmpd="sng" algn="ctr">
                      <a:solidFill>
                        <a:srgbClr val="D9D9D9"/>
                      </a:solidFill>
                      <a:prstDash val="solid"/>
                      <a:round/>
                      <a:headEnd type="none" w="med" len="med"/>
                      <a:tailEnd type="none" w="med" len="med"/>
                    </a:lnB>
                  </a:tcPr>
                </a:tc>
                <a:tc>
                  <a:txBody>
                    <a:bodyPr/>
                    <a:lstStyle/>
                    <a:p>
                      <a:pPr algn="ctr">
                        <a:lnSpc>
                          <a:spcPts val="2964"/>
                        </a:lnSpc>
                        <a:defRPr/>
                      </a:pPr>
                      <a:r>
                        <a:rPr lang="en-US" sz="1852">
                          <a:solidFill>
                            <a:srgbClr val="434343"/>
                          </a:solidFill>
                          <a:latin typeface="JASO Sans"/>
                          <a:ea typeface="JASO Sans"/>
                          <a:cs typeface="JASO Sans"/>
                          <a:sym typeface="JASO Sans"/>
                        </a:rPr>
                        <a:t>100%</a:t>
                      </a:r>
                      <a:endParaRPr lang="en-US" sz="1100"/>
                    </a:p>
                  </a:txBody>
                  <a:tcPr marL="0" marR="0" marT="0" marB="0" anchor="ctr">
                    <a:lnL w="19608" cap="flat" cmpd="sng" algn="ctr">
                      <a:solidFill>
                        <a:srgbClr val="D9D9D9"/>
                      </a:solidFill>
                      <a:prstDash val="solid"/>
                      <a:round/>
                      <a:headEnd type="none" w="med" len="med"/>
                      <a:tailEnd type="none" w="med" len="med"/>
                    </a:lnL>
                    <a:lnR w="0" cap="flat" cmpd="sng" algn="ctr">
                      <a:solidFill>
                        <a:srgbClr val="B4B4B4"/>
                      </a:solidFill>
                      <a:prstDash val="solid"/>
                      <a:round/>
                      <a:headEnd type="none" w="med" len="med"/>
                      <a:tailEnd type="none" w="med" len="med"/>
                    </a:lnR>
                    <a:lnT w="19608" cap="flat" cmpd="sng" algn="ctr">
                      <a:solidFill>
                        <a:srgbClr val="D9D9D9"/>
                      </a:solidFill>
                      <a:prstDash val="solid"/>
                      <a:round/>
                      <a:headEnd type="none" w="med" len="med"/>
                      <a:tailEnd type="none" w="med" len="med"/>
                    </a:lnT>
                    <a:lnB w="19608"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965826">
                <a:tc>
                  <a:txBody>
                    <a:bodyPr/>
                    <a:lstStyle/>
                    <a:p>
                      <a:pPr algn="ctr">
                        <a:lnSpc>
                          <a:spcPts val="2964"/>
                        </a:lnSpc>
                        <a:defRPr/>
                      </a:pPr>
                      <a:r>
                        <a:rPr lang="en-US" sz="1852" b="1">
                          <a:solidFill>
                            <a:srgbClr val="434343"/>
                          </a:solidFill>
                          <a:latin typeface="JASO Sans Bold"/>
                          <a:ea typeface="JASO Sans Bold"/>
                          <a:cs typeface="JASO Sans Bold"/>
                          <a:sym typeface="JASO Sans Bold"/>
                        </a:rPr>
                        <a:t>매출 원가</a:t>
                      </a: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D9D9D9"/>
                      </a:solidFill>
                      <a:prstDash val="solid"/>
                      <a:round/>
                      <a:headEnd type="none" w="med" len="med"/>
                      <a:tailEnd type="none" w="med" len="med"/>
                    </a:lnR>
                    <a:lnT w="19608" cap="flat" cmpd="sng" algn="ctr">
                      <a:solidFill>
                        <a:srgbClr val="FFFFFF"/>
                      </a:solidFill>
                      <a:prstDash val="solid"/>
                      <a:round/>
                      <a:headEnd type="none" w="med" len="med"/>
                      <a:tailEnd type="none" w="med" len="med"/>
                    </a:lnT>
                    <a:lnB w="19608" cap="flat" cmpd="sng" algn="ctr">
                      <a:solidFill>
                        <a:srgbClr val="FFFFFF"/>
                      </a:solidFill>
                      <a:prstDash val="solid"/>
                      <a:round/>
                      <a:headEnd type="none" w="med" len="med"/>
                      <a:tailEnd type="none" w="med" len="med"/>
                    </a:lnB>
                    <a:solidFill>
                      <a:srgbClr val="EDF3FB"/>
                    </a:solidFill>
                  </a:tcPr>
                </a:tc>
                <a:tc>
                  <a:txBody>
                    <a:bodyPr/>
                    <a:lstStyle/>
                    <a:p>
                      <a:pPr algn="ctr">
                        <a:lnSpc>
                          <a:spcPts val="2964"/>
                        </a:lnSpc>
                        <a:defRPr/>
                      </a:pPr>
                      <a:r>
                        <a:rPr lang="en-US" sz="1852">
                          <a:solidFill>
                            <a:srgbClr val="434343"/>
                          </a:solidFill>
                          <a:latin typeface="JASO Sans"/>
                          <a:ea typeface="JASO Sans"/>
                          <a:cs typeface="JASO Sans"/>
                          <a:sym typeface="JASO Sans"/>
                        </a:rPr>
                        <a:t>33.6억</a:t>
                      </a:r>
                      <a:endParaRPr lang="en-US" sz="1100"/>
                    </a:p>
                  </a:txBody>
                  <a:tcPr marL="0" marR="0" marT="0" marB="0" anchor="ctr">
                    <a:lnL w="0" cap="flat" cmpd="sng" algn="ctr">
                      <a:solidFill>
                        <a:srgbClr val="D9D9D9"/>
                      </a:solidFill>
                      <a:prstDash val="solid"/>
                      <a:round/>
                      <a:headEnd type="none" w="med" len="med"/>
                      <a:tailEnd type="none" w="med" len="med"/>
                    </a:lnL>
                    <a:lnR w="19608" cap="flat" cmpd="sng" algn="ctr">
                      <a:solidFill>
                        <a:srgbClr val="D9D9D9"/>
                      </a:solidFill>
                      <a:prstDash val="solid"/>
                      <a:round/>
                      <a:headEnd type="none" w="med" len="med"/>
                      <a:tailEnd type="none" w="med" len="med"/>
                    </a:lnR>
                    <a:lnT w="19608" cap="flat" cmpd="sng" algn="ctr">
                      <a:solidFill>
                        <a:srgbClr val="D9D9D9"/>
                      </a:solidFill>
                      <a:prstDash val="solid"/>
                      <a:round/>
                      <a:headEnd type="none" w="med" len="med"/>
                      <a:tailEnd type="none" w="med" len="med"/>
                    </a:lnT>
                    <a:lnB w="19608" cap="flat" cmpd="sng" algn="ctr">
                      <a:solidFill>
                        <a:srgbClr val="D9D9D9"/>
                      </a:solidFill>
                      <a:prstDash val="solid"/>
                      <a:round/>
                      <a:headEnd type="none" w="med" len="med"/>
                      <a:tailEnd type="none" w="med" len="med"/>
                    </a:lnB>
                  </a:tcPr>
                </a:tc>
                <a:tc>
                  <a:txBody>
                    <a:bodyPr/>
                    <a:lstStyle/>
                    <a:p>
                      <a:pPr algn="ctr">
                        <a:lnSpc>
                          <a:spcPts val="2964"/>
                        </a:lnSpc>
                        <a:defRPr/>
                      </a:pPr>
                      <a:r>
                        <a:rPr lang="en-US" sz="1852">
                          <a:solidFill>
                            <a:srgbClr val="434343"/>
                          </a:solidFill>
                          <a:latin typeface="JASO Sans"/>
                          <a:ea typeface="JASO Sans"/>
                          <a:cs typeface="JASO Sans"/>
                          <a:sym typeface="JASO Sans"/>
                        </a:rPr>
                        <a:t>58%</a:t>
                      </a:r>
                      <a:endParaRPr lang="en-US" sz="1100"/>
                    </a:p>
                  </a:txBody>
                  <a:tcPr marL="0" marR="0" marT="0" marB="0" anchor="ctr">
                    <a:lnL w="19608" cap="flat" cmpd="sng" algn="ctr">
                      <a:solidFill>
                        <a:srgbClr val="D9D9D9"/>
                      </a:solidFill>
                      <a:prstDash val="solid"/>
                      <a:round/>
                      <a:headEnd type="none" w="med" len="med"/>
                      <a:tailEnd type="none" w="med" len="med"/>
                    </a:lnL>
                    <a:lnR w="0" cap="flat" cmpd="sng" algn="ctr">
                      <a:solidFill>
                        <a:srgbClr val="B4B4B4"/>
                      </a:solidFill>
                      <a:prstDash val="solid"/>
                      <a:round/>
                      <a:headEnd type="none" w="med" len="med"/>
                      <a:tailEnd type="none" w="med" len="med"/>
                    </a:lnR>
                    <a:lnT w="19608" cap="flat" cmpd="sng" algn="ctr">
                      <a:solidFill>
                        <a:srgbClr val="D9D9D9"/>
                      </a:solidFill>
                      <a:prstDash val="solid"/>
                      <a:round/>
                      <a:headEnd type="none" w="med" len="med"/>
                      <a:tailEnd type="none" w="med" len="med"/>
                    </a:lnT>
                    <a:lnB w="19608"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965826">
                <a:tc>
                  <a:txBody>
                    <a:bodyPr/>
                    <a:lstStyle/>
                    <a:p>
                      <a:pPr algn="ctr">
                        <a:lnSpc>
                          <a:spcPts val="2964"/>
                        </a:lnSpc>
                        <a:defRPr/>
                      </a:pPr>
                      <a:r>
                        <a:rPr lang="en-US" sz="1852" b="1">
                          <a:solidFill>
                            <a:srgbClr val="434343"/>
                          </a:solidFill>
                          <a:latin typeface="JASO Sans Bold"/>
                          <a:ea typeface="JASO Sans Bold"/>
                          <a:cs typeface="JASO Sans Bold"/>
                          <a:sym typeface="JASO Sans Bold"/>
                        </a:rPr>
                        <a:t>매출 총이익</a:t>
                      </a: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D9D9D9"/>
                      </a:solidFill>
                      <a:prstDash val="solid"/>
                      <a:round/>
                      <a:headEnd type="none" w="med" len="med"/>
                      <a:tailEnd type="none" w="med" len="med"/>
                    </a:lnR>
                    <a:lnT w="19608" cap="flat" cmpd="sng" algn="ctr">
                      <a:solidFill>
                        <a:srgbClr val="FFFFFF"/>
                      </a:solidFill>
                      <a:prstDash val="solid"/>
                      <a:round/>
                      <a:headEnd type="none" w="med" len="med"/>
                      <a:tailEnd type="none" w="med" len="med"/>
                    </a:lnT>
                    <a:lnB w="19608" cap="flat" cmpd="sng" algn="ctr">
                      <a:solidFill>
                        <a:srgbClr val="D9D9D9"/>
                      </a:solidFill>
                      <a:prstDash val="solid"/>
                      <a:round/>
                      <a:headEnd type="none" w="med" len="med"/>
                      <a:tailEnd type="none" w="med" len="med"/>
                    </a:lnB>
                    <a:solidFill>
                      <a:srgbClr val="EDF3FB"/>
                    </a:solidFill>
                  </a:tcPr>
                </a:tc>
                <a:tc>
                  <a:txBody>
                    <a:bodyPr/>
                    <a:lstStyle/>
                    <a:p>
                      <a:pPr algn="ctr">
                        <a:lnSpc>
                          <a:spcPts val="2964"/>
                        </a:lnSpc>
                        <a:defRPr/>
                      </a:pPr>
                      <a:r>
                        <a:rPr lang="en-US" sz="1852">
                          <a:solidFill>
                            <a:srgbClr val="434343"/>
                          </a:solidFill>
                          <a:latin typeface="JASO Sans"/>
                          <a:ea typeface="JASO Sans"/>
                          <a:cs typeface="JASO Sans"/>
                          <a:sym typeface="JASO Sans"/>
                        </a:rPr>
                        <a:t>24.4억</a:t>
                      </a:r>
                      <a:endParaRPr lang="en-US" sz="1100"/>
                    </a:p>
                  </a:txBody>
                  <a:tcPr marL="0" marR="0" marT="0" marB="0" anchor="ctr">
                    <a:lnL w="0" cap="flat" cmpd="sng" algn="ctr">
                      <a:solidFill>
                        <a:srgbClr val="D9D9D9"/>
                      </a:solidFill>
                      <a:prstDash val="solid"/>
                      <a:round/>
                      <a:headEnd type="none" w="med" len="med"/>
                      <a:tailEnd type="none" w="med" len="med"/>
                    </a:lnL>
                    <a:lnR w="19608" cap="flat" cmpd="sng" algn="ctr">
                      <a:solidFill>
                        <a:srgbClr val="D9D9D9"/>
                      </a:solidFill>
                      <a:prstDash val="solid"/>
                      <a:round/>
                      <a:headEnd type="none" w="med" len="med"/>
                      <a:tailEnd type="none" w="med" len="med"/>
                    </a:lnR>
                    <a:lnT w="19608" cap="flat" cmpd="sng" algn="ctr">
                      <a:solidFill>
                        <a:srgbClr val="D9D9D9"/>
                      </a:solidFill>
                      <a:prstDash val="solid"/>
                      <a:round/>
                      <a:headEnd type="none" w="med" len="med"/>
                      <a:tailEnd type="none" w="med" len="med"/>
                    </a:lnT>
                    <a:lnB w="19608" cap="flat" cmpd="sng" algn="ctr">
                      <a:solidFill>
                        <a:srgbClr val="D9D9D9"/>
                      </a:solidFill>
                      <a:prstDash val="solid"/>
                      <a:round/>
                      <a:headEnd type="none" w="med" len="med"/>
                      <a:tailEnd type="none" w="med" len="med"/>
                    </a:lnB>
                  </a:tcPr>
                </a:tc>
                <a:tc>
                  <a:txBody>
                    <a:bodyPr/>
                    <a:lstStyle/>
                    <a:p>
                      <a:pPr algn="ctr">
                        <a:lnSpc>
                          <a:spcPts val="2964"/>
                        </a:lnSpc>
                        <a:defRPr/>
                      </a:pPr>
                      <a:r>
                        <a:rPr lang="en-US" sz="1852">
                          <a:solidFill>
                            <a:srgbClr val="434343"/>
                          </a:solidFill>
                          <a:latin typeface="JASO Sans"/>
                          <a:ea typeface="JASO Sans"/>
                          <a:cs typeface="JASO Sans"/>
                          <a:sym typeface="JASO Sans"/>
                        </a:rPr>
                        <a:t>42%</a:t>
                      </a:r>
                      <a:endParaRPr lang="en-US" sz="1100"/>
                    </a:p>
                  </a:txBody>
                  <a:tcPr marL="0" marR="0" marT="0" marB="0" anchor="ctr">
                    <a:lnL w="19608" cap="flat" cmpd="sng" algn="ctr">
                      <a:solidFill>
                        <a:srgbClr val="D9D9D9"/>
                      </a:solidFill>
                      <a:prstDash val="solid"/>
                      <a:round/>
                      <a:headEnd type="none" w="med" len="med"/>
                      <a:tailEnd type="none" w="med" len="med"/>
                    </a:lnL>
                    <a:lnR w="0" cap="flat" cmpd="sng" algn="ctr">
                      <a:solidFill>
                        <a:srgbClr val="B4B4B4"/>
                      </a:solidFill>
                      <a:prstDash val="solid"/>
                      <a:round/>
                      <a:headEnd type="none" w="med" len="med"/>
                      <a:tailEnd type="none" w="med" len="med"/>
                    </a:lnR>
                    <a:lnT w="19608" cap="flat" cmpd="sng" algn="ctr">
                      <a:solidFill>
                        <a:srgbClr val="D9D9D9"/>
                      </a:solidFill>
                      <a:prstDash val="solid"/>
                      <a:round/>
                      <a:headEnd type="none" w="med" len="med"/>
                      <a:tailEnd type="none" w="med" len="med"/>
                    </a:lnT>
                    <a:lnB w="19608"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965826">
                <a:tc>
                  <a:txBody>
                    <a:bodyPr/>
                    <a:lstStyle/>
                    <a:p>
                      <a:pPr algn="ctr">
                        <a:lnSpc>
                          <a:spcPts val="2964"/>
                        </a:lnSpc>
                        <a:defRPr/>
                      </a:pPr>
                      <a:r>
                        <a:rPr lang="en-US" sz="1852" b="1">
                          <a:solidFill>
                            <a:srgbClr val="434343"/>
                          </a:solidFill>
                          <a:latin typeface="JASO Sans Bold"/>
                          <a:ea typeface="JASO Sans Bold"/>
                          <a:cs typeface="JASO Sans Bold"/>
                          <a:sym typeface="JASO Sans Bold"/>
                        </a:rPr>
                        <a:t>판매 관리비</a:t>
                      </a: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D9D9D9"/>
                      </a:solidFill>
                      <a:prstDash val="solid"/>
                      <a:round/>
                      <a:headEnd type="none" w="med" len="med"/>
                      <a:tailEnd type="none" w="med" len="med"/>
                    </a:lnR>
                    <a:lnT w="19608" cap="flat" cmpd="sng" algn="ctr">
                      <a:solidFill>
                        <a:srgbClr val="D9D9D9"/>
                      </a:solidFill>
                      <a:prstDash val="solid"/>
                      <a:round/>
                      <a:headEnd type="none" w="med" len="med"/>
                      <a:tailEnd type="none" w="med" len="med"/>
                    </a:lnT>
                    <a:lnB w="19608" cap="flat" cmpd="sng" algn="ctr">
                      <a:solidFill>
                        <a:srgbClr val="D9D9D9"/>
                      </a:solidFill>
                      <a:prstDash val="solid"/>
                      <a:round/>
                      <a:headEnd type="none" w="med" len="med"/>
                      <a:tailEnd type="none" w="med" len="med"/>
                    </a:lnB>
                    <a:solidFill>
                      <a:srgbClr val="EDF3FB"/>
                    </a:solidFill>
                  </a:tcPr>
                </a:tc>
                <a:tc>
                  <a:txBody>
                    <a:bodyPr/>
                    <a:lstStyle/>
                    <a:p>
                      <a:pPr algn="ctr">
                        <a:lnSpc>
                          <a:spcPts val="2964"/>
                        </a:lnSpc>
                        <a:defRPr/>
                      </a:pPr>
                      <a:r>
                        <a:rPr lang="en-US" sz="1852">
                          <a:solidFill>
                            <a:srgbClr val="434343"/>
                          </a:solidFill>
                          <a:latin typeface="JASO Sans"/>
                          <a:ea typeface="JASO Sans"/>
                          <a:cs typeface="JASO Sans"/>
                          <a:sym typeface="JASO Sans"/>
                        </a:rPr>
                        <a:t>17.4억</a:t>
                      </a:r>
                      <a:endParaRPr lang="en-US" sz="1100"/>
                    </a:p>
                  </a:txBody>
                  <a:tcPr marL="0" marR="0" marT="0" marB="0" anchor="ctr">
                    <a:lnL w="0" cap="flat" cmpd="sng" algn="ctr">
                      <a:solidFill>
                        <a:srgbClr val="D9D9D9"/>
                      </a:solidFill>
                      <a:prstDash val="solid"/>
                      <a:round/>
                      <a:headEnd type="none" w="med" len="med"/>
                      <a:tailEnd type="none" w="med" len="med"/>
                    </a:lnL>
                    <a:lnR w="19608" cap="flat" cmpd="sng" algn="ctr">
                      <a:solidFill>
                        <a:srgbClr val="D9D9D9"/>
                      </a:solidFill>
                      <a:prstDash val="solid"/>
                      <a:round/>
                      <a:headEnd type="none" w="med" len="med"/>
                      <a:tailEnd type="none" w="med" len="med"/>
                    </a:lnR>
                    <a:lnT w="19608" cap="flat" cmpd="sng" algn="ctr">
                      <a:solidFill>
                        <a:srgbClr val="D9D9D9"/>
                      </a:solidFill>
                      <a:prstDash val="solid"/>
                      <a:round/>
                      <a:headEnd type="none" w="med" len="med"/>
                      <a:tailEnd type="none" w="med" len="med"/>
                    </a:lnT>
                    <a:lnB w="19608" cap="flat" cmpd="sng" algn="ctr">
                      <a:solidFill>
                        <a:srgbClr val="D9D9D9"/>
                      </a:solidFill>
                      <a:prstDash val="solid"/>
                      <a:round/>
                      <a:headEnd type="none" w="med" len="med"/>
                      <a:tailEnd type="none" w="med" len="med"/>
                    </a:lnB>
                  </a:tcPr>
                </a:tc>
                <a:tc>
                  <a:txBody>
                    <a:bodyPr/>
                    <a:lstStyle/>
                    <a:p>
                      <a:pPr algn="ctr">
                        <a:lnSpc>
                          <a:spcPts val="2964"/>
                        </a:lnSpc>
                        <a:defRPr/>
                      </a:pPr>
                      <a:r>
                        <a:rPr lang="en-US" sz="1852">
                          <a:solidFill>
                            <a:srgbClr val="434343"/>
                          </a:solidFill>
                          <a:latin typeface="JASO Sans"/>
                          <a:ea typeface="JASO Sans"/>
                          <a:cs typeface="JASO Sans"/>
                          <a:sym typeface="JASO Sans"/>
                        </a:rPr>
                        <a:t>30%</a:t>
                      </a:r>
                      <a:endParaRPr lang="en-US" sz="1100"/>
                    </a:p>
                  </a:txBody>
                  <a:tcPr marL="0" marR="0" marT="0" marB="0" anchor="ctr">
                    <a:lnL w="19608" cap="flat" cmpd="sng" algn="ctr">
                      <a:solidFill>
                        <a:srgbClr val="D9D9D9"/>
                      </a:solidFill>
                      <a:prstDash val="solid"/>
                      <a:round/>
                      <a:headEnd type="none" w="med" len="med"/>
                      <a:tailEnd type="none" w="med" len="med"/>
                    </a:lnL>
                    <a:lnR w="0" cap="flat" cmpd="sng" algn="ctr">
                      <a:solidFill>
                        <a:srgbClr val="B4B4B4"/>
                      </a:solidFill>
                      <a:prstDash val="solid"/>
                      <a:round/>
                      <a:headEnd type="none" w="med" len="med"/>
                      <a:tailEnd type="none" w="med" len="med"/>
                    </a:lnR>
                    <a:lnT w="19608" cap="flat" cmpd="sng" algn="ctr">
                      <a:solidFill>
                        <a:srgbClr val="D9D9D9"/>
                      </a:solidFill>
                      <a:prstDash val="solid"/>
                      <a:round/>
                      <a:headEnd type="none" w="med" len="med"/>
                      <a:tailEnd type="none" w="med" len="med"/>
                    </a:lnT>
                    <a:lnB w="19608"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r h="965826">
                <a:tc>
                  <a:txBody>
                    <a:bodyPr/>
                    <a:lstStyle/>
                    <a:p>
                      <a:pPr algn="ctr">
                        <a:lnSpc>
                          <a:spcPts val="2964"/>
                        </a:lnSpc>
                        <a:defRPr/>
                      </a:pPr>
                      <a:r>
                        <a:rPr lang="en-US" sz="1852" b="1">
                          <a:solidFill>
                            <a:srgbClr val="434343"/>
                          </a:solidFill>
                          <a:latin typeface="JASO Sans Bold"/>
                          <a:ea typeface="JASO Sans Bold"/>
                          <a:cs typeface="JASO Sans Bold"/>
                          <a:sym typeface="JASO Sans Bold"/>
                        </a:rPr>
                        <a:t>영업 이익</a:t>
                      </a: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D9D9D9"/>
                      </a:solidFill>
                      <a:prstDash val="solid"/>
                      <a:round/>
                      <a:headEnd type="none" w="med" len="med"/>
                      <a:tailEnd type="none" w="med" len="med"/>
                    </a:lnR>
                    <a:lnT w="19608" cap="flat" cmpd="sng" algn="ctr">
                      <a:solidFill>
                        <a:srgbClr val="D9D9D9"/>
                      </a:solidFill>
                      <a:prstDash val="solid"/>
                      <a:round/>
                      <a:headEnd type="none" w="med" len="med"/>
                      <a:tailEnd type="none" w="med" len="med"/>
                    </a:lnT>
                    <a:lnB w="19608" cap="flat" cmpd="sng" algn="ctr">
                      <a:solidFill>
                        <a:srgbClr val="D9D9D9"/>
                      </a:solidFill>
                      <a:prstDash val="solid"/>
                      <a:round/>
                      <a:headEnd type="none" w="med" len="med"/>
                      <a:tailEnd type="none" w="med" len="med"/>
                    </a:lnB>
                    <a:solidFill>
                      <a:srgbClr val="EDF3FB"/>
                    </a:solidFill>
                  </a:tcPr>
                </a:tc>
                <a:tc>
                  <a:txBody>
                    <a:bodyPr/>
                    <a:lstStyle/>
                    <a:p>
                      <a:pPr algn="ctr">
                        <a:lnSpc>
                          <a:spcPts val="2964"/>
                        </a:lnSpc>
                        <a:defRPr/>
                      </a:pPr>
                      <a:r>
                        <a:rPr lang="en-US" sz="1852">
                          <a:solidFill>
                            <a:srgbClr val="434343"/>
                          </a:solidFill>
                          <a:latin typeface="JASO Sans"/>
                          <a:ea typeface="JASO Sans"/>
                          <a:cs typeface="JASO Sans"/>
                          <a:sym typeface="JASO Sans"/>
                        </a:rPr>
                        <a:t>7.0억</a:t>
                      </a:r>
                      <a:endParaRPr lang="en-US" sz="1100"/>
                    </a:p>
                  </a:txBody>
                  <a:tcPr marL="0" marR="0" marT="0" marB="0" anchor="ctr">
                    <a:lnL w="0" cap="flat" cmpd="sng" algn="ctr">
                      <a:solidFill>
                        <a:srgbClr val="D9D9D9"/>
                      </a:solidFill>
                      <a:prstDash val="solid"/>
                      <a:round/>
                      <a:headEnd type="none" w="med" len="med"/>
                      <a:tailEnd type="none" w="med" len="med"/>
                    </a:lnL>
                    <a:lnR w="19608" cap="flat" cmpd="sng" algn="ctr">
                      <a:solidFill>
                        <a:srgbClr val="D9D9D9"/>
                      </a:solidFill>
                      <a:prstDash val="solid"/>
                      <a:round/>
                      <a:headEnd type="none" w="med" len="med"/>
                      <a:tailEnd type="none" w="med" len="med"/>
                    </a:lnR>
                    <a:lnT w="19608" cap="flat" cmpd="sng" algn="ctr">
                      <a:solidFill>
                        <a:srgbClr val="D9D9D9"/>
                      </a:solidFill>
                      <a:prstDash val="solid"/>
                      <a:round/>
                      <a:headEnd type="none" w="med" len="med"/>
                      <a:tailEnd type="none" w="med" len="med"/>
                    </a:lnT>
                    <a:lnB w="19608" cap="flat" cmpd="sng" algn="ctr">
                      <a:solidFill>
                        <a:srgbClr val="D9D9D9"/>
                      </a:solidFill>
                      <a:prstDash val="solid"/>
                      <a:round/>
                      <a:headEnd type="none" w="med" len="med"/>
                      <a:tailEnd type="none" w="med" len="med"/>
                    </a:lnB>
                    <a:solidFill>
                      <a:srgbClr val="F9F9F9"/>
                    </a:solidFill>
                  </a:tcPr>
                </a:tc>
                <a:tc>
                  <a:txBody>
                    <a:bodyPr/>
                    <a:lstStyle/>
                    <a:p>
                      <a:pPr algn="ctr">
                        <a:lnSpc>
                          <a:spcPts val="2964"/>
                        </a:lnSpc>
                        <a:defRPr/>
                      </a:pPr>
                      <a:r>
                        <a:rPr lang="en-US" sz="1852">
                          <a:solidFill>
                            <a:srgbClr val="434343"/>
                          </a:solidFill>
                          <a:latin typeface="JASO Sans"/>
                          <a:ea typeface="JASO Sans"/>
                          <a:cs typeface="JASO Sans"/>
                          <a:sym typeface="JASO Sans"/>
                        </a:rPr>
                        <a:t>12%</a:t>
                      </a:r>
                      <a:endParaRPr lang="en-US" sz="1100"/>
                    </a:p>
                  </a:txBody>
                  <a:tcPr marL="0" marR="0" marT="0" marB="0" anchor="ctr">
                    <a:lnL w="19608" cap="flat" cmpd="sng" algn="ctr">
                      <a:solidFill>
                        <a:srgbClr val="D9D9D9"/>
                      </a:solidFill>
                      <a:prstDash val="solid"/>
                      <a:round/>
                      <a:headEnd type="none" w="med" len="med"/>
                      <a:tailEnd type="none" w="med" len="med"/>
                    </a:lnL>
                    <a:lnR w="0" cap="flat" cmpd="sng" algn="ctr">
                      <a:solidFill>
                        <a:srgbClr val="B4B4B4"/>
                      </a:solidFill>
                      <a:prstDash val="solid"/>
                      <a:round/>
                      <a:headEnd type="none" w="med" len="med"/>
                      <a:tailEnd type="none" w="med" len="med"/>
                    </a:lnR>
                    <a:lnT w="19608" cap="flat" cmpd="sng" algn="ctr">
                      <a:solidFill>
                        <a:srgbClr val="D9D9D9"/>
                      </a:solidFill>
                      <a:prstDash val="solid"/>
                      <a:round/>
                      <a:headEnd type="none" w="med" len="med"/>
                      <a:tailEnd type="none" w="med" len="med"/>
                    </a:lnT>
                    <a:lnB w="19608" cap="flat" cmpd="sng" algn="ctr">
                      <a:solidFill>
                        <a:srgbClr val="D9D9D9"/>
                      </a:solidFill>
                      <a:prstDash val="solid"/>
                      <a:round/>
                      <a:headEnd type="none" w="med" len="med"/>
                      <a:tailEnd type="none" w="med" len="med"/>
                    </a:lnB>
                    <a:solidFill>
                      <a:srgbClr val="F9F9F9"/>
                    </a:solidFill>
                  </a:tcPr>
                </a:tc>
                <a:extLst>
                  <a:ext uri="{0D108BD9-81ED-4DB2-BD59-A6C34878D82A}">
                    <a16:rowId xmlns:a16="http://schemas.microsoft.com/office/drawing/2014/main" val="10005"/>
                  </a:ext>
                </a:extLst>
              </a:tr>
            </a:tbl>
          </a:graphicData>
        </a:graphic>
      </p:graphicFrame>
      <p:graphicFrame>
        <p:nvGraphicFramePr>
          <p:cNvPr id="9" name="Table 9"/>
          <p:cNvGraphicFramePr>
            <a:graphicFrameLocks noGrp="1"/>
          </p:cNvGraphicFramePr>
          <p:nvPr/>
        </p:nvGraphicFramePr>
        <p:xfrm>
          <a:off x="9765554" y="3716299"/>
          <a:ext cx="7493746" cy="5498771"/>
        </p:xfrm>
        <a:graphic>
          <a:graphicData uri="http://schemas.openxmlformats.org/drawingml/2006/table">
            <a:tbl>
              <a:tblPr/>
              <a:tblGrid>
                <a:gridCol w="2064066">
                  <a:extLst>
                    <a:ext uri="{9D8B030D-6E8A-4147-A177-3AD203B41FA5}">
                      <a16:colId xmlns:a16="http://schemas.microsoft.com/office/drawing/2014/main" val="20000"/>
                    </a:ext>
                  </a:extLst>
                </a:gridCol>
                <a:gridCol w="2142006">
                  <a:extLst>
                    <a:ext uri="{9D8B030D-6E8A-4147-A177-3AD203B41FA5}">
                      <a16:colId xmlns:a16="http://schemas.microsoft.com/office/drawing/2014/main" val="20001"/>
                    </a:ext>
                  </a:extLst>
                </a:gridCol>
                <a:gridCol w="3287674">
                  <a:extLst>
                    <a:ext uri="{9D8B030D-6E8A-4147-A177-3AD203B41FA5}">
                      <a16:colId xmlns:a16="http://schemas.microsoft.com/office/drawing/2014/main" val="20002"/>
                    </a:ext>
                  </a:extLst>
                </a:gridCol>
              </a:tblGrid>
              <a:tr h="669641">
                <a:tc>
                  <a:txBody>
                    <a:bodyPr/>
                    <a:lstStyle/>
                    <a:p>
                      <a:pPr algn="ctr">
                        <a:lnSpc>
                          <a:spcPts val="2449"/>
                        </a:lnSpc>
                        <a:defRPr/>
                      </a:pPr>
                      <a:r>
                        <a:rPr lang="en-US" sz="1749" b="1">
                          <a:solidFill>
                            <a:srgbClr val="FFFFFF"/>
                          </a:solidFill>
                          <a:latin typeface="JASO Sans Bold"/>
                          <a:ea typeface="JASO Sans Bold"/>
                          <a:cs typeface="JASO Sans Bold"/>
                          <a:sym typeface="JASO Sans Bold"/>
                        </a:rPr>
                        <a:t>비용 항목</a:t>
                      </a:r>
                      <a:endParaRPr lang="en-US" sz="1100"/>
                    </a:p>
                  </a:txBody>
                  <a:tcPr marL="0" marR="0" marT="0" marB="0" anchor="ctr">
                    <a:lnL w="0" cap="flat" cmpd="sng" algn="ctr">
                      <a:solidFill>
                        <a:srgbClr val="B4B4B4"/>
                      </a:solidFill>
                      <a:prstDash val="solid"/>
                      <a:round/>
                      <a:headEnd type="none" w="med" len="med"/>
                      <a:tailEnd type="none" w="med" len="med"/>
                    </a:lnL>
                    <a:lnR w="19608" cap="flat" cmpd="sng" algn="ctr">
                      <a:solidFill>
                        <a:srgbClr val="D9D9D9"/>
                      </a:solidFill>
                      <a:prstDash val="solid"/>
                      <a:round/>
                      <a:headEnd type="none" w="med" len="med"/>
                      <a:tailEnd type="none" w="med" len="med"/>
                    </a:lnR>
                    <a:lnT w="0" cap="flat" cmpd="sng" algn="ctr">
                      <a:solidFill>
                        <a:srgbClr val="526AD9"/>
                      </a:solidFill>
                      <a:prstDash val="solid"/>
                      <a:round/>
                      <a:headEnd type="none" w="med" len="med"/>
                      <a:tailEnd type="none" w="med" len="med"/>
                    </a:lnT>
                    <a:lnB w="19608" cap="flat" cmpd="sng" algn="ctr">
                      <a:solidFill>
                        <a:srgbClr val="FFFFFF"/>
                      </a:solidFill>
                      <a:prstDash val="solid"/>
                      <a:round/>
                      <a:headEnd type="none" w="med" len="med"/>
                      <a:tailEnd type="none" w="med" len="med"/>
                    </a:lnB>
                    <a:solidFill>
                      <a:srgbClr val="86B0E7"/>
                    </a:solidFill>
                  </a:tcPr>
                </a:tc>
                <a:tc>
                  <a:txBody>
                    <a:bodyPr/>
                    <a:lstStyle/>
                    <a:p>
                      <a:pPr algn="ctr">
                        <a:lnSpc>
                          <a:spcPts val="2449"/>
                        </a:lnSpc>
                        <a:defRPr/>
                      </a:pPr>
                      <a:r>
                        <a:rPr lang="en-US" sz="1749" b="1">
                          <a:solidFill>
                            <a:srgbClr val="FFFFFF"/>
                          </a:solidFill>
                          <a:latin typeface="JASO Sans Bold"/>
                          <a:ea typeface="JASO Sans Bold"/>
                          <a:cs typeface="JASO Sans Bold"/>
                          <a:sym typeface="JASO Sans Bold"/>
                        </a:rPr>
                        <a:t>전년도</a:t>
                      </a:r>
                      <a:endParaRPr lang="en-US" sz="1100"/>
                    </a:p>
                  </a:txBody>
                  <a:tcPr marL="0" marR="0" marT="0" marB="0" anchor="ctr">
                    <a:lnL w="19608" cap="flat" cmpd="sng" algn="ctr">
                      <a:solidFill>
                        <a:srgbClr val="D9D9D9"/>
                      </a:solidFill>
                      <a:prstDash val="solid"/>
                      <a:round/>
                      <a:headEnd type="none" w="med" len="med"/>
                      <a:tailEnd type="none" w="med" len="med"/>
                    </a:lnL>
                    <a:lnR w="0" cap="flat" cmpd="sng" algn="ctr">
                      <a:solidFill>
                        <a:srgbClr val="B4B4B4"/>
                      </a:solidFill>
                      <a:prstDash val="solid"/>
                      <a:round/>
                      <a:headEnd type="none" w="med" len="med"/>
                      <a:tailEnd type="none" w="med" len="med"/>
                    </a:lnR>
                    <a:lnT w="0" cap="flat" cmpd="sng" algn="ctr">
                      <a:solidFill>
                        <a:srgbClr val="526AD9"/>
                      </a:solidFill>
                      <a:prstDash val="solid"/>
                      <a:round/>
                      <a:headEnd type="none" w="med" len="med"/>
                      <a:tailEnd type="none" w="med" len="med"/>
                    </a:lnT>
                    <a:lnB w="19608" cap="flat" cmpd="sng" algn="ctr">
                      <a:solidFill>
                        <a:srgbClr val="D9D9D9"/>
                      </a:solidFill>
                      <a:prstDash val="solid"/>
                      <a:round/>
                      <a:headEnd type="none" w="med" len="med"/>
                      <a:tailEnd type="none" w="med" len="med"/>
                    </a:lnB>
                    <a:solidFill>
                      <a:srgbClr val="86B0E7"/>
                    </a:solidFill>
                  </a:tcPr>
                </a:tc>
                <a:tc>
                  <a:txBody>
                    <a:bodyPr/>
                    <a:lstStyle/>
                    <a:p>
                      <a:pPr algn="ctr">
                        <a:lnSpc>
                          <a:spcPts val="2449"/>
                        </a:lnSpc>
                        <a:defRPr/>
                      </a:pPr>
                      <a:r>
                        <a:rPr lang="en-US" sz="1749" b="1">
                          <a:solidFill>
                            <a:srgbClr val="FFFFFF"/>
                          </a:solidFill>
                          <a:latin typeface="JASO Sans Bold"/>
                          <a:ea typeface="JASO Sans Bold"/>
                          <a:cs typeface="JASO Sans Bold"/>
                          <a:sym typeface="JASO Sans Bold"/>
                        </a:rPr>
                        <a:t>금년도 전략</a:t>
                      </a: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0" cap="flat" cmpd="sng" algn="ctr">
                      <a:solidFill>
                        <a:srgbClr val="526AD9"/>
                      </a:solidFill>
                      <a:prstDash val="solid"/>
                      <a:round/>
                      <a:headEnd type="none" w="med" len="med"/>
                      <a:tailEnd type="none" w="med" len="med"/>
                    </a:lnT>
                    <a:lnB w="19608" cap="flat" cmpd="sng" algn="ctr">
                      <a:solidFill>
                        <a:srgbClr val="D9D9D9"/>
                      </a:solidFill>
                      <a:prstDash val="solid"/>
                      <a:round/>
                      <a:headEnd type="none" w="med" len="med"/>
                      <a:tailEnd type="none" w="med" len="med"/>
                    </a:lnB>
                    <a:solidFill>
                      <a:srgbClr val="86B0E7"/>
                    </a:solidFill>
                  </a:tcPr>
                </a:tc>
                <a:extLst>
                  <a:ext uri="{0D108BD9-81ED-4DB2-BD59-A6C34878D82A}">
                    <a16:rowId xmlns:a16="http://schemas.microsoft.com/office/drawing/2014/main" val="10000"/>
                  </a:ext>
                </a:extLst>
              </a:tr>
              <a:tr h="965826">
                <a:tc>
                  <a:txBody>
                    <a:bodyPr/>
                    <a:lstStyle/>
                    <a:p>
                      <a:pPr algn="ctr">
                        <a:lnSpc>
                          <a:spcPts val="2964"/>
                        </a:lnSpc>
                        <a:defRPr/>
                      </a:pPr>
                      <a:r>
                        <a:rPr lang="en-US" sz="1852" b="1">
                          <a:solidFill>
                            <a:srgbClr val="434343"/>
                          </a:solidFill>
                          <a:latin typeface="JASO Sans Bold"/>
                          <a:ea typeface="JASO Sans Bold"/>
                          <a:cs typeface="JASO Sans Bold"/>
                          <a:sym typeface="JASO Sans Bold"/>
                        </a:rPr>
                        <a:t>인건비</a:t>
                      </a: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D9D9D9"/>
                      </a:solidFill>
                      <a:prstDash val="solid"/>
                      <a:round/>
                      <a:headEnd type="none" w="med" len="med"/>
                      <a:tailEnd type="none" w="med" len="med"/>
                    </a:lnR>
                    <a:lnT w="19608" cap="flat" cmpd="sng" algn="ctr">
                      <a:solidFill>
                        <a:srgbClr val="FFFFFF"/>
                      </a:solidFill>
                      <a:prstDash val="solid"/>
                      <a:round/>
                      <a:headEnd type="none" w="med" len="med"/>
                      <a:tailEnd type="none" w="med" len="med"/>
                    </a:lnT>
                    <a:lnB w="19608" cap="flat" cmpd="sng" algn="ctr">
                      <a:solidFill>
                        <a:srgbClr val="FFFFFF"/>
                      </a:solidFill>
                      <a:prstDash val="solid"/>
                      <a:round/>
                      <a:headEnd type="none" w="med" len="med"/>
                      <a:tailEnd type="none" w="med" len="med"/>
                    </a:lnB>
                    <a:solidFill>
                      <a:srgbClr val="EDF3FB"/>
                    </a:solidFill>
                  </a:tcPr>
                </a:tc>
                <a:tc>
                  <a:txBody>
                    <a:bodyPr/>
                    <a:lstStyle/>
                    <a:p>
                      <a:pPr algn="ctr">
                        <a:lnSpc>
                          <a:spcPts val="2964"/>
                        </a:lnSpc>
                        <a:defRPr/>
                      </a:pPr>
                      <a:r>
                        <a:rPr lang="en-US" sz="1852">
                          <a:solidFill>
                            <a:srgbClr val="434343"/>
                          </a:solidFill>
                          <a:latin typeface="JASO Sans"/>
                          <a:ea typeface="JASO Sans"/>
                          <a:cs typeface="JASO Sans"/>
                          <a:sym typeface="JASO Sans"/>
                        </a:rPr>
                        <a:t>높음</a:t>
                      </a:r>
                      <a:endParaRPr lang="en-US" sz="1100"/>
                    </a:p>
                  </a:txBody>
                  <a:tcPr marL="0" marR="0" marT="0" marB="0" anchor="ctr">
                    <a:lnL w="0" cap="flat" cmpd="sng" algn="ctr">
                      <a:solidFill>
                        <a:srgbClr val="D9D9D9"/>
                      </a:solidFill>
                      <a:prstDash val="solid"/>
                      <a:round/>
                      <a:headEnd type="none" w="med" len="med"/>
                      <a:tailEnd type="none" w="med" len="med"/>
                    </a:lnL>
                    <a:lnR w="19608" cap="flat" cmpd="sng" algn="ctr">
                      <a:solidFill>
                        <a:srgbClr val="D9D9D9"/>
                      </a:solidFill>
                      <a:prstDash val="solid"/>
                      <a:round/>
                      <a:headEnd type="none" w="med" len="med"/>
                      <a:tailEnd type="none" w="med" len="med"/>
                    </a:lnR>
                    <a:lnT w="19608" cap="flat" cmpd="sng" algn="ctr">
                      <a:solidFill>
                        <a:srgbClr val="D9D9D9"/>
                      </a:solidFill>
                      <a:prstDash val="solid"/>
                      <a:round/>
                      <a:headEnd type="none" w="med" len="med"/>
                      <a:tailEnd type="none" w="med" len="med"/>
                    </a:lnT>
                    <a:lnB w="19608" cap="flat" cmpd="sng" algn="ctr">
                      <a:solidFill>
                        <a:srgbClr val="D9D9D9"/>
                      </a:solidFill>
                      <a:prstDash val="solid"/>
                      <a:round/>
                      <a:headEnd type="none" w="med" len="med"/>
                      <a:tailEnd type="none" w="med" len="med"/>
                    </a:lnB>
                  </a:tcPr>
                </a:tc>
                <a:tc>
                  <a:txBody>
                    <a:bodyPr/>
                    <a:lstStyle/>
                    <a:p>
                      <a:pPr algn="ctr">
                        <a:lnSpc>
                          <a:spcPts val="3293"/>
                        </a:lnSpc>
                        <a:defRPr/>
                      </a:pPr>
                      <a:r>
                        <a:rPr lang="en-US" sz="2058" b="1">
                          <a:solidFill>
                            <a:srgbClr val="434343"/>
                          </a:solidFill>
                          <a:latin typeface="JASO Sans Bold"/>
                          <a:ea typeface="JASO Sans Bold"/>
                          <a:cs typeface="JASO Sans Bold"/>
                          <a:sym typeface="JASO Sans Bold"/>
                        </a:rPr>
                        <a:t>매출 대비 비중 유지</a:t>
                      </a:r>
                      <a:endParaRPr lang="en-US" sz="1100"/>
                    </a:p>
                  </a:txBody>
                  <a:tcPr marL="0" marR="0" marT="0" marB="0" anchor="ctr">
                    <a:lnL w="19608" cap="flat" cmpd="sng" algn="ctr">
                      <a:solidFill>
                        <a:srgbClr val="D9D9D9"/>
                      </a:solidFill>
                      <a:prstDash val="solid"/>
                      <a:round/>
                      <a:headEnd type="none" w="med" len="med"/>
                      <a:tailEnd type="none" w="med" len="med"/>
                    </a:lnL>
                    <a:lnR w="0" cap="flat" cmpd="sng" algn="ctr">
                      <a:solidFill>
                        <a:srgbClr val="B4B4B4"/>
                      </a:solidFill>
                      <a:prstDash val="solid"/>
                      <a:round/>
                      <a:headEnd type="none" w="med" len="med"/>
                      <a:tailEnd type="none" w="med" len="med"/>
                    </a:lnR>
                    <a:lnT w="19608" cap="flat" cmpd="sng" algn="ctr">
                      <a:solidFill>
                        <a:srgbClr val="D9D9D9"/>
                      </a:solidFill>
                      <a:prstDash val="solid"/>
                      <a:round/>
                      <a:headEnd type="none" w="med" len="med"/>
                      <a:tailEnd type="none" w="med" len="med"/>
                    </a:lnT>
                    <a:lnB w="19608" cap="flat" cmpd="sng" algn="ctr">
                      <a:solidFill>
                        <a:srgbClr val="D9D9D9"/>
                      </a:solidFill>
                      <a:prstDash val="solid"/>
                      <a:round/>
                      <a:headEnd type="none" w="med" len="med"/>
                      <a:tailEnd type="none" w="med" len="med"/>
                    </a:lnB>
                    <a:solidFill>
                      <a:srgbClr val="F9F9F9"/>
                    </a:solidFill>
                  </a:tcPr>
                </a:tc>
                <a:extLst>
                  <a:ext uri="{0D108BD9-81ED-4DB2-BD59-A6C34878D82A}">
                    <a16:rowId xmlns:a16="http://schemas.microsoft.com/office/drawing/2014/main" val="10001"/>
                  </a:ext>
                </a:extLst>
              </a:tr>
              <a:tr h="965826">
                <a:tc>
                  <a:txBody>
                    <a:bodyPr/>
                    <a:lstStyle/>
                    <a:p>
                      <a:pPr algn="ctr">
                        <a:lnSpc>
                          <a:spcPts val="2964"/>
                        </a:lnSpc>
                        <a:defRPr/>
                      </a:pPr>
                      <a:r>
                        <a:rPr lang="en-US" sz="1852" b="1">
                          <a:solidFill>
                            <a:srgbClr val="434343"/>
                          </a:solidFill>
                          <a:latin typeface="JASO Sans Bold"/>
                          <a:ea typeface="JASO Sans Bold"/>
                          <a:cs typeface="JASO Sans Bold"/>
                          <a:sym typeface="JASO Sans Bold"/>
                        </a:rPr>
                        <a:t>마케팅비</a:t>
                      </a: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D9D9D9"/>
                      </a:solidFill>
                      <a:prstDash val="solid"/>
                      <a:round/>
                      <a:headEnd type="none" w="med" len="med"/>
                      <a:tailEnd type="none" w="med" len="med"/>
                    </a:lnR>
                    <a:lnT w="19608" cap="flat" cmpd="sng" algn="ctr">
                      <a:solidFill>
                        <a:srgbClr val="FFFFFF"/>
                      </a:solidFill>
                      <a:prstDash val="solid"/>
                      <a:round/>
                      <a:headEnd type="none" w="med" len="med"/>
                      <a:tailEnd type="none" w="med" len="med"/>
                    </a:lnT>
                    <a:lnB w="19608" cap="flat" cmpd="sng" algn="ctr">
                      <a:solidFill>
                        <a:srgbClr val="FFFFFF"/>
                      </a:solidFill>
                      <a:prstDash val="solid"/>
                      <a:round/>
                      <a:headEnd type="none" w="med" len="med"/>
                      <a:tailEnd type="none" w="med" len="med"/>
                    </a:lnB>
                    <a:solidFill>
                      <a:srgbClr val="EDF3FB"/>
                    </a:solidFill>
                  </a:tcPr>
                </a:tc>
                <a:tc>
                  <a:txBody>
                    <a:bodyPr/>
                    <a:lstStyle/>
                    <a:p>
                      <a:pPr algn="ctr">
                        <a:lnSpc>
                          <a:spcPts val="2964"/>
                        </a:lnSpc>
                        <a:defRPr/>
                      </a:pPr>
                      <a:r>
                        <a:rPr lang="en-US" sz="1852">
                          <a:solidFill>
                            <a:srgbClr val="434343"/>
                          </a:solidFill>
                          <a:latin typeface="JASO Sans"/>
                          <a:ea typeface="JASO Sans"/>
                          <a:cs typeface="JASO Sans"/>
                          <a:sym typeface="JASO Sans"/>
                        </a:rPr>
                        <a:t>비효율</a:t>
                      </a:r>
                      <a:endParaRPr lang="en-US" sz="1100"/>
                    </a:p>
                  </a:txBody>
                  <a:tcPr marL="0" marR="0" marT="0" marB="0" anchor="ctr">
                    <a:lnL w="0" cap="flat" cmpd="sng" algn="ctr">
                      <a:solidFill>
                        <a:srgbClr val="D9D9D9"/>
                      </a:solidFill>
                      <a:prstDash val="solid"/>
                      <a:round/>
                      <a:headEnd type="none" w="med" len="med"/>
                      <a:tailEnd type="none" w="med" len="med"/>
                    </a:lnL>
                    <a:lnR w="19608" cap="flat" cmpd="sng" algn="ctr">
                      <a:solidFill>
                        <a:srgbClr val="D9D9D9"/>
                      </a:solidFill>
                      <a:prstDash val="solid"/>
                      <a:round/>
                      <a:headEnd type="none" w="med" len="med"/>
                      <a:tailEnd type="none" w="med" len="med"/>
                    </a:lnR>
                    <a:lnT w="19608" cap="flat" cmpd="sng" algn="ctr">
                      <a:solidFill>
                        <a:srgbClr val="D9D9D9"/>
                      </a:solidFill>
                      <a:prstDash val="solid"/>
                      <a:round/>
                      <a:headEnd type="none" w="med" len="med"/>
                      <a:tailEnd type="none" w="med" len="med"/>
                    </a:lnT>
                    <a:lnB w="19608" cap="flat" cmpd="sng" algn="ctr">
                      <a:solidFill>
                        <a:srgbClr val="D9D9D9"/>
                      </a:solidFill>
                      <a:prstDash val="solid"/>
                      <a:round/>
                      <a:headEnd type="none" w="med" len="med"/>
                      <a:tailEnd type="none" w="med" len="med"/>
                    </a:lnB>
                  </a:tcPr>
                </a:tc>
                <a:tc>
                  <a:txBody>
                    <a:bodyPr/>
                    <a:lstStyle/>
                    <a:p>
                      <a:pPr algn="ctr">
                        <a:lnSpc>
                          <a:spcPts val="3293"/>
                        </a:lnSpc>
                        <a:defRPr/>
                      </a:pPr>
                      <a:r>
                        <a:rPr lang="en-US" sz="2058" b="1">
                          <a:solidFill>
                            <a:srgbClr val="434343"/>
                          </a:solidFill>
                          <a:latin typeface="JASO Sans Bold"/>
                          <a:ea typeface="JASO Sans Bold"/>
                          <a:cs typeface="JASO Sans Bold"/>
                          <a:sym typeface="JASO Sans Bold"/>
                        </a:rPr>
                        <a:t>ROI 중심 재편</a:t>
                      </a:r>
                      <a:endParaRPr lang="en-US" sz="1100"/>
                    </a:p>
                  </a:txBody>
                  <a:tcPr marL="0" marR="0" marT="0" marB="0" anchor="ctr">
                    <a:lnL w="19608" cap="flat" cmpd="sng" algn="ctr">
                      <a:solidFill>
                        <a:srgbClr val="D9D9D9"/>
                      </a:solidFill>
                      <a:prstDash val="solid"/>
                      <a:round/>
                      <a:headEnd type="none" w="med" len="med"/>
                      <a:tailEnd type="none" w="med" len="med"/>
                    </a:lnL>
                    <a:lnR w="0" cap="flat" cmpd="sng" algn="ctr">
                      <a:solidFill>
                        <a:srgbClr val="B4B4B4"/>
                      </a:solidFill>
                      <a:prstDash val="solid"/>
                      <a:round/>
                      <a:headEnd type="none" w="med" len="med"/>
                      <a:tailEnd type="none" w="med" len="med"/>
                    </a:lnR>
                    <a:lnT w="19608" cap="flat" cmpd="sng" algn="ctr">
                      <a:solidFill>
                        <a:srgbClr val="D9D9D9"/>
                      </a:solidFill>
                      <a:prstDash val="solid"/>
                      <a:round/>
                      <a:headEnd type="none" w="med" len="med"/>
                      <a:tailEnd type="none" w="med" len="med"/>
                    </a:lnT>
                    <a:lnB w="19608" cap="flat" cmpd="sng" algn="ctr">
                      <a:solidFill>
                        <a:srgbClr val="D9D9D9"/>
                      </a:solidFill>
                      <a:prstDash val="solid"/>
                      <a:round/>
                      <a:headEnd type="none" w="med" len="med"/>
                      <a:tailEnd type="none" w="med" len="med"/>
                    </a:lnB>
                    <a:solidFill>
                      <a:srgbClr val="F9F9F9"/>
                    </a:solidFill>
                  </a:tcPr>
                </a:tc>
                <a:extLst>
                  <a:ext uri="{0D108BD9-81ED-4DB2-BD59-A6C34878D82A}">
                    <a16:rowId xmlns:a16="http://schemas.microsoft.com/office/drawing/2014/main" val="10002"/>
                  </a:ext>
                </a:extLst>
              </a:tr>
              <a:tr h="965826">
                <a:tc>
                  <a:txBody>
                    <a:bodyPr/>
                    <a:lstStyle/>
                    <a:p>
                      <a:pPr algn="ctr">
                        <a:lnSpc>
                          <a:spcPts val="2964"/>
                        </a:lnSpc>
                        <a:defRPr/>
                      </a:pPr>
                      <a:r>
                        <a:rPr lang="en-US" sz="1852" b="1">
                          <a:solidFill>
                            <a:srgbClr val="434343"/>
                          </a:solidFill>
                          <a:latin typeface="JASO Sans Bold"/>
                          <a:ea typeface="JASO Sans Bold"/>
                          <a:cs typeface="JASO Sans Bold"/>
                          <a:sym typeface="JASO Sans Bold"/>
                        </a:rPr>
                        <a:t>물류/포장</a:t>
                      </a: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D9D9D9"/>
                      </a:solidFill>
                      <a:prstDash val="solid"/>
                      <a:round/>
                      <a:headEnd type="none" w="med" len="med"/>
                      <a:tailEnd type="none" w="med" len="med"/>
                    </a:lnR>
                    <a:lnT w="19608" cap="flat" cmpd="sng" algn="ctr">
                      <a:solidFill>
                        <a:srgbClr val="FFFFFF"/>
                      </a:solidFill>
                      <a:prstDash val="solid"/>
                      <a:round/>
                      <a:headEnd type="none" w="med" len="med"/>
                      <a:tailEnd type="none" w="med" len="med"/>
                    </a:lnT>
                    <a:lnB w="19608" cap="flat" cmpd="sng" algn="ctr">
                      <a:solidFill>
                        <a:srgbClr val="D9D9D9"/>
                      </a:solidFill>
                      <a:prstDash val="solid"/>
                      <a:round/>
                      <a:headEnd type="none" w="med" len="med"/>
                      <a:tailEnd type="none" w="med" len="med"/>
                    </a:lnB>
                    <a:solidFill>
                      <a:srgbClr val="EDF3FB"/>
                    </a:solidFill>
                  </a:tcPr>
                </a:tc>
                <a:tc>
                  <a:txBody>
                    <a:bodyPr/>
                    <a:lstStyle/>
                    <a:p>
                      <a:pPr algn="ctr">
                        <a:lnSpc>
                          <a:spcPts val="2964"/>
                        </a:lnSpc>
                        <a:defRPr/>
                      </a:pPr>
                      <a:r>
                        <a:rPr lang="en-US" sz="1852">
                          <a:solidFill>
                            <a:srgbClr val="434343"/>
                          </a:solidFill>
                          <a:latin typeface="JASO Sans"/>
                          <a:ea typeface="JASO Sans"/>
                          <a:cs typeface="JASO Sans"/>
                          <a:sym typeface="JASO Sans"/>
                        </a:rPr>
                        <a:t>상승</a:t>
                      </a:r>
                      <a:endParaRPr lang="en-US" sz="1100"/>
                    </a:p>
                  </a:txBody>
                  <a:tcPr marL="0" marR="0" marT="0" marB="0" anchor="ctr">
                    <a:lnL w="0" cap="flat" cmpd="sng" algn="ctr">
                      <a:solidFill>
                        <a:srgbClr val="D9D9D9"/>
                      </a:solidFill>
                      <a:prstDash val="solid"/>
                      <a:round/>
                      <a:headEnd type="none" w="med" len="med"/>
                      <a:tailEnd type="none" w="med" len="med"/>
                    </a:lnL>
                    <a:lnR w="19608" cap="flat" cmpd="sng" algn="ctr">
                      <a:solidFill>
                        <a:srgbClr val="D9D9D9"/>
                      </a:solidFill>
                      <a:prstDash val="solid"/>
                      <a:round/>
                      <a:headEnd type="none" w="med" len="med"/>
                      <a:tailEnd type="none" w="med" len="med"/>
                    </a:lnR>
                    <a:lnT w="19608" cap="flat" cmpd="sng" algn="ctr">
                      <a:solidFill>
                        <a:srgbClr val="D9D9D9"/>
                      </a:solidFill>
                      <a:prstDash val="solid"/>
                      <a:round/>
                      <a:headEnd type="none" w="med" len="med"/>
                      <a:tailEnd type="none" w="med" len="med"/>
                    </a:lnT>
                    <a:lnB w="19608" cap="flat" cmpd="sng" algn="ctr">
                      <a:solidFill>
                        <a:srgbClr val="D9D9D9"/>
                      </a:solidFill>
                      <a:prstDash val="solid"/>
                      <a:round/>
                      <a:headEnd type="none" w="med" len="med"/>
                      <a:tailEnd type="none" w="med" len="med"/>
                    </a:lnB>
                  </a:tcPr>
                </a:tc>
                <a:tc>
                  <a:txBody>
                    <a:bodyPr/>
                    <a:lstStyle/>
                    <a:p>
                      <a:pPr algn="ctr">
                        <a:lnSpc>
                          <a:spcPts val="3293"/>
                        </a:lnSpc>
                        <a:defRPr/>
                      </a:pPr>
                      <a:r>
                        <a:rPr lang="en-US" sz="2058" b="1">
                          <a:solidFill>
                            <a:srgbClr val="434343"/>
                          </a:solidFill>
                          <a:latin typeface="JASO Sans Bold"/>
                          <a:ea typeface="JASO Sans Bold"/>
                          <a:cs typeface="JASO Sans Bold"/>
                          <a:sym typeface="JASO Sans Bold"/>
                        </a:rPr>
                        <a:t>발주 정확도 개선</a:t>
                      </a:r>
                      <a:endParaRPr lang="en-US" sz="1100"/>
                    </a:p>
                  </a:txBody>
                  <a:tcPr marL="0" marR="0" marT="0" marB="0" anchor="ctr">
                    <a:lnL w="19608" cap="flat" cmpd="sng" algn="ctr">
                      <a:solidFill>
                        <a:srgbClr val="D9D9D9"/>
                      </a:solidFill>
                      <a:prstDash val="solid"/>
                      <a:round/>
                      <a:headEnd type="none" w="med" len="med"/>
                      <a:tailEnd type="none" w="med" len="med"/>
                    </a:lnL>
                    <a:lnR w="0" cap="flat" cmpd="sng" algn="ctr">
                      <a:solidFill>
                        <a:srgbClr val="B4B4B4"/>
                      </a:solidFill>
                      <a:prstDash val="solid"/>
                      <a:round/>
                      <a:headEnd type="none" w="med" len="med"/>
                      <a:tailEnd type="none" w="med" len="med"/>
                    </a:lnR>
                    <a:lnT w="19608" cap="flat" cmpd="sng" algn="ctr">
                      <a:solidFill>
                        <a:srgbClr val="D9D9D9"/>
                      </a:solidFill>
                      <a:prstDash val="solid"/>
                      <a:round/>
                      <a:headEnd type="none" w="med" len="med"/>
                      <a:tailEnd type="none" w="med" len="med"/>
                    </a:lnT>
                    <a:lnB w="19608" cap="flat" cmpd="sng" algn="ctr">
                      <a:solidFill>
                        <a:srgbClr val="D9D9D9"/>
                      </a:solidFill>
                      <a:prstDash val="solid"/>
                      <a:round/>
                      <a:headEnd type="none" w="med" len="med"/>
                      <a:tailEnd type="none" w="med" len="med"/>
                    </a:lnB>
                    <a:solidFill>
                      <a:srgbClr val="F9F9F9"/>
                    </a:solidFill>
                  </a:tcPr>
                </a:tc>
                <a:extLst>
                  <a:ext uri="{0D108BD9-81ED-4DB2-BD59-A6C34878D82A}">
                    <a16:rowId xmlns:a16="http://schemas.microsoft.com/office/drawing/2014/main" val="10003"/>
                  </a:ext>
                </a:extLst>
              </a:tr>
              <a:tr h="965826">
                <a:tc>
                  <a:txBody>
                    <a:bodyPr/>
                    <a:lstStyle/>
                    <a:p>
                      <a:pPr algn="ctr">
                        <a:lnSpc>
                          <a:spcPts val="2964"/>
                        </a:lnSpc>
                        <a:defRPr/>
                      </a:pPr>
                      <a:r>
                        <a:rPr lang="en-US" sz="1852" b="1">
                          <a:solidFill>
                            <a:srgbClr val="434343"/>
                          </a:solidFill>
                          <a:latin typeface="JASO Sans Bold"/>
                          <a:ea typeface="JASO Sans Bold"/>
                          <a:cs typeface="JASO Sans Bold"/>
                          <a:sym typeface="JASO Sans Bold"/>
                        </a:rPr>
                        <a:t>운영비</a:t>
                      </a: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D9D9D9"/>
                      </a:solidFill>
                      <a:prstDash val="solid"/>
                      <a:round/>
                      <a:headEnd type="none" w="med" len="med"/>
                      <a:tailEnd type="none" w="med" len="med"/>
                    </a:lnR>
                    <a:lnT w="19608" cap="flat" cmpd="sng" algn="ctr">
                      <a:solidFill>
                        <a:srgbClr val="D9D9D9"/>
                      </a:solidFill>
                      <a:prstDash val="solid"/>
                      <a:round/>
                      <a:headEnd type="none" w="med" len="med"/>
                      <a:tailEnd type="none" w="med" len="med"/>
                    </a:lnT>
                    <a:lnB w="19608" cap="flat" cmpd="sng" algn="ctr">
                      <a:solidFill>
                        <a:srgbClr val="D9D9D9"/>
                      </a:solidFill>
                      <a:prstDash val="solid"/>
                      <a:round/>
                      <a:headEnd type="none" w="med" len="med"/>
                      <a:tailEnd type="none" w="med" len="med"/>
                    </a:lnB>
                    <a:solidFill>
                      <a:srgbClr val="EDF3FB"/>
                    </a:solidFill>
                  </a:tcPr>
                </a:tc>
                <a:tc>
                  <a:txBody>
                    <a:bodyPr/>
                    <a:lstStyle/>
                    <a:p>
                      <a:pPr algn="ctr">
                        <a:lnSpc>
                          <a:spcPts val="2964"/>
                        </a:lnSpc>
                        <a:defRPr/>
                      </a:pPr>
                      <a:r>
                        <a:rPr lang="en-US" sz="1852">
                          <a:solidFill>
                            <a:srgbClr val="434343"/>
                          </a:solidFill>
                          <a:latin typeface="JASO Sans"/>
                          <a:ea typeface="JASO Sans"/>
                          <a:cs typeface="JASO Sans"/>
                          <a:sym typeface="JASO Sans"/>
                        </a:rPr>
                        <a:t>고정적</a:t>
                      </a:r>
                      <a:endParaRPr lang="en-US" sz="1100"/>
                    </a:p>
                  </a:txBody>
                  <a:tcPr marL="0" marR="0" marT="0" marB="0" anchor="ctr">
                    <a:lnL w="0" cap="flat" cmpd="sng" algn="ctr">
                      <a:solidFill>
                        <a:srgbClr val="D9D9D9"/>
                      </a:solidFill>
                      <a:prstDash val="solid"/>
                      <a:round/>
                      <a:headEnd type="none" w="med" len="med"/>
                      <a:tailEnd type="none" w="med" len="med"/>
                    </a:lnL>
                    <a:lnR w="19608" cap="flat" cmpd="sng" algn="ctr">
                      <a:solidFill>
                        <a:srgbClr val="D9D9D9"/>
                      </a:solidFill>
                      <a:prstDash val="solid"/>
                      <a:round/>
                      <a:headEnd type="none" w="med" len="med"/>
                      <a:tailEnd type="none" w="med" len="med"/>
                    </a:lnR>
                    <a:lnT w="19608" cap="flat" cmpd="sng" algn="ctr">
                      <a:solidFill>
                        <a:srgbClr val="D9D9D9"/>
                      </a:solidFill>
                      <a:prstDash val="solid"/>
                      <a:round/>
                      <a:headEnd type="none" w="med" len="med"/>
                      <a:tailEnd type="none" w="med" len="med"/>
                    </a:lnT>
                    <a:lnB w="19608" cap="flat" cmpd="sng" algn="ctr">
                      <a:solidFill>
                        <a:srgbClr val="D9D9D9"/>
                      </a:solidFill>
                      <a:prstDash val="solid"/>
                      <a:round/>
                      <a:headEnd type="none" w="med" len="med"/>
                      <a:tailEnd type="none" w="med" len="med"/>
                    </a:lnB>
                  </a:tcPr>
                </a:tc>
                <a:tc>
                  <a:txBody>
                    <a:bodyPr/>
                    <a:lstStyle/>
                    <a:p>
                      <a:pPr algn="ctr">
                        <a:lnSpc>
                          <a:spcPts val="3293"/>
                        </a:lnSpc>
                        <a:defRPr/>
                      </a:pPr>
                      <a:r>
                        <a:rPr lang="en-US" sz="2058" b="1">
                          <a:solidFill>
                            <a:srgbClr val="434343"/>
                          </a:solidFill>
                          <a:latin typeface="JASO Sans Bold"/>
                          <a:ea typeface="JASO Sans Bold"/>
                          <a:cs typeface="JASO Sans Bold"/>
                          <a:sym typeface="JASO Sans Bold"/>
                        </a:rPr>
                        <a:t>자동화로 통제</a:t>
                      </a:r>
                      <a:endParaRPr lang="en-US" sz="1100"/>
                    </a:p>
                  </a:txBody>
                  <a:tcPr marL="0" marR="0" marT="0" marB="0" anchor="ctr">
                    <a:lnL w="19608" cap="flat" cmpd="sng" algn="ctr">
                      <a:solidFill>
                        <a:srgbClr val="D9D9D9"/>
                      </a:solidFill>
                      <a:prstDash val="solid"/>
                      <a:round/>
                      <a:headEnd type="none" w="med" len="med"/>
                      <a:tailEnd type="none" w="med" len="med"/>
                    </a:lnL>
                    <a:lnR w="0" cap="flat" cmpd="sng" algn="ctr">
                      <a:solidFill>
                        <a:srgbClr val="B4B4B4"/>
                      </a:solidFill>
                      <a:prstDash val="solid"/>
                      <a:round/>
                      <a:headEnd type="none" w="med" len="med"/>
                      <a:tailEnd type="none" w="med" len="med"/>
                    </a:lnR>
                    <a:lnT w="19608" cap="flat" cmpd="sng" algn="ctr">
                      <a:solidFill>
                        <a:srgbClr val="D9D9D9"/>
                      </a:solidFill>
                      <a:prstDash val="solid"/>
                      <a:round/>
                      <a:headEnd type="none" w="med" len="med"/>
                      <a:tailEnd type="none" w="med" len="med"/>
                    </a:lnT>
                    <a:lnB w="19608" cap="flat" cmpd="sng" algn="ctr">
                      <a:solidFill>
                        <a:srgbClr val="D9D9D9"/>
                      </a:solidFill>
                      <a:prstDash val="solid"/>
                      <a:round/>
                      <a:headEnd type="none" w="med" len="med"/>
                      <a:tailEnd type="none" w="med" len="med"/>
                    </a:lnB>
                    <a:solidFill>
                      <a:srgbClr val="F9F9F9"/>
                    </a:solidFill>
                  </a:tcPr>
                </a:tc>
                <a:extLst>
                  <a:ext uri="{0D108BD9-81ED-4DB2-BD59-A6C34878D82A}">
                    <a16:rowId xmlns:a16="http://schemas.microsoft.com/office/drawing/2014/main" val="10004"/>
                  </a:ext>
                </a:extLst>
              </a:tr>
              <a:tr h="965826">
                <a:tc>
                  <a:txBody>
                    <a:bodyPr/>
                    <a:lstStyle/>
                    <a:p>
                      <a:pPr algn="ctr">
                        <a:lnSpc>
                          <a:spcPts val="2964"/>
                        </a:lnSpc>
                        <a:defRPr/>
                      </a:pPr>
                      <a:r>
                        <a:rPr lang="en-US" sz="1852" b="1">
                          <a:solidFill>
                            <a:srgbClr val="434343"/>
                          </a:solidFill>
                          <a:latin typeface="JASO Sans Bold"/>
                          <a:ea typeface="JASO Sans Bold"/>
                          <a:cs typeface="JASO Sans Bold"/>
                          <a:sym typeface="JASO Sans Bold"/>
                        </a:rPr>
                        <a:t>기타</a:t>
                      </a: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D9D9D9"/>
                      </a:solidFill>
                      <a:prstDash val="solid"/>
                      <a:round/>
                      <a:headEnd type="none" w="med" len="med"/>
                      <a:tailEnd type="none" w="med" len="med"/>
                    </a:lnR>
                    <a:lnT w="19608" cap="flat" cmpd="sng" algn="ctr">
                      <a:solidFill>
                        <a:srgbClr val="D9D9D9"/>
                      </a:solidFill>
                      <a:prstDash val="solid"/>
                      <a:round/>
                      <a:headEnd type="none" w="med" len="med"/>
                      <a:tailEnd type="none" w="med" len="med"/>
                    </a:lnT>
                    <a:lnB w="19608" cap="flat" cmpd="sng" algn="ctr">
                      <a:solidFill>
                        <a:srgbClr val="D9D9D9"/>
                      </a:solidFill>
                      <a:prstDash val="solid"/>
                      <a:round/>
                      <a:headEnd type="none" w="med" len="med"/>
                      <a:tailEnd type="none" w="med" len="med"/>
                    </a:lnB>
                    <a:solidFill>
                      <a:srgbClr val="EDF3FB"/>
                    </a:solidFill>
                  </a:tcPr>
                </a:tc>
                <a:tc>
                  <a:txBody>
                    <a:bodyPr/>
                    <a:lstStyle/>
                    <a:p>
                      <a:pPr algn="ctr">
                        <a:lnSpc>
                          <a:spcPts val="2964"/>
                        </a:lnSpc>
                        <a:defRPr/>
                      </a:pPr>
                      <a:r>
                        <a:rPr lang="en-US" sz="1852">
                          <a:solidFill>
                            <a:srgbClr val="434343"/>
                          </a:solidFill>
                          <a:latin typeface="JASO Sans"/>
                          <a:ea typeface="JASO Sans"/>
                          <a:cs typeface="JASO Sans"/>
                          <a:sym typeface="JASO Sans"/>
                        </a:rPr>
                        <a:t>-</a:t>
                      </a:r>
                      <a:endParaRPr lang="en-US" sz="1100"/>
                    </a:p>
                  </a:txBody>
                  <a:tcPr marL="0" marR="0" marT="0" marB="0" anchor="ctr">
                    <a:lnL w="0" cap="flat" cmpd="sng" algn="ctr">
                      <a:solidFill>
                        <a:srgbClr val="D9D9D9"/>
                      </a:solidFill>
                      <a:prstDash val="solid"/>
                      <a:round/>
                      <a:headEnd type="none" w="med" len="med"/>
                      <a:tailEnd type="none" w="med" len="med"/>
                    </a:lnL>
                    <a:lnR w="19608" cap="flat" cmpd="sng" algn="ctr">
                      <a:solidFill>
                        <a:srgbClr val="D9D9D9"/>
                      </a:solidFill>
                      <a:prstDash val="solid"/>
                      <a:round/>
                      <a:headEnd type="none" w="med" len="med"/>
                      <a:tailEnd type="none" w="med" len="med"/>
                    </a:lnR>
                    <a:lnT w="19608" cap="flat" cmpd="sng" algn="ctr">
                      <a:solidFill>
                        <a:srgbClr val="D9D9D9"/>
                      </a:solidFill>
                      <a:prstDash val="solid"/>
                      <a:round/>
                      <a:headEnd type="none" w="med" len="med"/>
                      <a:tailEnd type="none" w="med" len="med"/>
                    </a:lnT>
                    <a:lnB w="19608" cap="flat" cmpd="sng" algn="ctr">
                      <a:solidFill>
                        <a:srgbClr val="D9D9D9"/>
                      </a:solidFill>
                      <a:prstDash val="solid"/>
                      <a:round/>
                      <a:headEnd type="none" w="med" len="med"/>
                      <a:tailEnd type="none" w="med" len="med"/>
                    </a:lnB>
                  </a:tcPr>
                </a:tc>
                <a:tc>
                  <a:txBody>
                    <a:bodyPr/>
                    <a:lstStyle/>
                    <a:p>
                      <a:pPr algn="ctr">
                        <a:lnSpc>
                          <a:spcPts val="3293"/>
                        </a:lnSpc>
                        <a:defRPr/>
                      </a:pPr>
                      <a:r>
                        <a:rPr lang="en-US" sz="2058" b="1">
                          <a:solidFill>
                            <a:srgbClr val="434343"/>
                          </a:solidFill>
                          <a:latin typeface="JASO Sans Bold"/>
                          <a:ea typeface="JASO Sans Bold"/>
                          <a:cs typeface="JASO Sans Bold"/>
                          <a:sym typeface="JASO Sans Bold"/>
                        </a:rPr>
                        <a:t>-</a:t>
                      </a:r>
                      <a:endParaRPr lang="en-US" sz="1100"/>
                    </a:p>
                  </a:txBody>
                  <a:tcPr marL="0" marR="0" marT="0" marB="0" anchor="ctr">
                    <a:lnL w="19608" cap="flat" cmpd="sng" algn="ctr">
                      <a:solidFill>
                        <a:srgbClr val="D9D9D9"/>
                      </a:solidFill>
                      <a:prstDash val="solid"/>
                      <a:round/>
                      <a:headEnd type="none" w="med" len="med"/>
                      <a:tailEnd type="none" w="med" len="med"/>
                    </a:lnL>
                    <a:lnR w="0" cap="flat" cmpd="sng" algn="ctr">
                      <a:solidFill>
                        <a:srgbClr val="B4B4B4"/>
                      </a:solidFill>
                      <a:prstDash val="solid"/>
                      <a:round/>
                      <a:headEnd type="none" w="med" len="med"/>
                      <a:tailEnd type="none" w="med" len="med"/>
                    </a:lnR>
                    <a:lnT w="19608" cap="flat" cmpd="sng" algn="ctr">
                      <a:solidFill>
                        <a:srgbClr val="D9D9D9"/>
                      </a:solidFill>
                      <a:prstDash val="solid"/>
                      <a:round/>
                      <a:headEnd type="none" w="med" len="med"/>
                      <a:tailEnd type="none" w="med" len="med"/>
                    </a:lnT>
                    <a:lnB w="19608" cap="flat" cmpd="sng" algn="ctr">
                      <a:solidFill>
                        <a:srgbClr val="D9D9D9"/>
                      </a:solidFill>
                      <a:prstDash val="solid"/>
                      <a:round/>
                      <a:headEnd type="none" w="med" len="med"/>
                      <a:tailEnd type="none" w="med" len="med"/>
                    </a:lnB>
                    <a:solidFill>
                      <a:srgbClr val="F9F9F9"/>
                    </a:solidFill>
                  </a:tcPr>
                </a:tc>
                <a:extLst>
                  <a:ext uri="{0D108BD9-81ED-4DB2-BD59-A6C34878D82A}">
                    <a16:rowId xmlns:a16="http://schemas.microsoft.com/office/drawing/2014/main" val="10005"/>
                  </a:ext>
                </a:extLst>
              </a:tr>
            </a:tbl>
          </a:graphicData>
        </a:graphic>
      </p:graphicFrame>
      <p:sp>
        <p:nvSpPr>
          <p:cNvPr id="10" name="AutoShape 10"/>
          <p:cNvSpPr/>
          <p:nvPr/>
        </p:nvSpPr>
        <p:spPr>
          <a:xfrm>
            <a:off x="14023877" y="3726103"/>
            <a:ext cx="0" cy="5488967"/>
          </a:xfrm>
          <a:prstGeom prst="line">
            <a:avLst/>
          </a:prstGeom>
          <a:ln w="76200" cap="flat">
            <a:solidFill>
              <a:srgbClr val="0066FF"/>
            </a:solidFill>
            <a:prstDash val="solid"/>
            <a:headEnd type="none" w="sm" len="sm"/>
            <a:tailEnd type="none" w="sm" len="sm"/>
          </a:ln>
        </p:spPr>
        <p:txBody>
          <a:bodyPr/>
          <a:lstStyle/>
          <a:p>
            <a:endParaRPr lang="ko-KR" altLang="en-US"/>
          </a:p>
        </p:txBody>
      </p:sp>
      <p:sp>
        <p:nvSpPr>
          <p:cNvPr id="11" name="AutoShape 11"/>
          <p:cNvSpPr/>
          <p:nvPr/>
        </p:nvSpPr>
        <p:spPr>
          <a:xfrm>
            <a:off x="17219275" y="3726103"/>
            <a:ext cx="0" cy="5488967"/>
          </a:xfrm>
          <a:prstGeom prst="line">
            <a:avLst/>
          </a:prstGeom>
          <a:ln w="76200" cap="flat">
            <a:solidFill>
              <a:srgbClr val="0066FF"/>
            </a:solidFill>
            <a:prstDash val="solid"/>
            <a:headEnd type="none" w="sm" len="sm"/>
            <a:tailEnd type="none" w="sm" len="sm"/>
          </a:ln>
        </p:spPr>
        <p:txBody>
          <a:bodyPr/>
          <a:lstStyle/>
          <a:p>
            <a:endParaRPr lang="ko-KR" altLang="en-US"/>
          </a:p>
        </p:txBody>
      </p:sp>
      <p:sp>
        <p:nvSpPr>
          <p:cNvPr id="12" name="AutoShape 12"/>
          <p:cNvSpPr/>
          <p:nvPr/>
        </p:nvSpPr>
        <p:spPr>
          <a:xfrm>
            <a:off x="13983851" y="9185658"/>
            <a:ext cx="3275449" cy="0"/>
          </a:xfrm>
          <a:prstGeom prst="line">
            <a:avLst/>
          </a:prstGeom>
          <a:ln w="76200" cap="flat">
            <a:solidFill>
              <a:srgbClr val="0066FF"/>
            </a:solidFill>
            <a:prstDash val="solid"/>
            <a:headEnd type="none" w="sm" len="sm"/>
            <a:tailEnd type="none" w="sm" len="sm"/>
          </a:ln>
        </p:spPr>
        <p:txBody>
          <a:bodyPr/>
          <a:lstStyle/>
          <a:p>
            <a:endParaRPr lang="ko-KR" altLang="en-US"/>
          </a:p>
        </p:txBody>
      </p:sp>
      <p:sp>
        <p:nvSpPr>
          <p:cNvPr id="13" name="AutoShape 13"/>
          <p:cNvSpPr/>
          <p:nvPr/>
        </p:nvSpPr>
        <p:spPr>
          <a:xfrm>
            <a:off x="13983851" y="3765318"/>
            <a:ext cx="3275449" cy="0"/>
          </a:xfrm>
          <a:prstGeom prst="line">
            <a:avLst/>
          </a:prstGeom>
          <a:ln w="76200" cap="flat">
            <a:solidFill>
              <a:srgbClr val="0066FF"/>
            </a:solidFill>
            <a:prstDash val="solid"/>
            <a:headEnd type="none" w="sm" len="sm"/>
            <a:tailEnd type="none" w="sm" len="sm"/>
          </a:ln>
        </p:spPr>
        <p:txBody>
          <a:bodyPr/>
          <a:lstStyle/>
          <a:p>
            <a:endParaRPr lang="ko-KR" altLang="en-US"/>
          </a:p>
        </p:txBody>
      </p:sp>
      <p:sp>
        <p:nvSpPr>
          <p:cNvPr id="14" name="AutoShape 14"/>
          <p:cNvSpPr/>
          <p:nvPr/>
        </p:nvSpPr>
        <p:spPr>
          <a:xfrm>
            <a:off x="1558118" y="8253341"/>
            <a:ext cx="0" cy="969801"/>
          </a:xfrm>
          <a:prstGeom prst="line">
            <a:avLst/>
          </a:prstGeom>
          <a:ln w="76200" cap="flat">
            <a:solidFill>
              <a:srgbClr val="0066FF"/>
            </a:solidFill>
            <a:prstDash val="solid"/>
            <a:headEnd type="none" w="sm" len="sm"/>
            <a:tailEnd type="none" w="sm" len="sm"/>
          </a:ln>
        </p:spPr>
        <p:txBody>
          <a:bodyPr/>
          <a:lstStyle/>
          <a:p>
            <a:endParaRPr lang="ko-KR" altLang="en-US"/>
          </a:p>
        </p:txBody>
      </p:sp>
      <p:sp>
        <p:nvSpPr>
          <p:cNvPr id="15" name="AutoShape 15"/>
          <p:cNvSpPr/>
          <p:nvPr/>
        </p:nvSpPr>
        <p:spPr>
          <a:xfrm>
            <a:off x="8972590" y="8253341"/>
            <a:ext cx="0" cy="969801"/>
          </a:xfrm>
          <a:prstGeom prst="line">
            <a:avLst/>
          </a:prstGeom>
          <a:ln w="76200" cap="flat">
            <a:solidFill>
              <a:srgbClr val="0066FF"/>
            </a:solidFill>
            <a:prstDash val="solid"/>
            <a:headEnd type="none" w="sm" len="sm"/>
            <a:tailEnd type="none" w="sm" len="sm"/>
          </a:ln>
        </p:spPr>
        <p:txBody>
          <a:bodyPr/>
          <a:lstStyle/>
          <a:p>
            <a:endParaRPr lang="ko-KR" altLang="en-US"/>
          </a:p>
        </p:txBody>
      </p:sp>
      <p:sp>
        <p:nvSpPr>
          <p:cNvPr id="16" name="AutoShape 16"/>
          <p:cNvSpPr/>
          <p:nvPr/>
        </p:nvSpPr>
        <p:spPr>
          <a:xfrm>
            <a:off x="1518481" y="9217945"/>
            <a:ext cx="7493746" cy="0"/>
          </a:xfrm>
          <a:prstGeom prst="line">
            <a:avLst/>
          </a:prstGeom>
          <a:ln w="76200" cap="flat">
            <a:solidFill>
              <a:srgbClr val="0066FF"/>
            </a:solidFill>
            <a:prstDash val="solid"/>
            <a:headEnd type="none" w="sm" len="sm"/>
            <a:tailEnd type="none" w="sm" len="sm"/>
          </a:ln>
        </p:spPr>
        <p:txBody>
          <a:bodyPr/>
          <a:lstStyle/>
          <a:p>
            <a:endParaRPr lang="ko-KR" altLang="en-US"/>
          </a:p>
        </p:txBody>
      </p:sp>
      <p:sp>
        <p:nvSpPr>
          <p:cNvPr id="17" name="AutoShape 17"/>
          <p:cNvSpPr/>
          <p:nvPr/>
        </p:nvSpPr>
        <p:spPr>
          <a:xfrm>
            <a:off x="1518481" y="8260269"/>
            <a:ext cx="7493746" cy="0"/>
          </a:xfrm>
          <a:prstGeom prst="line">
            <a:avLst/>
          </a:prstGeom>
          <a:ln w="76200" cap="flat">
            <a:solidFill>
              <a:srgbClr val="0066FF"/>
            </a:solidFill>
            <a:prstDash val="solid"/>
            <a:headEnd type="none" w="sm" len="sm"/>
            <a:tailEnd type="none" w="sm" len="sm"/>
          </a:ln>
        </p:spPr>
        <p:txBody>
          <a:bodyPr/>
          <a:lstStyle/>
          <a:p>
            <a:endParaRPr lang="ko-KR"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18481" y="1412643"/>
            <a:ext cx="13819856" cy="753110"/>
          </a:xfrm>
          <a:prstGeom prst="rect">
            <a:avLst/>
          </a:prstGeom>
        </p:spPr>
        <p:txBody>
          <a:bodyPr lIns="0" tIns="0" rIns="0" bIns="0" rtlCol="0" anchor="t">
            <a:spAutoFit/>
          </a:bodyPr>
          <a:lstStyle/>
          <a:p>
            <a:pPr algn="l">
              <a:lnSpc>
                <a:spcPts val="5829"/>
              </a:lnSpc>
            </a:pPr>
            <a:r>
              <a:rPr lang="en-US" sz="5299" b="1" spc="-264">
                <a:solidFill>
                  <a:srgbClr val="434343"/>
                </a:solidFill>
                <a:latin typeface="JASO Sans Bold"/>
                <a:ea typeface="JASO Sans Bold"/>
                <a:cs typeface="JASO Sans Bold"/>
                <a:sym typeface="JASO Sans Bold"/>
              </a:rPr>
              <a:t>마케팅 및 시즌 계획</a:t>
            </a:r>
          </a:p>
        </p:txBody>
      </p:sp>
      <p:graphicFrame>
        <p:nvGraphicFramePr>
          <p:cNvPr id="4" name="Table 4"/>
          <p:cNvGraphicFramePr>
            <a:graphicFrameLocks noGrp="1"/>
          </p:cNvGraphicFramePr>
          <p:nvPr/>
        </p:nvGraphicFramePr>
        <p:xfrm>
          <a:off x="1518481" y="3020600"/>
          <a:ext cx="15740820" cy="6235445"/>
        </p:xfrm>
        <a:graphic>
          <a:graphicData uri="http://schemas.openxmlformats.org/drawingml/2006/table">
            <a:tbl>
              <a:tblPr/>
              <a:tblGrid>
                <a:gridCol w="3213900">
                  <a:extLst>
                    <a:ext uri="{9D8B030D-6E8A-4147-A177-3AD203B41FA5}">
                      <a16:colId xmlns:a16="http://schemas.microsoft.com/office/drawing/2014/main" val="20000"/>
                    </a:ext>
                  </a:extLst>
                </a:gridCol>
                <a:gridCol w="1043910">
                  <a:extLst>
                    <a:ext uri="{9D8B030D-6E8A-4147-A177-3AD203B41FA5}">
                      <a16:colId xmlns:a16="http://schemas.microsoft.com/office/drawing/2014/main" val="20001"/>
                    </a:ext>
                  </a:extLst>
                </a:gridCol>
                <a:gridCol w="1043910">
                  <a:extLst>
                    <a:ext uri="{9D8B030D-6E8A-4147-A177-3AD203B41FA5}">
                      <a16:colId xmlns:a16="http://schemas.microsoft.com/office/drawing/2014/main" val="20002"/>
                    </a:ext>
                  </a:extLst>
                </a:gridCol>
                <a:gridCol w="1043910">
                  <a:extLst>
                    <a:ext uri="{9D8B030D-6E8A-4147-A177-3AD203B41FA5}">
                      <a16:colId xmlns:a16="http://schemas.microsoft.com/office/drawing/2014/main" val="20003"/>
                    </a:ext>
                  </a:extLst>
                </a:gridCol>
                <a:gridCol w="1043910">
                  <a:extLst>
                    <a:ext uri="{9D8B030D-6E8A-4147-A177-3AD203B41FA5}">
                      <a16:colId xmlns:a16="http://schemas.microsoft.com/office/drawing/2014/main" val="20004"/>
                    </a:ext>
                  </a:extLst>
                </a:gridCol>
                <a:gridCol w="1043910">
                  <a:extLst>
                    <a:ext uri="{9D8B030D-6E8A-4147-A177-3AD203B41FA5}">
                      <a16:colId xmlns:a16="http://schemas.microsoft.com/office/drawing/2014/main" val="20005"/>
                    </a:ext>
                  </a:extLst>
                </a:gridCol>
                <a:gridCol w="1043910">
                  <a:extLst>
                    <a:ext uri="{9D8B030D-6E8A-4147-A177-3AD203B41FA5}">
                      <a16:colId xmlns:a16="http://schemas.microsoft.com/office/drawing/2014/main" val="20006"/>
                    </a:ext>
                  </a:extLst>
                </a:gridCol>
                <a:gridCol w="1043910">
                  <a:extLst>
                    <a:ext uri="{9D8B030D-6E8A-4147-A177-3AD203B41FA5}">
                      <a16:colId xmlns:a16="http://schemas.microsoft.com/office/drawing/2014/main" val="20007"/>
                    </a:ext>
                  </a:extLst>
                </a:gridCol>
                <a:gridCol w="1043910">
                  <a:extLst>
                    <a:ext uri="{9D8B030D-6E8A-4147-A177-3AD203B41FA5}">
                      <a16:colId xmlns:a16="http://schemas.microsoft.com/office/drawing/2014/main" val="20008"/>
                    </a:ext>
                  </a:extLst>
                </a:gridCol>
                <a:gridCol w="1043910">
                  <a:extLst>
                    <a:ext uri="{9D8B030D-6E8A-4147-A177-3AD203B41FA5}">
                      <a16:colId xmlns:a16="http://schemas.microsoft.com/office/drawing/2014/main" val="20009"/>
                    </a:ext>
                  </a:extLst>
                </a:gridCol>
                <a:gridCol w="1043910">
                  <a:extLst>
                    <a:ext uri="{9D8B030D-6E8A-4147-A177-3AD203B41FA5}">
                      <a16:colId xmlns:a16="http://schemas.microsoft.com/office/drawing/2014/main" val="20010"/>
                    </a:ext>
                  </a:extLst>
                </a:gridCol>
                <a:gridCol w="1043910">
                  <a:extLst>
                    <a:ext uri="{9D8B030D-6E8A-4147-A177-3AD203B41FA5}">
                      <a16:colId xmlns:a16="http://schemas.microsoft.com/office/drawing/2014/main" val="20011"/>
                    </a:ext>
                  </a:extLst>
                </a:gridCol>
                <a:gridCol w="1043910">
                  <a:extLst>
                    <a:ext uri="{9D8B030D-6E8A-4147-A177-3AD203B41FA5}">
                      <a16:colId xmlns:a16="http://schemas.microsoft.com/office/drawing/2014/main" val="20012"/>
                    </a:ext>
                  </a:extLst>
                </a:gridCol>
              </a:tblGrid>
              <a:tr h="684541">
                <a:tc>
                  <a:txBody>
                    <a:bodyPr/>
                    <a:lstStyle/>
                    <a:p>
                      <a:pPr marL="0" lvl="0" indent="0" algn="ctr">
                        <a:lnSpc>
                          <a:spcPts val="2452"/>
                        </a:lnSpc>
                        <a:spcBef>
                          <a:spcPct val="0"/>
                        </a:spcBef>
                        <a:defRPr/>
                      </a:pPr>
                      <a:r>
                        <a:rPr lang="en-US" sz="1751" b="1">
                          <a:solidFill>
                            <a:srgbClr val="FFFFFF"/>
                          </a:solidFill>
                          <a:latin typeface="JASO Sans Bold"/>
                          <a:ea typeface="JASO Sans Bold"/>
                          <a:cs typeface="JASO Sans Bold"/>
                          <a:sym typeface="JASO Sans Bold"/>
                        </a:rPr>
                        <a:t>전략 방향</a:t>
                      </a:r>
                      <a:endParaRPr lang="en-US" sz="1100"/>
                    </a:p>
                  </a:txBody>
                  <a:tcPr marL="0" marR="0" marT="0" marB="0" anchor="ctr">
                    <a:lnL w="0" cap="flat" cmpd="sng" algn="ctr">
                      <a:solidFill>
                        <a:srgbClr val="B4B4B4"/>
                      </a:solidFill>
                      <a:prstDash val="solid"/>
                      <a:round/>
                      <a:headEnd type="none" w="med" len="med"/>
                      <a:tailEnd type="none" w="med" len="med"/>
                    </a:lnL>
                    <a:lnR w="19632" cap="flat" cmpd="sng" algn="ctr">
                      <a:solidFill>
                        <a:srgbClr val="FFFFFF"/>
                      </a:solidFill>
                      <a:prstDash val="solid"/>
                      <a:round/>
                      <a:headEnd type="none" w="med" len="med"/>
                      <a:tailEnd type="none" w="med" len="med"/>
                    </a:lnR>
                    <a:lnT w="0" cap="flat" cmpd="sng" algn="ctr">
                      <a:solidFill>
                        <a:srgbClr val="688BF7"/>
                      </a:solidFill>
                      <a:prstDash val="solid"/>
                      <a:round/>
                      <a:headEnd type="none" w="med" len="med"/>
                      <a:tailEnd type="none" w="med" len="med"/>
                    </a:lnT>
                    <a:lnB w="19632" cap="flat" cmpd="sng" algn="ctr">
                      <a:solidFill>
                        <a:srgbClr val="FFFFFF"/>
                      </a:solidFill>
                      <a:prstDash val="solid"/>
                      <a:round/>
                      <a:headEnd type="none" w="med" len="med"/>
                      <a:tailEnd type="none" w="med" len="med"/>
                    </a:lnB>
                    <a:solidFill>
                      <a:srgbClr val="86B0E7"/>
                    </a:solidFill>
                  </a:tcPr>
                </a:tc>
                <a:tc>
                  <a:txBody>
                    <a:bodyPr/>
                    <a:lstStyle/>
                    <a:p>
                      <a:pPr algn="ctr">
                        <a:lnSpc>
                          <a:spcPts val="2452"/>
                        </a:lnSpc>
                        <a:defRPr/>
                      </a:pPr>
                      <a:r>
                        <a:rPr lang="en-US" sz="1751" b="1">
                          <a:solidFill>
                            <a:srgbClr val="FFFFFF"/>
                          </a:solidFill>
                          <a:latin typeface="JASO Sans Bold"/>
                          <a:ea typeface="JASO Sans Bold"/>
                          <a:cs typeface="JASO Sans Bold"/>
                          <a:sym typeface="JASO Sans Bold"/>
                        </a:rPr>
                        <a:t>1월</a:t>
                      </a:r>
                      <a:endParaRPr lang="en-US" sz="1100"/>
                    </a:p>
                  </a:txBody>
                  <a:tcPr marL="0" marR="0" marT="0" marB="0" anchor="ctr">
                    <a:lnL w="19632"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688BF7"/>
                      </a:solidFill>
                      <a:prstDash val="solid"/>
                      <a:round/>
                      <a:headEnd type="none" w="med" len="med"/>
                      <a:tailEnd type="none" w="med" len="med"/>
                    </a:lnT>
                    <a:lnB w="19632" cap="flat" cmpd="sng" algn="ctr">
                      <a:solidFill>
                        <a:srgbClr val="D9D9D9"/>
                      </a:solidFill>
                      <a:prstDash val="solid"/>
                      <a:round/>
                      <a:headEnd type="none" w="med" len="med"/>
                      <a:tailEnd type="none" w="med" len="med"/>
                    </a:lnB>
                    <a:solidFill>
                      <a:srgbClr val="86B0E7"/>
                    </a:solidFill>
                  </a:tcPr>
                </a:tc>
                <a:tc>
                  <a:txBody>
                    <a:bodyPr/>
                    <a:lstStyle/>
                    <a:p>
                      <a:pPr algn="ctr">
                        <a:lnSpc>
                          <a:spcPts val="2452"/>
                        </a:lnSpc>
                        <a:defRPr/>
                      </a:pPr>
                      <a:r>
                        <a:rPr lang="en-US" sz="1751" b="1">
                          <a:solidFill>
                            <a:srgbClr val="FFFFFF"/>
                          </a:solidFill>
                          <a:latin typeface="JASO Sans Bold"/>
                          <a:ea typeface="JASO Sans Bold"/>
                          <a:cs typeface="JASO Sans Bold"/>
                          <a:sym typeface="JASO Sans Bold"/>
                        </a:rPr>
                        <a:t>2월</a:t>
                      </a:r>
                      <a:endParaRPr lang="en-US" sz="1100"/>
                    </a:p>
                  </a:txBody>
                  <a:tcPr marL="0" marR="0" marT="0" marB="0" anchor="ctr">
                    <a:lnL w="0" cap="flat" cmpd="sng" algn="ctr">
                      <a:solidFill>
                        <a:srgbClr val="FFFFFF"/>
                      </a:solidFill>
                      <a:prstDash val="solid"/>
                      <a:round/>
                      <a:headEnd type="none" w="med" len="med"/>
                      <a:tailEnd type="none" w="med" len="med"/>
                    </a:lnL>
                    <a:lnR w="0" cap="flat" cmpd="sng" algn="ctr">
                      <a:solidFill>
                        <a:srgbClr val="B4B4B4"/>
                      </a:solidFill>
                      <a:prstDash val="solid"/>
                      <a:round/>
                      <a:headEnd type="none" w="med" len="med"/>
                      <a:tailEnd type="none" w="med" len="med"/>
                    </a:lnR>
                    <a:lnT w="0" cap="flat" cmpd="sng" algn="ctr">
                      <a:solidFill>
                        <a:srgbClr val="688BF7"/>
                      </a:solidFill>
                      <a:prstDash val="solid"/>
                      <a:round/>
                      <a:headEnd type="none" w="med" len="med"/>
                      <a:tailEnd type="none" w="med" len="med"/>
                    </a:lnT>
                    <a:lnB w="19632" cap="flat" cmpd="sng" algn="ctr">
                      <a:solidFill>
                        <a:srgbClr val="D9D9D9"/>
                      </a:solidFill>
                      <a:prstDash val="solid"/>
                      <a:round/>
                      <a:headEnd type="none" w="med" len="med"/>
                      <a:tailEnd type="none" w="med" len="med"/>
                    </a:lnB>
                    <a:solidFill>
                      <a:srgbClr val="86B0E7"/>
                    </a:solidFill>
                  </a:tcPr>
                </a:tc>
                <a:tc>
                  <a:txBody>
                    <a:bodyPr/>
                    <a:lstStyle/>
                    <a:p>
                      <a:pPr algn="ctr">
                        <a:lnSpc>
                          <a:spcPts val="2452"/>
                        </a:lnSpc>
                        <a:defRPr/>
                      </a:pPr>
                      <a:r>
                        <a:rPr lang="en-US" sz="1751" b="1">
                          <a:solidFill>
                            <a:srgbClr val="FFFFFF"/>
                          </a:solidFill>
                          <a:latin typeface="JASO Sans Bold"/>
                          <a:ea typeface="JASO Sans Bold"/>
                          <a:cs typeface="JASO Sans Bold"/>
                          <a:sym typeface="JASO Sans Bold"/>
                        </a:rPr>
                        <a:t>3월</a:t>
                      </a: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0" cap="flat" cmpd="sng" algn="ctr">
                      <a:solidFill>
                        <a:srgbClr val="688BF7"/>
                      </a:solidFill>
                      <a:prstDash val="solid"/>
                      <a:round/>
                      <a:headEnd type="none" w="med" len="med"/>
                      <a:tailEnd type="none" w="med" len="med"/>
                    </a:lnT>
                    <a:lnB w="19632" cap="flat" cmpd="sng" algn="ctr">
                      <a:solidFill>
                        <a:srgbClr val="D9D9D9"/>
                      </a:solidFill>
                      <a:prstDash val="solid"/>
                      <a:round/>
                      <a:headEnd type="none" w="med" len="med"/>
                      <a:tailEnd type="none" w="med" len="med"/>
                    </a:lnB>
                    <a:solidFill>
                      <a:srgbClr val="86B0E7"/>
                    </a:solidFill>
                  </a:tcPr>
                </a:tc>
                <a:tc>
                  <a:txBody>
                    <a:bodyPr/>
                    <a:lstStyle/>
                    <a:p>
                      <a:pPr algn="ctr">
                        <a:lnSpc>
                          <a:spcPts val="2452"/>
                        </a:lnSpc>
                        <a:defRPr/>
                      </a:pPr>
                      <a:r>
                        <a:rPr lang="en-US" sz="1751" b="1">
                          <a:solidFill>
                            <a:srgbClr val="FFFFFF"/>
                          </a:solidFill>
                          <a:latin typeface="JASO Sans Bold"/>
                          <a:ea typeface="JASO Sans Bold"/>
                          <a:cs typeface="JASO Sans Bold"/>
                          <a:sym typeface="JASO Sans Bold"/>
                        </a:rPr>
                        <a:t>5월</a:t>
                      </a: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0" cap="flat" cmpd="sng" algn="ctr">
                      <a:solidFill>
                        <a:srgbClr val="688BF7"/>
                      </a:solidFill>
                      <a:prstDash val="solid"/>
                      <a:round/>
                      <a:headEnd type="none" w="med" len="med"/>
                      <a:tailEnd type="none" w="med" len="med"/>
                    </a:lnT>
                    <a:lnB w="19632" cap="flat" cmpd="sng" algn="ctr">
                      <a:solidFill>
                        <a:srgbClr val="D9D9D9"/>
                      </a:solidFill>
                      <a:prstDash val="solid"/>
                      <a:round/>
                      <a:headEnd type="none" w="med" len="med"/>
                      <a:tailEnd type="none" w="med" len="med"/>
                    </a:lnB>
                    <a:solidFill>
                      <a:srgbClr val="86B0E7"/>
                    </a:solidFill>
                  </a:tcPr>
                </a:tc>
                <a:tc>
                  <a:txBody>
                    <a:bodyPr/>
                    <a:lstStyle/>
                    <a:p>
                      <a:pPr algn="ctr">
                        <a:lnSpc>
                          <a:spcPts val="2452"/>
                        </a:lnSpc>
                        <a:defRPr/>
                      </a:pPr>
                      <a:r>
                        <a:rPr lang="en-US" sz="1751" b="1">
                          <a:solidFill>
                            <a:srgbClr val="FFFFFF"/>
                          </a:solidFill>
                          <a:latin typeface="JASO Sans Bold"/>
                          <a:ea typeface="JASO Sans Bold"/>
                          <a:cs typeface="JASO Sans Bold"/>
                          <a:sym typeface="JASO Sans Bold"/>
                        </a:rPr>
                        <a:t>4월</a:t>
                      </a: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0" cap="flat" cmpd="sng" algn="ctr">
                      <a:solidFill>
                        <a:srgbClr val="688BF7"/>
                      </a:solidFill>
                      <a:prstDash val="solid"/>
                      <a:round/>
                      <a:headEnd type="none" w="med" len="med"/>
                      <a:tailEnd type="none" w="med" len="med"/>
                    </a:lnT>
                    <a:lnB w="19632" cap="flat" cmpd="sng" algn="ctr">
                      <a:solidFill>
                        <a:srgbClr val="D9D9D9"/>
                      </a:solidFill>
                      <a:prstDash val="solid"/>
                      <a:round/>
                      <a:headEnd type="none" w="med" len="med"/>
                      <a:tailEnd type="none" w="med" len="med"/>
                    </a:lnB>
                    <a:solidFill>
                      <a:srgbClr val="86B0E7"/>
                    </a:solidFill>
                  </a:tcPr>
                </a:tc>
                <a:tc>
                  <a:txBody>
                    <a:bodyPr/>
                    <a:lstStyle/>
                    <a:p>
                      <a:pPr algn="ctr">
                        <a:lnSpc>
                          <a:spcPts val="2452"/>
                        </a:lnSpc>
                        <a:defRPr/>
                      </a:pPr>
                      <a:r>
                        <a:rPr lang="en-US" sz="1751" b="1">
                          <a:solidFill>
                            <a:srgbClr val="FFFFFF"/>
                          </a:solidFill>
                          <a:latin typeface="JASO Sans Bold"/>
                          <a:ea typeface="JASO Sans Bold"/>
                          <a:cs typeface="JASO Sans Bold"/>
                          <a:sym typeface="JASO Sans Bold"/>
                        </a:rPr>
                        <a:t>6월</a:t>
                      </a: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0" cap="flat" cmpd="sng" algn="ctr">
                      <a:solidFill>
                        <a:srgbClr val="688BF7"/>
                      </a:solidFill>
                      <a:prstDash val="solid"/>
                      <a:round/>
                      <a:headEnd type="none" w="med" len="med"/>
                      <a:tailEnd type="none" w="med" len="med"/>
                    </a:lnT>
                    <a:lnB w="19632" cap="flat" cmpd="sng" algn="ctr">
                      <a:solidFill>
                        <a:srgbClr val="D9D9D9"/>
                      </a:solidFill>
                      <a:prstDash val="solid"/>
                      <a:round/>
                      <a:headEnd type="none" w="med" len="med"/>
                      <a:tailEnd type="none" w="med" len="med"/>
                    </a:lnB>
                    <a:solidFill>
                      <a:srgbClr val="86B0E7"/>
                    </a:solidFill>
                  </a:tcPr>
                </a:tc>
                <a:tc>
                  <a:txBody>
                    <a:bodyPr/>
                    <a:lstStyle/>
                    <a:p>
                      <a:pPr algn="ctr">
                        <a:lnSpc>
                          <a:spcPts val="2452"/>
                        </a:lnSpc>
                        <a:defRPr/>
                      </a:pPr>
                      <a:r>
                        <a:rPr lang="en-US" sz="1751" b="1">
                          <a:solidFill>
                            <a:srgbClr val="FFFFFF"/>
                          </a:solidFill>
                          <a:latin typeface="JASO Sans Bold"/>
                          <a:ea typeface="JASO Sans Bold"/>
                          <a:cs typeface="JASO Sans Bold"/>
                          <a:sym typeface="JASO Sans Bold"/>
                        </a:rPr>
                        <a:t>7월</a:t>
                      </a: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0" cap="flat" cmpd="sng" algn="ctr">
                      <a:solidFill>
                        <a:srgbClr val="688BF7"/>
                      </a:solidFill>
                      <a:prstDash val="solid"/>
                      <a:round/>
                      <a:headEnd type="none" w="med" len="med"/>
                      <a:tailEnd type="none" w="med" len="med"/>
                    </a:lnT>
                    <a:lnB w="19632" cap="flat" cmpd="sng" algn="ctr">
                      <a:solidFill>
                        <a:srgbClr val="D9D9D9"/>
                      </a:solidFill>
                      <a:prstDash val="solid"/>
                      <a:round/>
                      <a:headEnd type="none" w="med" len="med"/>
                      <a:tailEnd type="none" w="med" len="med"/>
                    </a:lnB>
                    <a:solidFill>
                      <a:srgbClr val="86B0E7"/>
                    </a:solidFill>
                  </a:tcPr>
                </a:tc>
                <a:tc>
                  <a:txBody>
                    <a:bodyPr/>
                    <a:lstStyle/>
                    <a:p>
                      <a:pPr algn="ctr">
                        <a:lnSpc>
                          <a:spcPts val="2452"/>
                        </a:lnSpc>
                        <a:defRPr/>
                      </a:pPr>
                      <a:r>
                        <a:rPr lang="en-US" sz="1751" b="1">
                          <a:solidFill>
                            <a:srgbClr val="FFFFFF"/>
                          </a:solidFill>
                          <a:latin typeface="JASO Sans Bold"/>
                          <a:ea typeface="JASO Sans Bold"/>
                          <a:cs typeface="JASO Sans Bold"/>
                          <a:sym typeface="JASO Sans Bold"/>
                        </a:rPr>
                        <a:t>8월</a:t>
                      </a: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0" cap="flat" cmpd="sng" algn="ctr">
                      <a:solidFill>
                        <a:srgbClr val="688BF7"/>
                      </a:solidFill>
                      <a:prstDash val="solid"/>
                      <a:round/>
                      <a:headEnd type="none" w="med" len="med"/>
                      <a:tailEnd type="none" w="med" len="med"/>
                    </a:lnT>
                    <a:lnB w="19632" cap="flat" cmpd="sng" algn="ctr">
                      <a:solidFill>
                        <a:srgbClr val="D9D9D9"/>
                      </a:solidFill>
                      <a:prstDash val="solid"/>
                      <a:round/>
                      <a:headEnd type="none" w="med" len="med"/>
                      <a:tailEnd type="none" w="med" len="med"/>
                    </a:lnB>
                    <a:solidFill>
                      <a:srgbClr val="86B0E7"/>
                    </a:solidFill>
                  </a:tcPr>
                </a:tc>
                <a:tc>
                  <a:txBody>
                    <a:bodyPr/>
                    <a:lstStyle/>
                    <a:p>
                      <a:pPr algn="ctr">
                        <a:lnSpc>
                          <a:spcPts val="2452"/>
                        </a:lnSpc>
                        <a:defRPr/>
                      </a:pPr>
                      <a:r>
                        <a:rPr lang="en-US" sz="1751" b="1">
                          <a:solidFill>
                            <a:srgbClr val="FFFFFF"/>
                          </a:solidFill>
                          <a:latin typeface="JASO Sans Bold"/>
                          <a:ea typeface="JASO Sans Bold"/>
                          <a:cs typeface="JASO Sans Bold"/>
                          <a:sym typeface="JASO Sans Bold"/>
                        </a:rPr>
                        <a:t>9월</a:t>
                      </a: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0" cap="flat" cmpd="sng" algn="ctr">
                      <a:solidFill>
                        <a:srgbClr val="688BF7"/>
                      </a:solidFill>
                      <a:prstDash val="solid"/>
                      <a:round/>
                      <a:headEnd type="none" w="med" len="med"/>
                      <a:tailEnd type="none" w="med" len="med"/>
                    </a:lnT>
                    <a:lnB w="19632" cap="flat" cmpd="sng" algn="ctr">
                      <a:solidFill>
                        <a:srgbClr val="D9D9D9"/>
                      </a:solidFill>
                      <a:prstDash val="solid"/>
                      <a:round/>
                      <a:headEnd type="none" w="med" len="med"/>
                      <a:tailEnd type="none" w="med" len="med"/>
                    </a:lnB>
                    <a:solidFill>
                      <a:srgbClr val="86B0E7"/>
                    </a:solidFill>
                  </a:tcPr>
                </a:tc>
                <a:tc>
                  <a:txBody>
                    <a:bodyPr/>
                    <a:lstStyle/>
                    <a:p>
                      <a:pPr algn="ctr">
                        <a:lnSpc>
                          <a:spcPts val="2452"/>
                        </a:lnSpc>
                        <a:defRPr/>
                      </a:pPr>
                      <a:r>
                        <a:rPr lang="en-US" sz="1751" b="1">
                          <a:solidFill>
                            <a:srgbClr val="FFFFFF"/>
                          </a:solidFill>
                          <a:latin typeface="JASO Sans Bold"/>
                          <a:ea typeface="JASO Sans Bold"/>
                          <a:cs typeface="JASO Sans Bold"/>
                          <a:sym typeface="JASO Sans Bold"/>
                        </a:rPr>
                        <a:t>10월</a:t>
                      </a: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0" cap="flat" cmpd="sng" algn="ctr">
                      <a:solidFill>
                        <a:srgbClr val="688BF7"/>
                      </a:solidFill>
                      <a:prstDash val="solid"/>
                      <a:round/>
                      <a:headEnd type="none" w="med" len="med"/>
                      <a:tailEnd type="none" w="med" len="med"/>
                    </a:lnT>
                    <a:lnB w="19632" cap="flat" cmpd="sng" algn="ctr">
                      <a:solidFill>
                        <a:srgbClr val="D9D9D9"/>
                      </a:solidFill>
                      <a:prstDash val="solid"/>
                      <a:round/>
                      <a:headEnd type="none" w="med" len="med"/>
                      <a:tailEnd type="none" w="med" len="med"/>
                    </a:lnB>
                    <a:solidFill>
                      <a:srgbClr val="86B0E7"/>
                    </a:solidFill>
                  </a:tcPr>
                </a:tc>
                <a:tc>
                  <a:txBody>
                    <a:bodyPr/>
                    <a:lstStyle/>
                    <a:p>
                      <a:pPr algn="ctr">
                        <a:lnSpc>
                          <a:spcPts val="2452"/>
                        </a:lnSpc>
                        <a:defRPr/>
                      </a:pPr>
                      <a:r>
                        <a:rPr lang="en-US" sz="1751" b="1">
                          <a:solidFill>
                            <a:srgbClr val="FFFFFF"/>
                          </a:solidFill>
                          <a:latin typeface="JASO Sans Bold"/>
                          <a:ea typeface="JASO Sans Bold"/>
                          <a:cs typeface="JASO Sans Bold"/>
                          <a:sym typeface="JASO Sans Bold"/>
                        </a:rPr>
                        <a:t>11월</a:t>
                      </a: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0" cap="flat" cmpd="sng" algn="ctr">
                      <a:solidFill>
                        <a:srgbClr val="688BF7"/>
                      </a:solidFill>
                      <a:prstDash val="solid"/>
                      <a:round/>
                      <a:headEnd type="none" w="med" len="med"/>
                      <a:tailEnd type="none" w="med" len="med"/>
                    </a:lnT>
                    <a:lnB w="19632" cap="flat" cmpd="sng" algn="ctr">
                      <a:solidFill>
                        <a:srgbClr val="D9D9D9"/>
                      </a:solidFill>
                      <a:prstDash val="solid"/>
                      <a:round/>
                      <a:headEnd type="none" w="med" len="med"/>
                      <a:tailEnd type="none" w="med" len="med"/>
                    </a:lnB>
                    <a:solidFill>
                      <a:srgbClr val="86B0E7"/>
                    </a:solidFill>
                  </a:tcPr>
                </a:tc>
                <a:tc>
                  <a:txBody>
                    <a:bodyPr/>
                    <a:lstStyle/>
                    <a:p>
                      <a:pPr algn="ctr">
                        <a:lnSpc>
                          <a:spcPts val="2452"/>
                        </a:lnSpc>
                        <a:defRPr/>
                      </a:pPr>
                      <a:r>
                        <a:rPr lang="en-US" sz="1751" b="1">
                          <a:solidFill>
                            <a:srgbClr val="FFFFFF"/>
                          </a:solidFill>
                          <a:latin typeface="JASO Sans Bold"/>
                          <a:ea typeface="JASO Sans Bold"/>
                          <a:cs typeface="JASO Sans Bold"/>
                          <a:sym typeface="JASO Sans Bold"/>
                        </a:rPr>
                        <a:t>12월</a:t>
                      </a: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0" cap="flat" cmpd="sng" algn="ctr">
                      <a:solidFill>
                        <a:srgbClr val="688BF7"/>
                      </a:solidFill>
                      <a:prstDash val="solid"/>
                      <a:round/>
                      <a:headEnd type="none" w="med" len="med"/>
                      <a:tailEnd type="none" w="med" len="med"/>
                    </a:lnT>
                    <a:lnB w="19632" cap="flat" cmpd="sng" algn="ctr">
                      <a:solidFill>
                        <a:srgbClr val="D9D9D9"/>
                      </a:solidFill>
                      <a:prstDash val="solid"/>
                      <a:round/>
                      <a:headEnd type="none" w="med" len="med"/>
                      <a:tailEnd type="none" w="med" len="med"/>
                    </a:lnB>
                    <a:solidFill>
                      <a:srgbClr val="86B0E7"/>
                    </a:solidFill>
                  </a:tcPr>
                </a:tc>
                <a:extLst>
                  <a:ext uri="{0D108BD9-81ED-4DB2-BD59-A6C34878D82A}">
                    <a16:rowId xmlns:a16="http://schemas.microsoft.com/office/drawing/2014/main" val="10000"/>
                  </a:ext>
                </a:extLst>
              </a:tr>
              <a:tr h="1387726">
                <a:tc>
                  <a:txBody>
                    <a:bodyPr/>
                    <a:lstStyle/>
                    <a:p>
                      <a:pPr marL="0" lvl="0" indent="0" algn="ctr">
                        <a:lnSpc>
                          <a:spcPts val="2452"/>
                        </a:lnSpc>
                        <a:spcBef>
                          <a:spcPct val="0"/>
                        </a:spcBef>
                        <a:defRPr/>
                      </a:pPr>
                      <a:r>
                        <a:rPr lang="en-US" sz="1751" b="1">
                          <a:solidFill>
                            <a:srgbClr val="434343"/>
                          </a:solidFill>
                          <a:latin typeface="JASO Sans Bold"/>
                          <a:ea typeface="JASO Sans Bold"/>
                          <a:cs typeface="JASO Sans Bold"/>
                          <a:sym typeface="JASO Sans Bold"/>
                        </a:rPr>
                        <a:t>재구매 활성화, 재고 정리</a:t>
                      </a: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D9D9D9"/>
                      </a:solidFill>
                      <a:prstDash val="solid"/>
                      <a:round/>
                      <a:headEnd type="none" w="med" len="med"/>
                      <a:tailEnd type="none" w="med" len="med"/>
                    </a:lnR>
                    <a:lnT w="19632" cap="flat" cmpd="sng" algn="ctr">
                      <a:solidFill>
                        <a:srgbClr val="FFFFFF"/>
                      </a:solidFill>
                      <a:prstDash val="solid"/>
                      <a:round/>
                      <a:headEnd type="none" w="med" len="med"/>
                      <a:tailEnd type="none" w="med" len="med"/>
                    </a:lnT>
                    <a:lnB w="19632" cap="flat" cmpd="sng" algn="ctr">
                      <a:solidFill>
                        <a:srgbClr val="FFFFFF"/>
                      </a:solidFill>
                      <a:prstDash val="solid"/>
                      <a:round/>
                      <a:headEnd type="none" w="med" len="med"/>
                      <a:tailEnd type="none" w="med" len="med"/>
                    </a:lnB>
                    <a:solidFill>
                      <a:srgbClr val="EDF3FB"/>
                    </a:solidFill>
                  </a:tcPr>
                </a:tc>
                <a:tc>
                  <a:txBody>
                    <a:bodyPr/>
                    <a:lstStyle/>
                    <a:p>
                      <a:pPr algn="ctr">
                        <a:lnSpc>
                          <a:spcPts val="2741"/>
                        </a:lnSpc>
                        <a:defRPr/>
                      </a:pPr>
                      <a:endParaRPr lang="en-US" sz="1100"/>
                    </a:p>
                  </a:txBody>
                  <a:tcPr marL="0" marR="0" marT="0" marB="0" anchor="ctr">
                    <a:lnL w="0" cap="flat" cmpd="sng" algn="ctr">
                      <a:solidFill>
                        <a:srgbClr val="D9D9D9"/>
                      </a:solidFill>
                      <a:prstDash val="solid"/>
                      <a:round/>
                      <a:headEnd type="none" w="med" len="med"/>
                      <a:tailEnd type="none" w="med" len="med"/>
                    </a:lnL>
                    <a:lnR w="0" cap="flat" cmpd="sng" algn="ctr">
                      <a:solidFill>
                        <a:srgbClr val="B4B4B4"/>
                      </a:solidFill>
                      <a:prstDash val="solid"/>
                      <a:round/>
                      <a:headEnd type="none" w="med" len="med"/>
                      <a:tailEnd type="none" w="med" len="med"/>
                    </a:lnR>
                    <a:lnT w="19632" cap="flat" cmpd="sng" algn="ctr">
                      <a:solidFill>
                        <a:srgbClr val="D9D9D9"/>
                      </a:solidFill>
                      <a:prstDash val="solid"/>
                      <a:round/>
                      <a:headEnd type="none" w="med" len="med"/>
                      <a:tailEnd type="none" w="med" len="med"/>
                    </a:lnT>
                    <a:lnB w="19632" cap="flat" cmpd="sng" algn="ctr">
                      <a:solidFill>
                        <a:srgbClr val="D9D9D9"/>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19632" cap="flat" cmpd="sng" algn="ctr">
                      <a:solidFill>
                        <a:srgbClr val="D9D9D9"/>
                      </a:solidFill>
                      <a:prstDash val="solid"/>
                      <a:round/>
                      <a:headEnd type="none" w="med" len="med"/>
                      <a:tailEnd type="none" w="med" len="med"/>
                    </a:lnT>
                    <a:lnB w="19632" cap="flat" cmpd="sng" algn="ctr">
                      <a:solidFill>
                        <a:srgbClr val="D9D9D9"/>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19632" cap="flat" cmpd="sng" algn="ctr">
                      <a:solidFill>
                        <a:srgbClr val="D9D9D9"/>
                      </a:solidFill>
                      <a:prstDash val="solid"/>
                      <a:round/>
                      <a:headEnd type="none" w="med" len="med"/>
                      <a:tailEnd type="none" w="med" len="med"/>
                    </a:lnT>
                    <a:lnB w="19632" cap="flat" cmpd="sng" algn="ctr">
                      <a:solidFill>
                        <a:srgbClr val="D9D9D9"/>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19632" cap="flat" cmpd="sng" algn="ctr">
                      <a:solidFill>
                        <a:srgbClr val="D9D9D9"/>
                      </a:solidFill>
                      <a:prstDash val="solid"/>
                      <a:round/>
                      <a:headEnd type="none" w="med" len="med"/>
                      <a:tailEnd type="none" w="med" len="med"/>
                    </a:lnT>
                    <a:lnB w="19632" cap="flat" cmpd="sng" algn="ctr">
                      <a:solidFill>
                        <a:srgbClr val="D9D9D9"/>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19632" cap="flat" cmpd="sng" algn="ctr">
                      <a:solidFill>
                        <a:srgbClr val="D9D9D9"/>
                      </a:solidFill>
                      <a:prstDash val="solid"/>
                      <a:round/>
                      <a:headEnd type="none" w="med" len="med"/>
                      <a:tailEnd type="none" w="med" len="med"/>
                    </a:lnT>
                    <a:lnB w="19632" cap="flat" cmpd="sng" algn="ctr">
                      <a:solidFill>
                        <a:srgbClr val="D9D9D9"/>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19632" cap="flat" cmpd="sng" algn="ctr">
                      <a:solidFill>
                        <a:srgbClr val="D9D9D9"/>
                      </a:solidFill>
                      <a:prstDash val="solid"/>
                      <a:round/>
                      <a:headEnd type="none" w="med" len="med"/>
                      <a:tailEnd type="none" w="med" len="med"/>
                    </a:lnT>
                    <a:lnB w="19632" cap="flat" cmpd="sng" algn="ctr">
                      <a:solidFill>
                        <a:srgbClr val="D9D9D9"/>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19632" cap="flat" cmpd="sng" algn="ctr">
                      <a:solidFill>
                        <a:srgbClr val="D9D9D9"/>
                      </a:solidFill>
                      <a:prstDash val="solid"/>
                      <a:round/>
                      <a:headEnd type="none" w="med" len="med"/>
                      <a:tailEnd type="none" w="med" len="med"/>
                    </a:lnT>
                    <a:lnB w="19632" cap="flat" cmpd="sng" algn="ctr">
                      <a:solidFill>
                        <a:srgbClr val="D9D9D9"/>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19632" cap="flat" cmpd="sng" algn="ctr">
                      <a:solidFill>
                        <a:srgbClr val="D9D9D9"/>
                      </a:solidFill>
                      <a:prstDash val="solid"/>
                      <a:round/>
                      <a:headEnd type="none" w="med" len="med"/>
                      <a:tailEnd type="none" w="med" len="med"/>
                    </a:lnT>
                    <a:lnB w="19632" cap="flat" cmpd="sng" algn="ctr">
                      <a:solidFill>
                        <a:srgbClr val="D9D9D9"/>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19632" cap="flat" cmpd="sng" algn="ctr">
                      <a:solidFill>
                        <a:srgbClr val="D9D9D9"/>
                      </a:solidFill>
                      <a:prstDash val="solid"/>
                      <a:round/>
                      <a:headEnd type="none" w="med" len="med"/>
                      <a:tailEnd type="none" w="med" len="med"/>
                    </a:lnT>
                    <a:lnB w="19632" cap="flat" cmpd="sng" algn="ctr">
                      <a:solidFill>
                        <a:srgbClr val="D9D9D9"/>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19632" cap="flat" cmpd="sng" algn="ctr">
                      <a:solidFill>
                        <a:srgbClr val="D9D9D9"/>
                      </a:solidFill>
                      <a:prstDash val="solid"/>
                      <a:round/>
                      <a:headEnd type="none" w="med" len="med"/>
                      <a:tailEnd type="none" w="med" len="med"/>
                    </a:lnT>
                    <a:lnB w="19632" cap="flat" cmpd="sng" algn="ctr">
                      <a:solidFill>
                        <a:srgbClr val="D9D9D9"/>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19632" cap="flat" cmpd="sng" algn="ctr">
                      <a:solidFill>
                        <a:srgbClr val="D9D9D9"/>
                      </a:solidFill>
                      <a:prstDash val="solid"/>
                      <a:round/>
                      <a:headEnd type="none" w="med" len="med"/>
                      <a:tailEnd type="none" w="med" len="med"/>
                    </a:lnT>
                    <a:lnB w="19632" cap="flat" cmpd="sng" algn="ctr">
                      <a:solidFill>
                        <a:srgbClr val="D9D9D9"/>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19632" cap="flat" cmpd="sng" algn="ctr">
                      <a:solidFill>
                        <a:srgbClr val="D9D9D9"/>
                      </a:solidFill>
                      <a:prstDash val="solid"/>
                      <a:round/>
                      <a:headEnd type="none" w="med" len="med"/>
                      <a:tailEnd type="none" w="med" len="med"/>
                    </a:lnT>
                    <a:lnB w="19632"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1387726">
                <a:tc>
                  <a:txBody>
                    <a:bodyPr/>
                    <a:lstStyle/>
                    <a:p>
                      <a:pPr marL="0" lvl="0" indent="0" algn="ctr">
                        <a:lnSpc>
                          <a:spcPts val="2452"/>
                        </a:lnSpc>
                        <a:spcBef>
                          <a:spcPct val="0"/>
                        </a:spcBef>
                        <a:defRPr/>
                      </a:pPr>
                      <a:r>
                        <a:rPr lang="en-US" sz="1751" b="1">
                          <a:solidFill>
                            <a:srgbClr val="434343"/>
                          </a:solidFill>
                          <a:latin typeface="JASO Sans Bold"/>
                          <a:ea typeface="JASO Sans Bold"/>
                          <a:cs typeface="JASO Sans Bold"/>
                          <a:sym typeface="JASO Sans Bold"/>
                        </a:rPr>
                        <a:t>핵심 상품 집중 판매</a:t>
                      </a: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D9D9D9"/>
                      </a:solidFill>
                      <a:prstDash val="solid"/>
                      <a:round/>
                      <a:headEnd type="none" w="med" len="med"/>
                      <a:tailEnd type="none" w="med" len="med"/>
                    </a:lnR>
                    <a:lnT w="19632" cap="flat" cmpd="sng" algn="ctr">
                      <a:solidFill>
                        <a:srgbClr val="FFFFFF"/>
                      </a:solidFill>
                      <a:prstDash val="solid"/>
                      <a:round/>
                      <a:headEnd type="none" w="med" len="med"/>
                      <a:tailEnd type="none" w="med" len="med"/>
                    </a:lnT>
                    <a:lnB w="19632" cap="flat" cmpd="sng" algn="ctr">
                      <a:solidFill>
                        <a:srgbClr val="FFFFFF"/>
                      </a:solidFill>
                      <a:prstDash val="solid"/>
                      <a:round/>
                      <a:headEnd type="none" w="med" len="med"/>
                      <a:tailEnd type="none" w="med" len="med"/>
                    </a:lnB>
                    <a:solidFill>
                      <a:srgbClr val="EDF3FB"/>
                    </a:solidFill>
                  </a:tcPr>
                </a:tc>
                <a:tc>
                  <a:txBody>
                    <a:bodyPr/>
                    <a:lstStyle/>
                    <a:p>
                      <a:pPr algn="ctr">
                        <a:lnSpc>
                          <a:spcPts val="2741"/>
                        </a:lnSpc>
                        <a:defRPr/>
                      </a:pPr>
                      <a:endParaRPr lang="en-US" sz="1100"/>
                    </a:p>
                  </a:txBody>
                  <a:tcPr marL="0" marR="0" marT="0" marB="0" anchor="ctr">
                    <a:lnL w="0" cap="flat" cmpd="sng" algn="ctr">
                      <a:solidFill>
                        <a:srgbClr val="D9D9D9"/>
                      </a:solidFill>
                      <a:prstDash val="solid"/>
                      <a:round/>
                      <a:headEnd type="none" w="med" len="med"/>
                      <a:tailEnd type="none" w="med" len="med"/>
                    </a:lnL>
                    <a:lnR w="0" cap="flat" cmpd="sng" algn="ctr">
                      <a:solidFill>
                        <a:srgbClr val="B4B4B4"/>
                      </a:solidFill>
                      <a:prstDash val="solid"/>
                      <a:round/>
                      <a:headEnd type="none" w="med" len="med"/>
                      <a:tailEnd type="none" w="med" len="med"/>
                    </a:lnR>
                    <a:lnT w="19632" cap="flat" cmpd="sng" algn="ctr">
                      <a:solidFill>
                        <a:srgbClr val="D9D9D9"/>
                      </a:solidFill>
                      <a:prstDash val="solid"/>
                      <a:round/>
                      <a:headEnd type="none" w="med" len="med"/>
                      <a:tailEnd type="none" w="med" len="med"/>
                    </a:lnT>
                    <a:lnB w="19632" cap="flat" cmpd="sng" algn="ctr">
                      <a:solidFill>
                        <a:srgbClr val="D9D9D9"/>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19632" cap="flat" cmpd="sng" algn="ctr">
                      <a:solidFill>
                        <a:srgbClr val="D9D9D9"/>
                      </a:solidFill>
                      <a:prstDash val="solid"/>
                      <a:round/>
                      <a:headEnd type="none" w="med" len="med"/>
                      <a:tailEnd type="none" w="med" len="med"/>
                    </a:lnT>
                    <a:lnB w="19632" cap="flat" cmpd="sng" algn="ctr">
                      <a:solidFill>
                        <a:srgbClr val="D9D9D9"/>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19632" cap="flat" cmpd="sng" algn="ctr">
                      <a:solidFill>
                        <a:srgbClr val="D9D9D9"/>
                      </a:solidFill>
                      <a:prstDash val="solid"/>
                      <a:round/>
                      <a:headEnd type="none" w="med" len="med"/>
                      <a:tailEnd type="none" w="med" len="med"/>
                    </a:lnT>
                    <a:lnB w="19632" cap="flat" cmpd="sng" algn="ctr">
                      <a:solidFill>
                        <a:srgbClr val="D9D9D9"/>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19632" cap="flat" cmpd="sng" algn="ctr">
                      <a:solidFill>
                        <a:srgbClr val="D9D9D9"/>
                      </a:solidFill>
                      <a:prstDash val="solid"/>
                      <a:round/>
                      <a:headEnd type="none" w="med" len="med"/>
                      <a:tailEnd type="none" w="med" len="med"/>
                    </a:lnT>
                    <a:lnB w="19632" cap="flat" cmpd="sng" algn="ctr">
                      <a:solidFill>
                        <a:srgbClr val="D9D9D9"/>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19632" cap="flat" cmpd="sng" algn="ctr">
                      <a:solidFill>
                        <a:srgbClr val="D9D9D9"/>
                      </a:solidFill>
                      <a:prstDash val="solid"/>
                      <a:round/>
                      <a:headEnd type="none" w="med" len="med"/>
                      <a:tailEnd type="none" w="med" len="med"/>
                    </a:lnT>
                    <a:lnB w="19632" cap="flat" cmpd="sng" algn="ctr">
                      <a:solidFill>
                        <a:srgbClr val="D9D9D9"/>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19632" cap="flat" cmpd="sng" algn="ctr">
                      <a:solidFill>
                        <a:srgbClr val="D9D9D9"/>
                      </a:solidFill>
                      <a:prstDash val="solid"/>
                      <a:round/>
                      <a:headEnd type="none" w="med" len="med"/>
                      <a:tailEnd type="none" w="med" len="med"/>
                    </a:lnT>
                    <a:lnB w="19632" cap="flat" cmpd="sng" algn="ctr">
                      <a:solidFill>
                        <a:srgbClr val="D9D9D9"/>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19632" cap="flat" cmpd="sng" algn="ctr">
                      <a:solidFill>
                        <a:srgbClr val="D9D9D9"/>
                      </a:solidFill>
                      <a:prstDash val="solid"/>
                      <a:round/>
                      <a:headEnd type="none" w="med" len="med"/>
                      <a:tailEnd type="none" w="med" len="med"/>
                    </a:lnT>
                    <a:lnB w="19632" cap="flat" cmpd="sng" algn="ctr">
                      <a:solidFill>
                        <a:srgbClr val="D9D9D9"/>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19632" cap="flat" cmpd="sng" algn="ctr">
                      <a:solidFill>
                        <a:srgbClr val="D9D9D9"/>
                      </a:solidFill>
                      <a:prstDash val="solid"/>
                      <a:round/>
                      <a:headEnd type="none" w="med" len="med"/>
                      <a:tailEnd type="none" w="med" len="med"/>
                    </a:lnT>
                    <a:lnB w="19632" cap="flat" cmpd="sng" algn="ctr">
                      <a:solidFill>
                        <a:srgbClr val="D9D9D9"/>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19632" cap="flat" cmpd="sng" algn="ctr">
                      <a:solidFill>
                        <a:srgbClr val="D9D9D9"/>
                      </a:solidFill>
                      <a:prstDash val="solid"/>
                      <a:round/>
                      <a:headEnd type="none" w="med" len="med"/>
                      <a:tailEnd type="none" w="med" len="med"/>
                    </a:lnT>
                    <a:lnB w="19632" cap="flat" cmpd="sng" algn="ctr">
                      <a:solidFill>
                        <a:srgbClr val="D9D9D9"/>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19632" cap="flat" cmpd="sng" algn="ctr">
                      <a:solidFill>
                        <a:srgbClr val="D9D9D9"/>
                      </a:solidFill>
                      <a:prstDash val="solid"/>
                      <a:round/>
                      <a:headEnd type="none" w="med" len="med"/>
                      <a:tailEnd type="none" w="med" len="med"/>
                    </a:lnT>
                    <a:lnB w="19632" cap="flat" cmpd="sng" algn="ctr">
                      <a:solidFill>
                        <a:srgbClr val="D9D9D9"/>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19632" cap="flat" cmpd="sng" algn="ctr">
                      <a:solidFill>
                        <a:srgbClr val="D9D9D9"/>
                      </a:solidFill>
                      <a:prstDash val="solid"/>
                      <a:round/>
                      <a:headEnd type="none" w="med" len="med"/>
                      <a:tailEnd type="none" w="med" len="med"/>
                    </a:lnT>
                    <a:lnB w="19632" cap="flat" cmpd="sng" algn="ctr">
                      <a:solidFill>
                        <a:srgbClr val="D9D9D9"/>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19632" cap="flat" cmpd="sng" algn="ctr">
                      <a:solidFill>
                        <a:srgbClr val="D9D9D9"/>
                      </a:solidFill>
                      <a:prstDash val="solid"/>
                      <a:round/>
                      <a:headEnd type="none" w="med" len="med"/>
                      <a:tailEnd type="none" w="med" len="med"/>
                    </a:lnT>
                    <a:lnB w="19632"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1387726">
                <a:tc>
                  <a:txBody>
                    <a:bodyPr/>
                    <a:lstStyle/>
                    <a:p>
                      <a:pPr marL="0" lvl="0" indent="0" algn="ctr">
                        <a:lnSpc>
                          <a:spcPts val="2452"/>
                        </a:lnSpc>
                        <a:spcBef>
                          <a:spcPct val="0"/>
                        </a:spcBef>
                        <a:defRPr/>
                      </a:pPr>
                      <a:r>
                        <a:rPr lang="en-US" sz="1751" b="1">
                          <a:solidFill>
                            <a:srgbClr val="434343"/>
                          </a:solidFill>
                          <a:latin typeface="JASO Sans Bold"/>
                          <a:ea typeface="JASO Sans Bold"/>
                          <a:cs typeface="JASO Sans Bold"/>
                          <a:sym typeface="JASO Sans Bold"/>
                        </a:rPr>
                        <a:t>비수기 매출 방어</a:t>
                      </a: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D9D9D9"/>
                      </a:solidFill>
                      <a:prstDash val="solid"/>
                      <a:round/>
                      <a:headEnd type="none" w="med" len="med"/>
                      <a:tailEnd type="none" w="med" len="med"/>
                    </a:lnR>
                    <a:lnT w="19632" cap="flat" cmpd="sng" algn="ctr">
                      <a:solidFill>
                        <a:srgbClr val="FFFFFF"/>
                      </a:solidFill>
                      <a:prstDash val="solid"/>
                      <a:round/>
                      <a:headEnd type="none" w="med" len="med"/>
                      <a:tailEnd type="none" w="med" len="med"/>
                    </a:lnT>
                    <a:lnB w="0" cap="flat" cmpd="sng" algn="ctr">
                      <a:solidFill>
                        <a:srgbClr val="B4B4B4"/>
                      </a:solidFill>
                      <a:prstDash val="solid"/>
                      <a:round/>
                      <a:headEnd type="none" w="med" len="med"/>
                      <a:tailEnd type="none" w="med" len="med"/>
                    </a:lnB>
                    <a:solidFill>
                      <a:srgbClr val="EDF3FB"/>
                    </a:solidFill>
                  </a:tcPr>
                </a:tc>
                <a:tc>
                  <a:txBody>
                    <a:bodyPr/>
                    <a:lstStyle/>
                    <a:p>
                      <a:pPr algn="ctr">
                        <a:lnSpc>
                          <a:spcPts val="2741"/>
                        </a:lnSpc>
                        <a:defRPr/>
                      </a:pPr>
                      <a:endParaRPr lang="en-US" sz="1100"/>
                    </a:p>
                  </a:txBody>
                  <a:tcPr marL="0" marR="0" marT="0" marB="0" anchor="ctr">
                    <a:lnL w="0" cap="flat" cmpd="sng" algn="ctr">
                      <a:solidFill>
                        <a:srgbClr val="D9D9D9"/>
                      </a:solidFill>
                      <a:prstDash val="solid"/>
                      <a:round/>
                      <a:headEnd type="none" w="med" len="med"/>
                      <a:tailEnd type="none" w="med" len="med"/>
                    </a:lnL>
                    <a:lnR w="0" cap="flat" cmpd="sng" algn="ctr">
                      <a:solidFill>
                        <a:srgbClr val="B4B4B4"/>
                      </a:solidFill>
                      <a:prstDash val="solid"/>
                      <a:round/>
                      <a:headEnd type="none" w="med" len="med"/>
                      <a:tailEnd type="none" w="med" len="med"/>
                    </a:lnR>
                    <a:lnT w="19632" cap="flat" cmpd="sng" algn="ctr">
                      <a:solidFill>
                        <a:srgbClr val="D9D9D9"/>
                      </a:solidFill>
                      <a:prstDash val="solid"/>
                      <a:round/>
                      <a:headEnd type="none" w="med" len="med"/>
                      <a:tailEnd type="none" w="med" len="med"/>
                    </a:lnT>
                    <a:lnB w="0" cap="flat" cmpd="sng" algn="ctr">
                      <a:solidFill>
                        <a:srgbClr val="B4B4B4"/>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19632" cap="flat" cmpd="sng" algn="ctr">
                      <a:solidFill>
                        <a:srgbClr val="D9D9D9"/>
                      </a:solidFill>
                      <a:prstDash val="solid"/>
                      <a:round/>
                      <a:headEnd type="none" w="med" len="med"/>
                      <a:tailEnd type="none" w="med" len="med"/>
                    </a:lnT>
                    <a:lnB w="0" cap="flat" cmpd="sng" algn="ctr">
                      <a:solidFill>
                        <a:srgbClr val="B4B4B4"/>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19632" cap="flat" cmpd="sng" algn="ctr">
                      <a:solidFill>
                        <a:srgbClr val="D9D9D9"/>
                      </a:solidFill>
                      <a:prstDash val="solid"/>
                      <a:round/>
                      <a:headEnd type="none" w="med" len="med"/>
                      <a:tailEnd type="none" w="med" len="med"/>
                    </a:lnT>
                    <a:lnB w="0" cap="flat" cmpd="sng" algn="ctr">
                      <a:solidFill>
                        <a:srgbClr val="B4B4B4"/>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19632" cap="flat" cmpd="sng" algn="ctr">
                      <a:solidFill>
                        <a:srgbClr val="D9D9D9"/>
                      </a:solidFill>
                      <a:prstDash val="solid"/>
                      <a:round/>
                      <a:headEnd type="none" w="med" len="med"/>
                      <a:tailEnd type="none" w="med" len="med"/>
                    </a:lnT>
                    <a:lnB w="0" cap="flat" cmpd="sng" algn="ctr">
                      <a:solidFill>
                        <a:srgbClr val="B4B4B4"/>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19632" cap="flat" cmpd="sng" algn="ctr">
                      <a:solidFill>
                        <a:srgbClr val="D9D9D9"/>
                      </a:solidFill>
                      <a:prstDash val="solid"/>
                      <a:round/>
                      <a:headEnd type="none" w="med" len="med"/>
                      <a:tailEnd type="none" w="med" len="med"/>
                    </a:lnT>
                    <a:lnB w="0" cap="flat" cmpd="sng" algn="ctr">
                      <a:solidFill>
                        <a:srgbClr val="B4B4B4"/>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19632" cap="flat" cmpd="sng" algn="ctr">
                      <a:solidFill>
                        <a:srgbClr val="D9D9D9"/>
                      </a:solidFill>
                      <a:prstDash val="solid"/>
                      <a:round/>
                      <a:headEnd type="none" w="med" len="med"/>
                      <a:tailEnd type="none" w="med" len="med"/>
                    </a:lnT>
                    <a:lnB w="0" cap="flat" cmpd="sng" algn="ctr">
                      <a:solidFill>
                        <a:srgbClr val="B4B4B4"/>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19632" cap="flat" cmpd="sng" algn="ctr">
                      <a:solidFill>
                        <a:srgbClr val="D9D9D9"/>
                      </a:solidFill>
                      <a:prstDash val="solid"/>
                      <a:round/>
                      <a:headEnd type="none" w="med" len="med"/>
                      <a:tailEnd type="none" w="med" len="med"/>
                    </a:lnT>
                    <a:lnB w="0" cap="flat" cmpd="sng" algn="ctr">
                      <a:solidFill>
                        <a:srgbClr val="B4B4B4"/>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19632" cap="flat" cmpd="sng" algn="ctr">
                      <a:solidFill>
                        <a:srgbClr val="D9D9D9"/>
                      </a:solidFill>
                      <a:prstDash val="solid"/>
                      <a:round/>
                      <a:headEnd type="none" w="med" len="med"/>
                      <a:tailEnd type="none" w="med" len="med"/>
                    </a:lnT>
                    <a:lnB w="0" cap="flat" cmpd="sng" algn="ctr">
                      <a:solidFill>
                        <a:srgbClr val="B4B4B4"/>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19632" cap="flat" cmpd="sng" algn="ctr">
                      <a:solidFill>
                        <a:srgbClr val="D9D9D9"/>
                      </a:solidFill>
                      <a:prstDash val="solid"/>
                      <a:round/>
                      <a:headEnd type="none" w="med" len="med"/>
                      <a:tailEnd type="none" w="med" len="med"/>
                    </a:lnT>
                    <a:lnB w="0" cap="flat" cmpd="sng" algn="ctr">
                      <a:solidFill>
                        <a:srgbClr val="B4B4B4"/>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19632" cap="flat" cmpd="sng" algn="ctr">
                      <a:solidFill>
                        <a:srgbClr val="D9D9D9"/>
                      </a:solidFill>
                      <a:prstDash val="solid"/>
                      <a:round/>
                      <a:headEnd type="none" w="med" len="med"/>
                      <a:tailEnd type="none" w="med" len="med"/>
                    </a:lnT>
                    <a:lnB w="0" cap="flat" cmpd="sng" algn="ctr">
                      <a:solidFill>
                        <a:srgbClr val="B4B4B4"/>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19632" cap="flat" cmpd="sng" algn="ctr">
                      <a:solidFill>
                        <a:srgbClr val="D9D9D9"/>
                      </a:solidFill>
                      <a:prstDash val="solid"/>
                      <a:round/>
                      <a:headEnd type="none" w="med" len="med"/>
                      <a:tailEnd type="none" w="med" len="med"/>
                    </a:lnT>
                    <a:lnB w="0" cap="flat" cmpd="sng" algn="ctr">
                      <a:solidFill>
                        <a:srgbClr val="B4B4B4"/>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19632" cap="flat" cmpd="sng" algn="ctr">
                      <a:solidFill>
                        <a:srgbClr val="D9D9D9"/>
                      </a:solidFill>
                      <a:prstDash val="solid"/>
                      <a:round/>
                      <a:headEnd type="none" w="med" len="med"/>
                      <a:tailEnd type="none" w="med" len="med"/>
                    </a:lnT>
                    <a:lnB w="0" cap="flat" cmpd="sng" algn="ctr">
                      <a:solidFill>
                        <a:srgbClr val="B4B4B4"/>
                      </a:solidFill>
                      <a:prstDash val="solid"/>
                      <a:round/>
                      <a:headEnd type="none" w="med" len="med"/>
                      <a:tailEnd type="none" w="med" len="med"/>
                    </a:lnB>
                  </a:tcPr>
                </a:tc>
                <a:extLst>
                  <a:ext uri="{0D108BD9-81ED-4DB2-BD59-A6C34878D82A}">
                    <a16:rowId xmlns:a16="http://schemas.microsoft.com/office/drawing/2014/main" val="10003"/>
                  </a:ext>
                </a:extLst>
              </a:tr>
              <a:tr h="1387726">
                <a:tc>
                  <a:txBody>
                    <a:bodyPr/>
                    <a:lstStyle/>
                    <a:p>
                      <a:pPr marL="0" lvl="0" indent="0" algn="ctr">
                        <a:lnSpc>
                          <a:spcPts val="2452"/>
                        </a:lnSpc>
                        <a:spcBef>
                          <a:spcPct val="0"/>
                        </a:spcBef>
                        <a:defRPr/>
                      </a:pPr>
                      <a:r>
                        <a:rPr lang="en-US" sz="1751" b="1">
                          <a:solidFill>
                            <a:srgbClr val="434343"/>
                          </a:solidFill>
                          <a:latin typeface="JASO Sans Bold"/>
                          <a:ea typeface="JASO Sans Bold"/>
                          <a:cs typeface="JASO Sans Bold"/>
                          <a:sym typeface="JASO Sans Bold"/>
                        </a:rPr>
                        <a:t>최대 성수기 집중</a:t>
                      </a: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D9D9D9"/>
                      </a:solidFill>
                      <a:prstDash val="solid"/>
                      <a:round/>
                      <a:headEnd type="none" w="med" len="med"/>
                      <a:tailEnd type="none" w="med" len="med"/>
                    </a:lnR>
                    <a:lnT w="0" cap="flat" cmpd="sng" algn="ctr">
                      <a:solidFill>
                        <a:srgbClr val="B4B4B4"/>
                      </a:solidFill>
                      <a:prstDash val="solid"/>
                      <a:round/>
                      <a:headEnd type="none" w="med" len="med"/>
                      <a:tailEnd type="none" w="med" len="med"/>
                    </a:lnT>
                    <a:lnB w="19632" cap="flat" cmpd="sng" algn="ctr">
                      <a:solidFill>
                        <a:srgbClr val="D9D9D9"/>
                      </a:solidFill>
                      <a:prstDash val="solid"/>
                      <a:round/>
                      <a:headEnd type="none" w="med" len="med"/>
                      <a:tailEnd type="none" w="med" len="med"/>
                    </a:lnB>
                    <a:solidFill>
                      <a:srgbClr val="EDF3FB"/>
                    </a:solidFill>
                  </a:tcPr>
                </a:tc>
                <a:tc>
                  <a:txBody>
                    <a:bodyPr/>
                    <a:lstStyle/>
                    <a:p>
                      <a:pPr algn="ctr">
                        <a:lnSpc>
                          <a:spcPts val="2741"/>
                        </a:lnSpc>
                        <a:defRPr/>
                      </a:pPr>
                      <a:endParaRPr lang="en-US" sz="1100"/>
                    </a:p>
                  </a:txBody>
                  <a:tcPr marL="0" marR="0" marT="0" marB="0" anchor="ctr">
                    <a:lnL w="0" cap="flat" cmpd="sng" algn="ctr">
                      <a:solidFill>
                        <a:srgbClr val="D9D9D9"/>
                      </a:solidFill>
                      <a:prstDash val="solid"/>
                      <a:round/>
                      <a:headEnd type="none" w="med" len="med"/>
                      <a:tailEnd type="none" w="med" len="med"/>
                    </a:lnL>
                    <a:lnR w="0" cap="flat" cmpd="sng" algn="ctr">
                      <a:solidFill>
                        <a:srgbClr val="B4B4B4"/>
                      </a:solidFill>
                      <a:prstDash val="solid"/>
                      <a:round/>
                      <a:headEnd type="none" w="med" len="med"/>
                      <a:tailEnd type="none" w="med" len="med"/>
                    </a:lnR>
                    <a:lnT w="0" cap="flat" cmpd="sng" algn="ctr">
                      <a:solidFill>
                        <a:srgbClr val="B4B4B4"/>
                      </a:solidFill>
                      <a:prstDash val="solid"/>
                      <a:round/>
                      <a:headEnd type="none" w="med" len="med"/>
                      <a:tailEnd type="none" w="med" len="med"/>
                    </a:lnT>
                    <a:lnB w="19632" cap="flat" cmpd="sng" algn="ctr">
                      <a:solidFill>
                        <a:srgbClr val="D9D9D9"/>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0" cap="flat" cmpd="sng" algn="ctr">
                      <a:solidFill>
                        <a:srgbClr val="B4B4B4"/>
                      </a:solidFill>
                      <a:prstDash val="solid"/>
                      <a:round/>
                      <a:headEnd type="none" w="med" len="med"/>
                      <a:tailEnd type="none" w="med" len="med"/>
                    </a:lnT>
                    <a:lnB w="19632" cap="flat" cmpd="sng" algn="ctr">
                      <a:solidFill>
                        <a:srgbClr val="D9D9D9"/>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0" cap="flat" cmpd="sng" algn="ctr">
                      <a:solidFill>
                        <a:srgbClr val="B4B4B4"/>
                      </a:solidFill>
                      <a:prstDash val="solid"/>
                      <a:round/>
                      <a:headEnd type="none" w="med" len="med"/>
                      <a:tailEnd type="none" w="med" len="med"/>
                    </a:lnT>
                    <a:lnB w="19632" cap="flat" cmpd="sng" algn="ctr">
                      <a:solidFill>
                        <a:srgbClr val="D9D9D9"/>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0" cap="flat" cmpd="sng" algn="ctr">
                      <a:solidFill>
                        <a:srgbClr val="B4B4B4"/>
                      </a:solidFill>
                      <a:prstDash val="solid"/>
                      <a:round/>
                      <a:headEnd type="none" w="med" len="med"/>
                      <a:tailEnd type="none" w="med" len="med"/>
                    </a:lnT>
                    <a:lnB w="19632" cap="flat" cmpd="sng" algn="ctr">
                      <a:solidFill>
                        <a:srgbClr val="D9D9D9"/>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0" cap="flat" cmpd="sng" algn="ctr">
                      <a:solidFill>
                        <a:srgbClr val="B4B4B4"/>
                      </a:solidFill>
                      <a:prstDash val="solid"/>
                      <a:round/>
                      <a:headEnd type="none" w="med" len="med"/>
                      <a:tailEnd type="none" w="med" len="med"/>
                    </a:lnT>
                    <a:lnB w="19632" cap="flat" cmpd="sng" algn="ctr">
                      <a:solidFill>
                        <a:srgbClr val="D9D9D9"/>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0" cap="flat" cmpd="sng" algn="ctr">
                      <a:solidFill>
                        <a:srgbClr val="B4B4B4"/>
                      </a:solidFill>
                      <a:prstDash val="solid"/>
                      <a:round/>
                      <a:headEnd type="none" w="med" len="med"/>
                      <a:tailEnd type="none" w="med" len="med"/>
                    </a:lnT>
                    <a:lnB w="19632" cap="flat" cmpd="sng" algn="ctr">
                      <a:solidFill>
                        <a:srgbClr val="D9D9D9"/>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0" cap="flat" cmpd="sng" algn="ctr">
                      <a:solidFill>
                        <a:srgbClr val="B4B4B4"/>
                      </a:solidFill>
                      <a:prstDash val="solid"/>
                      <a:round/>
                      <a:headEnd type="none" w="med" len="med"/>
                      <a:tailEnd type="none" w="med" len="med"/>
                    </a:lnT>
                    <a:lnB w="19632" cap="flat" cmpd="sng" algn="ctr">
                      <a:solidFill>
                        <a:srgbClr val="D9D9D9"/>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0" cap="flat" cmpd="sng" algn="ctr">
                      <a:solidFill>
                        <a:srgbClr val="B4B4B4"/>
                      </a:solidFill>
                      <a:prstDash val="solid"/>
                      <a:round/>
                      <a:headEnd type="none" w="med" len="med"/>
                      <a:tailEnd type="none" w="med" len="med"/>
                    </a:lnT>
                    <a:lnB w="19632" cap="flat" cmpd="sng" algn="ctr">
                      <a:solidFill>
                        <a:srgbClr val="D9D9D9"/>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0" cap="flat" cmpd="sng" algn="ctr">
                      <a:solidFill>
                        <a:srgbClr val="B4B4B4"/>
                      </a:solidFill>
                      <a:prstDash val="solid"/>
                      <a:round/>
                      <a:headEnd type="none" w="med" len="med"/>
                      <a:tailEnd type="none" w="med" len="med"/>
                    </a:lnT>
                    <a:lnB w="19632" cap="flat" cmpd="sng" algn="ctr">
                      <a:solidFill>
                        <a:srgbClr val="D9D9D9"/>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0" cap="flat" cmpd="sng" algn="ctr">
                      <a:solidFill>
                        <a:srgbClr val="B4B4B4"/>
                      </a:solidFill>
                      <a:prstDash val="solid"/>
                      <a:round/>
                      <a:headEnd type="none" w="med" len="med"/>
                      <a:tailEnd type="none" w="med" len="med"/>
                    </a:lnT>
                    <a:lnB w="19632" cap="flat" cmpd="sng" algn="ctr">
                      <a:solidFill>
                        <a:srgbClr val="D9D9D9"/>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0" cap="flat" cmpd="sng" algn="ctr">
                      <a:solidFill>
                        <a:srgbClr val="B4B4B4"/>
                      </a:solidFill>
                      <a:prstDash val="solid"/>
                      <a:round/>
                      <a:headEnd type="none" w="med" len="med"/>
                      <a:tailEnd type="none" w="med" len="med"/>
                    </a:lnT>
                    <a:lnB w="19632" cap="flat" cmpd="sng" algn="ctr">
                      <a:solidFill>
                        <a:srgbClr val="D9D9D9"/>
                      </a:solidFill>
                      <a:prstDash val="solid"/>
                      <a:round/>
                      <a:headEnd type="none" w="med" len="med"/>
                      <a:tailEnd type="none" w="med" len="med"/>
                    </a:lnB>
                  </a:tcPr>
                </a:tc>
                <a:tc>
                  <a:txBody>
                    <a:bodyPr/>
                    <a:lstStyle/>
                    <a:p>
                      <a:pPr algn="ctr">
                        <a:lnSpc>
                          <a:spcPts val="2741"/>
                        </a:lnSpc>
                        <a:defRPr/>
                      </a:pPr>
                      <a:endParaRPr lang="en-US" sz="1100"/>
                    </a:p>
                  </a:txBody>
                  <a:tcPr marL="0" marR="0" marT="0" marB="0" anchor="ctr">
                    <a:lnL w="0" cap="flat" cmpd="sng" algn="ctr">
                      <a:solidFill>
                        <a:srgbClr val="B4B4B4"/>
                      </a:solidFill>
                      <a:prstDash val="solid"/>
                      <a:round/>
                      <a:headEnd type="none" w="med" len="med"/>
                      <a:tailEnd type="none" w="med" len="med"/>
                    </a:lnL>
                    <a:lnR w="0" cap="flat" cmpd="sng" algn="ctr">
                      <a:solidFill>
                        <a:srgbClr val="B4B4B4"/>
                      </a:solidFill>
                      <a:prstDash val="solid"/>
                      <a:round/>
                      <a:headEnd type="none" w="med" len="med"/>
                      <a:tailEnd type="none" w="med" len="med"/>
                    </a:lnR>
                    <a:lnT w="0" cap="flat" cmpd="sng" algn="ctr">
                      <a:solidFill>
                        <a:srgbClr val="B4B4B4"/>
                      </a:solidFill>
                      <a:prstDash val="solid"/>
                      <a:round/>
                      <a:headEnd type="none" w="med" len="med"/>
                      <a:tailEnd type="none" w="med" len="med"/>
                    </a:lnT>
                    <a:lnB w="19632"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pSp>
        <p:nvGrpSpPr>
          <p:cNvPr id="5" name="Group 5"/>
          <p:cNvGrpSpPr/>
          <p:nvPr/>
        </p:nvGrpSpPr>
        <p:grpSpPr>
          <a:xfrm>
            <a:off x="5780921" y="6983158"/>
            <a:ext cx="8331789" cy="286364"/>
            <a:chOff x="0" y="0"/>
            <a:chExt cx="2129309" cy="73185"/>
          </a:xfrm>
        </p:grpSpPr>
        <p:sp>
          <p:nvSpPr>
            <p:cNvPr id="6" name="Freeform 6"/>
            <p:cNvSpPr/>
            <p:nvPr/>
          </p:nvSpPr>
          <p:spPr>
            <a:xfrm>
              <a:off x="0" y="0"/>
              <a:ext cx="2129309" cy="73185"/>
            </a:xfrm>
            <a:custGeom>
              <a:avLst/>
              <a:gdLst/>
              <a:ahLst/>
              <a:cxnLst/>
              <a:rect l="l" t="t" r="r" b="b"/>
              <a:pathLst>
                <a:path w="2129309" h="73185">
                  <a:moveTo>
                    <a:pt x="0" y="0"/>
                  </a:moveTo>
                  <a:lnTo>
                    <a:pt x="2129309" y="0"/>
                  </a:lnTo>
                  <a:lnTo>
                    <a:pt x="2129309" y="73185"/>
                  </a:lnTo>
                  <a:lnTo>
                    <a:pt x="0" y="73185"/>
                  </a:lnTo>
                  <a:close/>
                </a:path>
              </a:pathLst>
            </a:custGeom>
            <a:solidFill>
              <a:srgbClr val="86B0E7"/>
            </a:solidFill>
            <a:ln cap="sq">
              <a:noFill/>
              <a:prstDash val="solid"/>
              <a:miter/>
            </a:ln>
          </p:spPr>
          <p:txBody>
            <a:bodyPr/>
            <a:lstStyle/>
            <a:p>
              <a:endParaRPr lang="ko-KR" altLang="en-US"/>
            </a:p>
          </p:txBody>
        </p:sp>
        <p:sp>
          <p:nvSpPr>
            <p:cNvPr id="7" name="TextBox 7"/>
            <p:cNvSpPr txBox="1"/>
            <p:nvPr/>
          </p:nvSpPr>
          <p:spPr>
            <a:xfrm>
              <a:off x="0" y="-66675"/>
              <a:ext cx="2129309" cy="139860"/>
            </a:xfrm>
            <a:prstGeom prst="rect">
              <a:avLst/>
            </a:prstGeom>
          </p:spPr>
          <p:txBody>
            <a:bodyPr lIns="52352" tIns="52352" rIns="52352" bIns="52352" rtlCol="0" anchor="ctr"/>
            <a:lstStyle/>
            <a:p>
              <a:pPr marL="0" lvl="0" indent="0" algn="ctr">
                <a:lnSpc>
                  <a:spcPts val="2550"/>
                </a:lnSpc>
                <a:spcBef>
                  <a:spcPct val="0"/>
                </a:spcBef>
              </a:pPr>
              <a:endParaRPr/>
            </a:p>
          </p:txBody>
        </p:sp>
      </p:grpSp>
      <p:grpSp>
        <p:nvGrpSpPr>
          <p:cNvPr id="8" name="Group 8"/>
          <p:cNvGrpSpPr/>
          <p:nvPr/>
        </p:nvGrpSpPr>
        <p:grpSpPr>
          <a:xfrm>
            <a:off x="8927511" y="8363084"/>
            <a:ext cx="8331789" cy="286364"/>
            <a:chOff x="0" y="0"/>
            <a:chExt cx="2129309" cy="73185"/>
          </a:xfrm>
        </p:grpSpPr>
        <p:sp>
          <p:nvSpPr>
            <p:cNvPr id="9" name="Freeform 9"/>
            <p:cNvSpPr/>
            <p:nvPr/>
          </p:nvSpPr>
          <p:spPr>
            <a:xfrm>
              <a:off x="0" y="0"/>
              <a:ext cx="2129309" cy="73185"/>
            </a:xfrm>
            <a:custGeom>
              <a:avLst/>
              <a:gdLst/>
              <a:ahLst/>
              <a:cxnLst/>
              <a:rect l="l" t="t" r="r" b="b"/>
              <a:pathLst>
                <a:path w="2129309" h="73185">
                  <a:moveTo>
                    <a:pt x="0" y="0"/>
                  </a:moveTo>
                  <a:lnTo>
                    <a:pt x="2129309" y="0"/>
                  </a:lnTo>
                  <a:lnTo>
                    <a:pt x="2129309" y="73185"/>
                  </a:lnTo>
                  <a:lnTo>
                    <a:pt x="0" y="73185"/>
                  </a:lnTo>
                  <a:close/>
                </a:path>
              </a:pathLst>
            </a:custGeom>
            <a:solidFill>
              <a:srgbClr val="0066FF"/>
            </a:solidFill>
            <a:ln cap="sq">
              <a:noFill/>
              <a:prstDash val="solid"/>
              <a:miter/>
            </a:ln>
          </p:spPr>
          <p:txBody>
            <a:bodyPr/>
            <a:lstStyle/>
            <a:p>
              <a:endParaRPr lang="ko-KR" altLang="en-US"/>
            </a:p>
          </p:txBody>
        </p:sp>
        <p:sp>
          <p:nvSpPr>
            <p:cNvPr id="10" name="TextBox 10"/>
            <p:cNvSpPr txBox="1"/>
            <p:nvPr/>
          </p:nvSpPr>
          <p:spPr>
            <a:xfrm>
              <a:off x="0" y="-66675"/>
              <a:ext cx="2129309" cy="139860"/>
            </a:xfrm>
            <a:prstGeom prst="rect">
              <a:avLst/>
            </a:prstGeom>
          </p:spPr>
          <p:txBody>
            <a:bodyPr lIns="52352" tIns="52352" rIns="52352" bIns="52352" rtlCol="0" anchor="ctr"/>
            <a:lstStyle/>
            <a:p>
              <a:pPr marL="0" lvl="0" indent="0" algn="ctr">
                <a:lnSpc>
                  <a:spcPts val="2550"/>
                </a:lnSpc>
                <a:spcBef>
                  <a:spcPct val="0"/>
                </a:spcBef>
              </a:pPr>
              <a:endParaRPr/>
            </a:p>
          </p:txBody>
        </p:sp>
      </p:grpSp>
      <p:grpSp>
        <p:nvGrpSpPr>
          <p:cNvPr id="11" name="Group 11"/>
          <p:cNvGrpSpPr/>
          <p:nvPr/>
        </p:nvGrpSpPr>
        <p:grpSpPr>
          <a:xfrm>
            <a:off x="7875102" y="4223305"/>
            <a:ext cx="8331789" cy="286364"/>
            <a:chOff x="0" y="0"/>
            <a:chExt cx="2129309" cy="73185"/>
          </a:xfrm>
        </p:grpSpPr>
        <p:sp>
          <p:nvSpPr>
            <p:cNvPr id="12" name="Freeform 12"/>
            <p:cNvSpPr/>
            <p:nvPr/>
          </p:nvSpPr>
          <p:spPr>
            <a:xfrm>
              <a:off x="0" y="0"/>
              <a:ext cx="2129309" cy="73185"/>
            </a:xfrm>
            <a:custGeom>
              <a:avLst/>
              <a:gdLst/>
              <a:ahLst/>
              <a:cxnLst/>
              <a:rect l="l" t="t" r="r" b="b"/>
              <a:pathLst>
                <a:path w="2129309" h="73185">
                  <a:moveTo>
                    <a:pt x="0" y="0"/>
                  </a:moveTo>
                  <a:lnTo>
                    <a:pt x="2129309" y="0"/>
                  </a:lnTo>
                  <a:lnTo>
                    <a:pt x="2129309" y="73185"/>
                  </a:lnTo>
                  <a:lnTo>
                    <a:pt x="0" y="73185"/>
                  </a:lnTo>
                  <a:close/>
                </a:path>
              </a:pathLst>
            </a:custGeom>
            <a:solidFill>
              <a:srgbClr val="D9D9D9"/>
            </a:solidFill>
            <a:ln cap="sq">
              <a:noFill/>
              <a:prstDash val="solid"/>
              <a:miter/>
            </a:ln>
          </p:spPr>
          <p:txBody>
            <a:bodyPr/>
            <a:lstStyle/>
            <a:p>
              <a:endParaRPr lang="ko-KR" altLang="en-US"/>
            </a:p>
          </p:txBody>
        </p:sp>
        <p:sp>
          <p:nvSpPr>
            <p:cNvPr id="13" name="TextBox 13"/>
            <p:cNvSpPr txBox="1"/>
            <p:nvPr/>
          </p:nvSpPr>
          <p:spPr>
            <a:xfrm>
              <a:off x="0" y="-66675"/>
              <a:ext cx="2129309" cy="139860"/>
            </a:xfrm>
            <a:prstGeom prst="rect">
              <a:avLst/>
            </a:prstGeom>
          </p:spPr>
          <p:txBody>
            <a:bodyPr lIns="52352" tIns="52352" rIns="52352" bIns="52352" rtlCol="0" anchor="ctr"/>
            <a:lstStyle/>
            <a:p>
              <a:pPr marL="0" lvl="0" indent="0" algn="ctr">
                <a:lnSpc>
                  <a:spcPts val="2550"/>
                </a:lnSpc>
                <a:spcBef>
                  <a:spcPct val="0"/>
                </a:spcBef>
              </a:pPr>
              <a:endParaRPr/>
            </a:p>
          </p:txBody>
        </p:sp>
      </p:grpSp>
      <p:grpSp>
        <p:nvGrpSpPr>
          <p:cNvPr id="14" name="Group 14"/>
          <p:cNvGrpSpPr/>
          <p:nvPr/>
        </p:nvGrpSpPr>
        <p:grpSpPr>
          <a:xfrm>
            <a:off x="6828011" y="5603231"/>
            <a:ext cx="8331789" cy="286364"/>
            <a:chOff x="0" y="0"/>
            <a:chExt cx="2129309" cy="73185"/>
          </a:xfrm>
        </p:grpSpPr>
        <p:sp>
          <p:nvSpPr>
            <p:cNvPr id="15" name="Freeform 15"/>
            <p:cNvSpPr/>
            <p:nvPr/>
          </p:nvSpPr>
          <p:spPr>
            <a:xfrm>
              <a:off x="0" y="0"/>
              <a:ext cx="2129309" cy="73185"/>
            </a:xfrm>
            <a:custGeom>
              <a:avLst/>
              <a:gdLst/>
              <a:ahLst/>
              <a:cxnLst/>
              <a:rect l="l" t="t" r="r" b="b"/>
              <a:pathLst>
                <a:path w="2129309" h="73185">
                  <a:moveTo>
                    <a:pt x="0" y="0"/>
                  </a:moveTo>
                  <a:lnTo>
                    <a:pt x="2129309" y="0"/>
                  </a:lnTo>
                  <a:lnTo>
                    <a:pt x="2129309" y="73185"/>
                  </a:lnTo>
                  <a:lnTo>
                    <a:pt x="0" y="73185"/>
                  </a:lnTo>
                  <a:close/>
                </a:path>
              </a:pathLst>
            </a:custGeom>
            <a:solidFill>
              <a:srgbClr val="86B0E7"/>
            </a:solidFill>
            <a:ln cap="sq">
              <a:noFill/>
              <a:prstDash val="solid"/>
              <a:miter/>
            </a:ln>
          </p:spPr>
          <p:txBody>
            <a:bodyPr/>
            <a:lstStyle/>
            <a:p>
              <a:endParaRPr lang="ko-KR" altLang="en-US"/>
            </a:p>
          </p:txBody>
        </p:sp>
        <p:sp>
          <p:nvSpPr>
            <p:cNvPr id="16" name="TextBox 16"/>
            <p:cNvSpPr txBox="1"/>
            <p:nvPr/>
          </p:nvSpPr>
          <p:spPr>
            <a:xfrm>
              <a:off x="0" y="-66675"/>
              <a:ext cx="2129309" cy="139860"/>
            </a:xfrm>
            <a:prstGeom prst="rect">
              <a:avLst/>
            </a:prstGeom>
          </p:spPr>
          <p:txBody>
            <a:bodyPr lIns="52352" tIns="52352" rIns="52352" bIns="52352" rtlCol="0" anchor="ctr"/>
            <a:lstStyle/>
            <a:p>
              <a:pPr marL="0" lvl="0" indent="0" algn="ctr">
                <a:lnSpc>
                  <a:spcPts val="2550"/>
                </a:lnSpc>
                <a:spcBef>
                  <a:spcPct val="0"/>
                </a:spcBef>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18481" y="1412643"/>
            <a:ext cx="13819856" cy="753110"/>
          </a:xfrm>
          <a:prstGeom prst="rect">
            <a:avLst/>
          </a:prstGeom>
        </p:spPr>
        <p:txBody>
          <a:bodyPr lIns="0" tIns="0" rIns="0" bIns="0" rtlCol="0" anchor="t">
            <a:spAutoFit/>
          </a:bodyPr>
          <a:lstStyle/>
          <a:p>
            <a:pPr algn="l">
              <a:lnSpc>
                <a:spcPts val="5829"/>
              </a:lnSpc>
            </a:pPr>
            <a:r>
              <a:rPr lang="en-US" sz="5299" b="1" spc="-264">
                <a:solidFill>
                  <a:srgbClr val="434343"/>
                </a:solidFill>
                <a:latin typeface="JASO Sans Bold"/>
                <a:ea typeface="JASO Sans Bold"/>
                <a:cs typeface="JASO Sans Bold"/>
                <a:sym typeface="JASO Sans Bold"/>
              </a:rPr>
              <a:t>2030년 공급망 계획</a:t>
            </a:r>
          </a:p>
        </p:txBody>
      </p:sp>
      <p:grpSp>
        <p:nvGrpSpPr>
          <p:cNvPr id="4" name="Group 4"/>
          <p:cNvGrpSpPr/>
          <p:nvPr/>
        </p:nvGrpSpPr>
        <p:grpSpPr>
          <a:xfrm>
            <a:off x="1518481" y="3453099"/>
            <a:ext cx="7526542" cy="5805201"/>
            <a:chOff x="0" y="0"/>
            <a:chExt cx="1923516" cy="1483603"/>
          </a:xfrm>
        </p:grpSpPr>
        <p:sp>
          <p:nvSpPr>
            <p:cNvPr id="5" name="Freeform 5"/>
            <p:cNvSpPr/>
            <p:nvPr/>
          </p:nvSpPr>
          <p:spPr>
            <a:xfrm>
              <a:off x="0" y="0"/>
              <a:ext cx="1923516" cy="1483603"/>
            </a:xfrm>
            <a:custGeom>
              <a:avLst/>
              <a:gdLst/>
              <a:ahLst/>
              <a:cxnLst/>
              <a:rect l="l" t="t" r="r" b="b"/>
              <a:pathLst>
                <a:path w="1923516" h="1483603">
                  <a:moveTo>
                    <a:pt x="0" y="0"/>
                  </a:moveTo>
                  <a:lnTo>
                    <a:pt x="1923516" y="0"/>
                  </a:lnTo>
                  <a:lnTo>
                    <a:pt x="1923516" y="1483603"/>
                  </a:lnTo>
                  <a:lnTo>
                    <a:pt x="0" y="1483603"/>
                  </a:lnTo>
                  <a:close/>
                </a:path>
              </a:pathLst>
            </a:custGeom>
            <a:solidFill>
              <a:srgbClr val="EDF3FB"/>
            </a:solidFill>
          </p:spPr>
          <p:txBody>
            <a:bodyPr/>
            <a:lstStyle/>
            <a:p>
              <a:endParaRPr lang="ko-KR" altLang="en-US"/>
            </a:p>
          </p:txBody>
        </p:sp>
        <p:sp>
          <p:nvSpPr>
            <p:cNvPr id="6" name="TextBox 6"/>
            <p:cNvSpPr txBox="1"/>
            <p:nvPr/>
          </p:nvSpPr>
          <p:spPr>
            <a:xfrm>
              <a:off x="0" y="-76200"/>
              <a:ext cx="1923516" cy="1559803"/>
            </a:xfrm>
            <a:prstGeom prst="rect">
              <a:avLst/>
            </a:prstGeom>
          </p:spPr>
          <p:txBody>
            <a:bodyPr lIns="52352" tIns="52352" rIns="52352" bIns="52352" rtlCol="0" anchor="ctr"/>
            <a:lstStyle/>
            <a:p>
              <a:pPr marL="0" lvl="0" indent="0" algn="ctr">
                <a:lnSpc>
                  <a:spcPts val="3750"/>
                </a:lnSpc>
                <a:spcBef>
                  <a:spcPct val="0"/>
                </a:spcBef>
              </a:pPr>
              <a:endParaRPr/>
            </a:p>
          </p:txBody>
        </p:sp>
      </p:grpSp>
      <p:grpSp>
        <p:nvGrpSpPr>
          <p:cNvPr id="7" name="Group 7"/>
          <p:cNvGrpSpPr/>
          <p:nvPr/>
        </p:nvGrpSpPr>
        <p:grpSpPr>
          <a:xfrm>
            <a:off x="3335266" y="3080270"/>
            <a:ext cx="3892971" cy="745659"/>
            <a:chOff x="0" y="0"/>
            <a:chExt cx="994905" cy="190564"/>
          </a:xfrm>
        </p:grpSpPr>
        <p:sp>
          <p:nvSpPr>
            <p:cNvPr id="8" name="Freeform 8"/>
            <p:cNvSpPr/>
            <p:nvPr/>
          </p:nvSpPr>
          <p:spPr>
            <a:xfrm>
              <a:off x="0" y="0"/>
              <a:ext cx="994905" cy="190564"/>
            </a:xfrm>
            <a:custGeom>
              <a:avLst/>
              <a:gdLst/>
              <a:ahLst/>
              <a:cxnLst/>
              <a:rect l="l" t="t" r="r" b="b"/>
              <a:pathLst>
                <a:path w="994905" h="190564">
                  <a:moveTo>
                    <a:pt x="95282" y="0"/>
                  </a:moveTo>
                  <a:lnTo>
                    <a:pt x="899623" y="0"/>
                  </a:lnTo>
                  <a:cubicBezTo>
                    <a:pt x="924893" y="0"/>
                    <a:pt x="949129" y="10039"/>
                    <a:pt x="966997" y="27907"/>
                  </a:cubicBezTo>
                  <a:cubicBezTo>
                    <a:pt x="984866" y="45776"/>
                    <a:pt x="994905" y="70012"/>
                    <a:pt x="994905" y="95282"/>
                  </a:cubicBezTo>
                  <a:lnTo>
                    <a:pt x="994905" y="95282"/>
                  </a:lnTo>
                  <a:cubicBezTo>
                    <a:pt x="994905" y="147905"/>
                    <a:pt x="952246" y="190564"/>
                    <a:pt x="899623" y="190564"/>
                  </a:cubicBezTo>
                  <a:lnTo>
                    <a:pt x="95282" y="190564"/>
                  </a:lnTo>
                  <a:cubicBezTo>
                    <a:pt x="70012" y="190564"/>
                    <a:pt x="45776" y="180525"/>
                    <a:pt x="27907" y="162656"/>
                  </a:cubicBezTo>
                  <a:cubicBezTo>
                    <a:pt x="10039" y="144788"/>
                    <a:pt x="0" y="120552"/>
                    <a:pt x="0" y="95282"/>
                  </a:cubicBezTo>
                  <a:lnTo>
                    <a:pt x="0" y="95282"/>
                  </a:lnTo>
                  <a:cubicBezTo>
                    <a:pt x="0" y="70012"/>
                    <a:pt x="10039" y="45776"/>
                    <a:pt x="27907" y="27907"/>
                  </a:cubicBezTo>
                  <a:cubicBezTo>
                    <a:pt x="45776" y="10039"/>
                    <a:pt x="70012" y="0"/>
                    <a:pt x="95282" y="0"/>
                  </a:cubicBezTo>
                  <a:close/>
                </a:path>
              </a:pathLst>
            </a:custGeom>
            <a:solidFill>
              <a:srgbClr val="0066FF"/>
            </a:solidFill>
          </p:spPr>
          <p:txBody>
            <a:bodyPr/>
            <a:lstStyle/>
            <a:p>
              <a:endParaRPr lang="ko-KR" altLang="en-US"/>
            </a:p>
          </p:txBody>
        </p:sp>
        <p:sp>
          <p:nvSpPr>
            <p:cNvPr id="9" name="TextBox 9"/>
            <p:cNvSpPr txBox="1"/>
            <p:nvPr/>
          </p:nvSpPr>
          <p:spPr>
            <a:xfrm>
              <a:off x="0" y="-28575"/>
              <a:ext cx="994905" cy="219139"/>
            </a:xfrm>
            <a:prstGeom prst="rect">
              <a:avLst/>
            </a:prstGeom>
          </p:spPr>
          <p:txBody>
            <a:bodyPr lIns="52352" tIns="52352" rIns="52352" bIns="52352" rtlCol="0" anchor="ctr"/>
            <a:lstStyle/>
            <a:p>
              <a:pPr marL="0" lvl="0" indent="0" algn="ctr">
                <a:lnSpc>
                  <a:spcPts val="2660"/>
                </a:lnSpc>
              </a:pPr>
              <a:r>
                <a:rPr lang="en-US" sz="1900" b="1">
                  <a:solidFill>
                    <a:srgbClr val="FFFFFF"/>
                  </a:solidFill>
                  <a:latin typeface="JASO Sans Bold"/>
                  <a:ea typeface="JASO Sans Bold"/>
                  <a:cs typeface="JASO Sans Bold"/>
                  <a:sym typeface="JASO Sans Bold"/>
                </a:rPr>
                <a:t>발주 방식</a:t>
              </a:r>
            </a:p>
          </p:txBody>
        </p:sp>
      </p:grpSp>
      <p:grpSp>
        <p:nvGrpSpPr>
          <p:cNvPr id="10" name="Group 10"/>
          <p:cNvGrpSpPr/>
          <p:nvPr/>
        </p:nvGrpSpPr>
        <p:grpSpPr>
          <a:xfrm>
            <a:off x="9732758" y="3453099"/>
            <a:ext cx="7526542" cy="5805201"/>
            <a:chOff x="0" y="0"/>
            <a:chExt cx="1923516" cy="1483603"/>
          </a:xfrm>
        </p:grpSpPr>
        <p:sp>
          <p:nvSpPr>
            <p:cNvPr id="11" name="Freeform 11"/>
            <p:cNvSpPr/>
            <p:nvPr/>
          </p:nvSpPr>
          <p:spPr>
            <a:xfrm>
              <a:off x="0" y="0"/>
              <a:ext cx="1923516" cy="1483603"/>
            </a:xfrm>
            <a:custGeom>
              <a:avLst/>
              <a:gdLst/>
              <a:ahLst/>
              <a:cxnLst/>
              <a:rect l="l" t="t" r="r" b="b"/>
              <a:pathLst>
                <a:path w="1923516" h="1483603">
                  <a:moveTo>
                    <a:pt x="0" y="0"/>
                  </a:moveTo>
                  <a:lnTo>
                    <a:pt x="1923516" y="0"/>
                  </a:lnTo>
                  <a:lnTo>
                    <a:pt x="1923516" y="1483603"/>
                  </a:lnTo>
                  <a:lnTo>
                    <a:pt x="0" y="1483603"/>
                  </a:lnTo>
                  <a:close/>
                </a:path>
              </a:pathLst>
            </a:custGeom>
            <a:solidFill>
              <a:srgbClr val="EDF3FB"/>
            </a:solidFill>
          </p:spPr>
          <p:txBody>
            <a:bodyPr/>
            <a:lstStyle/>
            <a:p>
              <a:endParaRPr lang="ko-KR" altLang="en-US"/>
            </a:p>
          </p:txBody>
        </p:sp>
        <p:sp>
          <p:nvSpPr>
            <p:cNvPr id="12" name="TextBox 12"/>
            <p:cNvSpPr txBox="1"/>
            <p:nvPr/>
          </p:nvSpPr>
          <p:spPr>
            <a:xfrm>
              <a:off x="0" y="-76200"/>
              <a:ext cx="1923516" cy="1559803"/>
            </a:xfrm>
            <a:prstGeom prst="rect">
              <a:avLst/>
            </a:prstGeom>
          </p:spPr>
          <p:txBody>
            <a:bodyPr lIns="52352" tIns="52352" rIns="52352" bIns="52352" rtlCol="0" anchor="ctr"/>
            <a:lstStyle/>
            <a:p>
              <a:pPr marL="0" lvl="0" indent="0" algn="ctr">
                <a:lnSpc>
                  <a:spcPts val="3750"/>
                </a:lnSpc>
                <a:spcBef>
                  <a:spcPct val="0"/>
                </a:spcBef>
              </a:pPr>
              <a:endParaRPr/>
            </a:p>
          </p:txBody>
        </p:sp>
      </p:grpSp>
      <p:grpSp>
        <p:nvGrpSpPr>
          <p:cNvPr id="13" name="Group 13"/>
          <p:cNvGrpSpPr/>
          <p:nvPr/>
        </p:nvGrpSpPr>
        <p:grpSpPr>
          <a:xfrm>
            <a:off x="11549543" y="3080270"/>
            <a:ext cx="3892971" cy="745659"/>
            <a:chOff x="0" y="0"/>
            <a:chExt cx="994905" cy="190564"/>
          </a:xfrm>
        </p:grpSpPr>
        <p:sp>
          <p:nvSpPr>
            <p:cNvPr id="14" name="Freeform 14"/>
            <p:cNvSpPr/>
            <p:nvPr/>
          </p:nvSpPr>
          <p:spPr>
            <a:xfrm>
              <a:off x="0" y="0"/>
              <a:ext cx="994905" cy="190564"/>
            </a:xfrm>
            <a:custGeom>
              <a:avLst/>
              <a:gdLst/>
              <a:ahLst/>
              <a:cxnLst/>
              <a:rect l="l" t="t" r="r" b="b"/>
              <a:pathLst>
                <a:path w="994905" h="190564">
                  <a:moveTo>
                    <a:pt x="95282" y="0"/>
                  </a:moveTo>
                  <a:lnTo>
                    <a:pt x="899623" y="0"/>
                  </a:lnTo>
                  <a:cubicBezTo>
                    <a:pt x="924893" y="0"/>
                    <a:pt x="949129" y="10039"/>
                    <a:pt x="966997" y="27907"/>
                  </a:cubicBezTo>
                  <a:cubicBezTo>
                    <a:pt x="984866" y="45776"/>
                    <a:pt x="994905" y="70012"/>
                    <a:pt x="994905" y="95282"/>
                  </a:cubicBezTo>
                  <a:lnTo>
                    <a:pt x="994905" y="95282"/>
                  </a:lnTo>
                  <a:cubicBezTo>
                    <a:pt x="994905" y="147905"/>
                    <a:pt x="952246" y="190564"/>
                    <a:pt x="899623" y="190564"/>
                  </a:cubicBezTo>
                  <a:lnTo>
                    <a:pt x="95282" y="190564"/>
                  </a:lnTo>
                  <a:cubicBezTo>
                    <a:pt x="70012" y="190564"/>
                    <a:pt x="45776" y="180525"/>
                    <a:pt x="27907" y="162656"/>
                  </a:cubicBezTo>
                  <a:cubicBezTo>
                    <a:pt x="10039" y="144788"/>
                    <a:pt x="0" y="120552"/>
                    <a:pt x="0" y="95282"/>
                  </a:cubicBezTo>
                  <a:lnTo>
                    <a:pt x="0" y="95282"/>
                  </a:lnTo>
                  <a:cubicBezTo>
                    <a:pt x="0" y="70012"/>
                    <a:pt x="10039" y="45776"/>
                    <a:pt x="27907" y="27907"/>
                  </a:cubicBezTo>
                  <a:cubicBezTo>
                    <a:pt x="45776" y="10039"/>
                    <a:pt x="70012" y="0"/>
                    <a:pt x="95282" y="0"/>
                  </a:cubicBezTo>
                  <a:close/>
                </a:path>
              </a:pathLst>
            </a:custGeom>
            <a:solidFill>
              <a:srgbClr val="0066FF"/>
            </a:solidFill>
          </p:spPr>
          <p:txBody>
            <a:bodyPr/>
            <a:lstStyle/>
            <a:p>
              <a:endParaRPr lang="ko-KR" altLang="en-US"/>
            </a:p>
          </p:txBody>
        </p:sp>
        <p:sp>
          <p:nvSpPr>
            <p:cNvPr id="15" name="TextBox 15"/>
            <p:cNvSpPr txBox="1"/>
            <p:nvPr/>
          </p:nvSpPr>
          <p:spPr>
            <a:xfrm>
              <a:off x="0" y="-28575"/>
              <a:ext cx="994905" cy="219139"/>
            </a:xfrm>
            <a:prstGeom prst="rect">
              <a:avLst/>
            </a:prstGeom>
          </p:spPr>
          <p:txBody>
            <a:bodyPr lIns="52352" tIns="52352" rIns="52352" bIns="52352" rtlCol="0" anchor="ctr"/>
            <a:lstStyle/>
            <a:p>
              <a:pPr marL="0" lvl="0" indent="0" algn="ctr">
                <a:lnSpc>
                  <a:spcPts val="2660"/>
                </a:lnSpc>
              </a:pPr>
              <a:r>
                <a:rPr lang="en-US" sz="1900" b="1">
                  <a:solidFill>
                    <a:srgbClr val="FFFFFF"/>
                  </a:solidFill>
                  <a:latin typeface="JASO Sans Bold"/>
                  <a:ea typeface="JASO Sans Bold"/>
                  <a:cs typeface="JASO Sans Bold"/>
                  <a:sym typeface="JASO Sans Bold"/>
                </a:rPr>
                <a:t>공급망 관리</a:t>
              </a:r>
            </a:p>
          </p:txBody>
        </p:sp>
      </p:grpSp>
      <p:sp>
        <p:nvSpPr>
          <p:cNvPr id="16" name="AutoShape 16"/>
          <p:cNvSpPr/>
          <p:nvPr/>
        </p:nvSpPr>
        <p:spPr>
          <a:xfrm>
            <a:off x="2367444" y="6567787"/>
            <a:ext cx="5828616" cy="0"/>
          </a:xfrm>
          <a:prstGeom prst="line">
            <a:avLst/>
          </a:prstGeom>
          <a:ln w="28575" cap="flat">
            <a:solidFill>
              <a:srgbClr val="0066FF">
                <a:alpha val="19608"/>
              </a:srgbClr>
            </a:solidFill>
            <a:prstDash val="solid"/>
            <a:headEnd type="none" w="sm" len="sm"/>
            <a:tailEnd type="none" w="sm" len="sm"/>
          </a:ln>
        </p:spPr>
        <p:txBody>
          <a:bodyPr/>
          <a:lstStyle/>
          <a:p>
            <a:endParaRPr lang="ko-KR" altLang="en-US"/>
          </a:p>
        </p:txBody>
      </p:sp>
      <p:sp>
        <p:nvSpPr>
          <p:cNvPr id="17" name="AutoShape 17"/>
          <p:cNvSpPr/>
          <p:nvPr/>
        </p:nvSpPr>
        <p:spPr>
          <a:xfrm>
            <a:off x="10581721" y="6567787"/>
            <a:ext cx="5828616" cy="0"/>
          </a:xfrm>
          <a:prstGeom prst="line">
            <a:avLst/>
          </a:prstGeom>
          <a:ln w="28575" cap="flat">
            <a:solidFill>
              <a:srgbClr val="0066FF">
                <a:alpha val="19608"/>
              </a:srgbClr>
            </a:solidFill>
            <a:prstDash val="solid"/>
            <a:headEnd type="none" w="sm" len="sm"/>
            <a:tailEnd type="none" w="sm" len="sm"/>
          </a:ln>
        </p:spPr>
        <p:txBody>
          <a:bodyPr/>
          <a:lstStyle/>
          <a:p>
            <a:endParaRPr lang="ko-KR" altLang="en-US"/>
          </a:p>
        </p:txBody>
      </p:sp>
      <p:sp>
        <p:nvSpPr>
          <p:cNvPr id="18" name="Freeform 18"/>
          <p:cNvSpPr/>
          <p:nvPr/>
        </p:nvSpPr>
        <p:spPr>
          <a:xfrm>
            <a:off x="7253716" y="5218075"/>
            <a:ext cx="942344" cy="942344"/>
          </a:xfrm>
          <a:custGeom>
            <a:avLst/>
            <a:gdLst/>
            <a:ahLst/>
            <a:cxnLst/>
            <a:rect l="l" t="t" r="r" b="b"/>
            <a:pathLst>
              <a:path w="942344" h="942344">
                <a:moveTo>
                  <a:pt x="0" y="0"/>
                </a:moveTo>
                <a:lnTo>
                  <a:pt x="942344" y="0"/>
                </a:lnTo>
                <a:lnTo>
                  <a:pt x="942344" y="942344"/>
                </a:lnTo>
                <a:lnTo>
                  <a:pt x="0" y="94234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ko-KR" altLang="en-US"/>
          </a:p>
        </p:txBody>
      </p:sp>
      <p:sp>
        <p:nvSpPr>
          <p:cNvPr id="19" name="Freeform 19"/>
          <p:cNvSpPr/>
          <p:nvPr/>
        </p:nvSpPr>
        <p:spPr>
          <a:xfrm>
            <a:off x="15467993" y="5218075"/>
            <a:ext cx="942344" cy="942344"/>
          </a:xfrm>
          <a:custGeom>
            <a:avLst/>
            <a:gdLst/>
            <a:ahLst/>
            <a:cxnLst/>
            <a:rect l="l" t="t" r="r" b="b"/>
            <a:pathLst>
              <a:path w="942344" h="942344">
                <a:moveTo>
                  <a:pt x="0" y="0"/>
                </a:moveTo>
                <a:lnTo>
                  <a:pt x="942344" y="0"/>
                </a:lnTo>
                <a:lnTo>
                  <a:pt x="942344" y="942344"/>
                </a:lnTo>
                <a:lnTo>
                  <a:pt x="0" y="942344"/>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ko-KR" altLang="en-US"/>
          </a:p>
        </p:txBody>
      </p:sp>
      <p:sp>
        <p:nvSpPr>
          <p:cNvPr id="20" name="TextBox 20"/>
          <p:cNvSpPr txBox="1"/>
          <p:nvPr/>
        </p:nvSpPr>
        <p:spPr>
          <a:xfrm>
            <a:off x="2382992" y="4283803"/>
            <a:ext cx="5797519" cy="934273"/>
          </a:xfrm>
          <a:prstGeom prst="rect">
            <a:avLst/>
          </a:prstGeom>
        </p:spPr>
        <p:txBody>
          <a:bodyPr lIns="0" tIns="0" rIns="0" bIns="0" rtlCol="0" anchor="t">
            <a:spAutoFit/>
          </a:bodyPr>
          <a:lstStyle/>
          <a:p>
            <a:pPr algn="l">
              <a:lnSpc>
                <a:spcPts val="3751"/>
              </a:lnSpc>
            </a:pPr>
            <a:r>
              <a:rPr lang="en-US" sz="2885" b="1" spc="-57">
                <a:solidFill>
                  <a:srgbClr val="434343"/>
                </a:solidFill>
                <a:latin typeface="JASO Sans Bold"/>
                <a:ea typeface="JASO Sans Bold"/>
                <a:cs typeface="JASO Sans Bold"/>
                <a:sym typeface="JASO Sans Bold"/>
              </a:rPr>
              <a:t>예측하고</a:t>
            </a:r>
          </a:p>
          <a:p>
            <a:pPr algn="l">
              <a:lnSpc>
                <a:spcPts val="3751"/>
              </a:lnSpc>
            </a:pPr>
            <a:r>
              <a:rPr lang="en-US" sz="2885" b="1" spc="-57">
                <a:solidFill>
                  <a:srgbClr val="434343"/>
                </a:solidFill>
                <a:latin typeface="JASO Sans Bold"/>
                <a:ea typeface="JASO Sans Bold"/>
                <a:cs typeface="JASO Sans Bold"/>
                <a:sym typeface="JASO Sans Bold"/>
              </a:rPr>
              <a:t>미리 실행하는 발주</a:t>
            </a:r>
          </a:p>
        </p:txBody>
      </p:sp>
      <p:sp>
        <p:nvSpPr>
          <p:cNvPr id="21" name="TextBox 21"/>
          <p:cNvSpPr txBox="1"/>
          <p:nvPr/>
        </p:nvSpPr>
        <p:spPr>
          <a:xfrm>
            <a:off x="10597270" y="4283803"/>
            <a:ext cx="5797519" cy="934273"/>
          </a:xfrm>
          <a:prstGeom prst="rect">
            <a:avLst/>
          </a:prstGeom>
        </p:spPr>
        <p:txBody>
          <a:bodyPr lIns="0" tIns="0" rIns="0" bIns="0" rtlCol="0" anchor="t">
            <a:spAutoFit/>
          </a:bodyPr>
          <a:lstStyle/>
          <a:p>
            <a:pPr algn="l">
              <a:lnSpc>
                <a:spcPts val="3751"/>
              </a:lnSpc>
            </a:pPr>
            <a:r>
              <a:rPr lang="en-US" sz="2885" b="1" spc="-57">
                <a:solidFill>
                  <a:srgbClr val="434343"/>
                </a:solidFill>
                <a:latin typeface="JASO Sans Bold"/>
                <a:ea typeface="JASO Sans Bold"/>
                <a:cs typeface="JASO Sans Bold"/>
                <a:sym typeface="JASO Sans Bold"/>
              </a:rPr>
              <a:t>집중도를 높이는</a:t>
            </a:r>
          </a:p>
          <a:p>
            <a:pPr algn="l">
              <a:lnSpc>
                <a:spcPts val="3751"/>
              </a:lnSpc>
            </a:pPr>
            <a:r>
              <a:rPr lang="en-US" sz="2885" b="1" spc="-57">
                <a:solidFill>
                  <a:srgbClr val="434343"/>
                </a:solidFill>
                <a:latin typeface="JASO Sans Bold"/>
                <a:ea typeface="JASO Sans Bold"/>
                <a:cs typeface="JASO Sans Bold"/>
                <a:sym typeface="JASO Sans Bold"/>
              </a:rPr>
              <a:t>효율적 공급망</a:t>
            </a:r>
          </a:p>
        </p:txBody>
      </p:sp>
      <p:sp>
        <p:nvSpPr>
          <p:cNvPr id="22" name="TextBox 22"/>
          <p:cNvSpPr txBox="1"/>
          <p:nvPr/>
        </p:nvSpPr>
        <p:spPr>
          <a:xfrm>
            <a:off x="2367444" y="7018203"/>
            <a:ext cx="5828616" cy="1431327"/>
          </a:xfrm>
          <a:prstGeom prst="rect">
            <a:avLst/>
          </a:prstGeom>
        </p:spPr>
        <p:txBody>
          <a:bodyPr lIns="0" tIns="0" rIns="0" bIns="0" rtlCol="0" anchor="t">
            <a:spAutoFit/>
          </a:bodyPr>
          <a:lstStyle/>
          <a:p>
            <a:pPr marL="467246" lvl="1" indent="-233623" algn="l">
              <a:lnSpc>
                <a:spcPts val="3895"/>
              </a:lnSpc>
              <a:buFont typeface="Arial"/>
              <a:buChar char="•"/>
            </a:pPr>
            <a:r>
              <a:rPr lang="en-US" sz="2164" spc="-64">
                <a:solidFill>
                  <a:srgbClr val="434343"/>
                </a:solidFill>
                <a:latin typeface="JASO Sans"/>
                <a:ea typeface="JASO Sans"/>
                <a:cs typeface="JASO Sans"/>
                <a:sym typeface="JASO Sans"/>
              </a:rPr>
              <a:t>월별 수요 예측 기반 발주</a:t>
            </a:r>
          </a:p>
          <a:p>
            <a:pPr marL="467246" lvl="1" indent="-233623" algn="l">
              <a:lnSpc>
                <a:spcPts val="3895"/>
              </a:lnSpc>
              <a:buFont typeface="Arial"/>
              <a:buChar char="•"/>
            </a:pPr>
            <a:r>
              <a:rPr lang="en-US" sz="2164" spc="-64">
                <a:solidFill>
                  <a:srgbClr val="434343"/>
                </a:solidFill>
                <a:latin typeface="JASO Sans"/>
                <a:ea typeface="JASO Sans"/>
                <a:cs typeface="JASO Sans"/>
                <a:sym typeface="JASO Sans"/>
              </a:rPr>
              <a:t>분기별 전략 발주 병행</a:t>
            </a:r>
          </a:p>
          <a:p>
            <a:pPr marL="467246" lvl="1" indent="-233623" algn="l">
              <a:lnSpc>
                <a:spcPts val="3895"/>
              </a:lnSpc>
              <a:buFont typeface="Arial"/>
              <a:buChar char="•"/>
            </a:pPr>
            <a:r>
              <a:rPr lang="en-US" sz="2164" spc="-64">
                <a:solidFill>
                  <a:srgbClr val="434343"/>
                </a:solidFill>
                <a:latin typeface="JASO Sans"/>
                <a:ea typeface="JASO Sans"/>
                <a:cs typeface="JASO Sans"/>
                <a:sym typeface="JASO Sans"/>
              </a:rPr>
              <a:t>주기적 고객사 및 후보군 발군</a:t>
            </a:r>
          </a:p>
        </p:txBody>
      </p:sp>
      <p:sp>
        <p:nvSpPr>
          <p:cNvPr id="23" name="TextBox 23"/>
          <p:cNvSpPr txBox="1"/>
          <p:nvPr/>
        </p:nvSpPr>
        <p:spPr>
          <a:xfrm>
            <a:off x="10581721" y="7018203"/>
            <a:ext cx="5828616" cy="1431327"/>
          </a:xfrm>
          <a:prstGeom prst="rect">
            <a:avLst/>
          </a:prstGeom>
        </p:spPr>
        <p:txBody>
          <a:bodyPr lIns="0" tIns="0" rIns="0" bIns="0" rtlCol="0" anchor="t">
            <a:spAutoFit/>
          </a:bodyPr>
          <a:lstStyle/>
          <a:p>
            <a:pPr marL="467246" lvl="1" indent="-233623" algn="l">
              <a:lnSpc>
                <a:spcPts val="3895"/>
              </a:lnSpc>
              <a:buFont typeface="Arial"/>
              <a:buChar char="•"/>
            </a:pPr>
            <a:r>
              <a:rPr lang="en-US" sz="2164" spc="-64">
                <a:solidFill>
                  <a:srgbClr val="434343"/>
                </a:solidFill>
                <a:latin typeface="JASO Sans"/>
                <a:ea typeface="JASO Sans"/>
                <a:cs typeface="JASO Sans"/>
                <a:sym typeface="JASO Sans"/>
              </a:rPr>
              <a:t>주요 협력사 80% 물량 집중</a:t>
            </a:r>
          </a:p>
          <a:p>
            <a:pPr marL="467246" lvl="1" indent="-233623" algn="l">
              <a:lnSpc>
                <a:spcPts val="3895"/>
              </a:lnSpc>
              <a:buFont typeface="Arial"/>
              <a:buChar char="•"/>
            </a:pPr>
            <a:r>
              <a:rPr lang="en-US" sz="2164" spc="-64">
                <a:solidFill>
                  <a:srgbClr val="434343"/>
                </a:solidFill>
                <a:latin typeface="JASO Sans"/>
                <a:ea typeface="JASO Sans"/>
                <a:cs typeface="JASO Sans"/>
                <a:sym typeface="JASO Sans"/>
              </a:rPr>
              <a:t>리드타임 평균 25일 → 18일 목표</a:t>
            </a:r>
          </a:p>
          <a:p>
            <a:pPr marL="467246" lvl="1" indent="-233623" algn="l">
              <a:lnSpc>
                <a:spcPts val="3895"/>
              </a:lnSpc>
              <a:buFont typeface="Arial"/>
              <a:buChar char="•"/>
            </a:pPr>
            <a:r>
              <a:rPr lang="en-US" sz="2164" spc="-64">
                <a:solidFill>
                  <a:srgbClr val="434343"/>
                </a:solidFill>
                <a:latin typeface="JASO Sans"/>
                <a:ea typeface="JASO Sans"/>
                <a:cs typeface="JASO Sans"/>
                <a:sym typeface="JASO Sans"/>
              </a:rPr>
              <a:t>공급 리스크 이중화</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18481" y="1412643"/>
            <a:ext cx="13819856" cy="753110"/>
          </a:xfrm>
          <a:prstGeom prst="rect">
            <a:avLst/>
          </a:prstGeom>
        </p:spPr>
        <p:txBody>
          <a:bodyPr lIns="0" tIns="0" rIns="0" bIns="0" rtlCol="0" anchor="t">
            <a:spAutoFit/>
          </a:bodyPr>
          <a:lstStyle/>
          <a:p>
            <a:pPr algn="l">
              <a:lnSpc>
                <a:spcPts val="5829"/>
              </a:lnSpc>
            </a:pPr>
            <a:r>
              <a:rPr lang="en-US" sz="5299" b="1" spc="-264">
                <a:solidFill>
                  <a:srgbClr val="434343"/>
                </a:solidFill>
                <a:latin typeface="JASO Sans Bold"/>
                <a:ea typeface="JASO Sans Bold"/>
                <a:cs typeface="JASO Sans Bold"/>
                <a:sym typeface="JASO Sans Bold"/>
              </a:rPr>
              <a:t>성과 측정 지표</a:t>
            </a:r>
          </a:p>
        </p:txBody>
      </p:sp>
      <p:sp>
        <p:nvSpPr>
          <p:cNvPr id="4" name="Freeform 4"/>
          <p:cNvSpPr/>
          <p:nvPr/>
        </p:nvSpPr>
        <p:spPr>
          <a:xfrm>
            <a:off x="15536493" y="1028700"/>
            <a:ext cx="1722807" cy="1137052"/>
          </a:xfrm>
          <a:custGeom>
            <a:avLst/>
            <a:gdLst/>
            <a:ahLst/>
            <a:cxnLst/>
            <a:rect l="l" t="t" r="r" b="b"/>
            <a:pathLst>
              <a:path w="1722807" h="1137052">
                <a:moveTo>
                  <a:pt x="0" y="0"/>
                </a:moveTo>
                <a:lnTo>
                  <a:pt x="1722807" y="0"/>
                </a:lnTo>
                <a:lnTo>
                  <a:pt x="1722807" y="1137052"/>
                </a:lnTo>
                <a:lnTo>
                  <a:pt x="0" y="11370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ko-KR" altLang="en-US"/>
          </a:p>
        </p:txBody>
      </p:sp>
      <p:grpSp>
        <p:nvGrpSpPr>
          <p:cNvPr id="5" name="Group 5"/>
          <p:cNvGrpSpPr/>
          <p:nvPr/>
        </p:nvGrpSpPr>
        <p:grpSpPr>
          <a:xfrm>
            <a:off x="14622368" y="3188858"/>
            <a:ext cx="2636932" cy="263693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F3FB"/>
            </a:solidFill>
          </p:spPr>
          <p:txBody>
            <a:bodyPr/>
            <a:lstStyle/>
            <a:p>
              <a:endParaRPr lang="ko-KR" altLang="en-US"/>
            </a:p>
          </p:txBody>
        </p:sp>
        <p:sp>
          <p:nvSpPr>
            <p:cNvPr id="7" name="TextBox 7"/>
            <p:cNvSpPr txBox="1"/>
            <p:nvPr/>
          </p:nvSpPr>
          <p:spPr>
            <a:xfrm>
              <a:off x="76200" y="0"/>
              <a:ext cx="660400" cy="736600"/>
            </a:xfrm>
            <a:prstGeom prst="rect">
              <a:avLst/>
            </a:prstGeom>
          </p:spPr>
          <p:txBody>
            <a:bodyPr lIns="51924" tIns="51924" rIns="51924" bIns="51924" rtlCol="0" anchor="ctr"/>
            <a:lstStyle/>
            <a:p>
              <a:pPr marL="0" lvl="0" indent="0" algn="ctr">
                <a:lnSpc>
                  <a:spcPts val="3750"/>
                </a:lnSpc>
                <a:spcBef>
                  <a:spcPct val="0"/>
                </a:spcBef>
              </a:pPr>
              <a:endParaRPr/>
            </a:p>
          </p:txBody>
        </p:sp>
      </p:grpSp>
      <p:grpSp>
        <p:nvGrpSpPr>
          <p:cNvPr id="8" name="Group 8"/>
          <p:cNvGrpSpPr/>
          <p:nvPr/>
        </p:nvGrpSpPr>
        <p:grpSpPr>
          <a:xfrm>
            <a:off x="14622368" y="3188858"/>
            <a:ext cx="686027" cy="686027"/>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6FF"/>
            </a:solidFill>
          </p:spPr>
          <p:txBody>
            <a:bodyPr/>
            <a:lstStyle/>
            <a:p>
              <a:endParaRPr lang="ko-KR" altLang="en-US"/>
            </a:p>
          </p:txBody>
        </p:sp>
        <p:sp>
          <p:nvSpPr>
            <p:cNvPr id="10" name="TextBox 10"/>
            <p:cNvSpPr txBox="1"/>
            <p:nvPr/>
          </p:nvSpPr>
          <p:spPr>
            <a:xfrm>
              <a:off x="76200" y="0"/>
              <a:ext cx="660400" cy="736600"/>
            </a:xfrm>
            <a:prstGeom prst="rect">
              <a:avLst/>
            </a:prstGeom>
          </p:spPr>
          <p:txBody>
            <a:bodyPr lIns="13509" tIns="13509" rIns="13509" bIns="13509" rtlCol="0" anchor="ctr"/>
            <a:lstStyle/>
            <a:p>
              <a:pPr algn="ctr">
                <a:lnSpc>
                  <a:spcPts val="3750"/>
                </a:lnSpc>
              </a:pPr>
              <a:endParaRPr/>
            </a:p>
          </p:txBody>
        </p:sp>
      </p:grpSp>
      <p:sp>
        <p:nvSpPr>
          <p:cNvPr id="11" name="Freeform 11"/>
          <p:cNvSpPr/>
          <p:nvPr/>
        </p:nvSpPr>
        <p:spPr>
          <a:xfrm>
            <a:off x="14814947" y="3387728"/>
            <a:ext cx="300869" cy="288287"/>
          </a:xfrm>
          <a:custGeom>
            <a:avLst/>
            <a:gdLst/>
            <a:ahLst/>
            <a:cxnLst/>
            <a:rect l="l" t="t" r="r" b="b"/>
            <a:pathLst>
              <a:path w="300869" h="288287">
                <a:moveTo>
                  <a:pt x="0" y="0"/>
                </a:moveTo>
                <a:lnTo>
                  <a:pt x="300869" y="0"/>
                </a:lnTo>
                <a:lnTo>
                  <a:pt x="300869" y="288287"/>
                </a:lnTo>
                <a:lnTo>
                  <a:pt x="0" y="28828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ko-KR" altLang="en-US"/>
          </a:p>
        </p:txBody>
      </p:sp>
      <p:sp>
        <p:nvSpPr>
          <p:cNvPr id="12" name="TextBox 12"/>
          <p:cNvSpPr txBox="1"/>
          <p:nvPr/>
        </p:nvSpPr>
        <p:spPr>
          <a:xfrm>
            <a:off x="14949610" y="4178485"/>
            <a:ext cx="1982447" cy="657678"/>
          </a:xfrm>
          <a:prstGeom prst="rect">
            <a:avLst/>
          </a:prstGeom>
        </p:spPr>
        <p:txBody>
          <a:bodyPr lIns="0" tIns="0" rIns="0" bIns="0" rtlCol="0" anchor="t">
            <a:spAutoFit/>
          </a:bodyPr>
          <a:lstStyle/>
          <a:p>
            <a:pPr algn="ctr">
              <a:lnSpc>
                <a:spcPts val="5194"/>
              </a:lnSpc>
            </a:pPr>
            <a:r>
              <a:rPr lang="en-US" sz="4328" b="1" spc="-216">
                <a:solidFill>
                  <a:srgbClr val="0066FF"/>
                </a:solidFill>
                <a:latin typeface="JASO Sans Bold"/>
                <a:ea typeface="JASO Sans Bold"/>
                <a:cs typeface="JASO Sans Bold"/>
                <a:sym typeface="JASO Sans Bold"/>
              </a:rPr>
              <a:t>99.5점</a:t>
            </a:r>
          </a:p>
        </p:txBody>
      </p:sp>
      <p:sp>
        <p:nvSpPr>
          <p:cNvPr id="13" name="TextBox 13"/>
          <p:cNvSpPr txBox="1"/>
          <p:nvPr/>
        </p:nvSpPr>
        <p:spPr>
          <a:xfrm>
            <a:off x="14622368" y="6533478"/>
            <a:ext cx="2636932" cy="308290"/>
          </a:xfrm>
          <a:prstGeom prst="rect">
            <a:avLst/>
          </a:prstGeom>
        </p:spPr>
        <p:txBody>
          <a:bodyPr lIns="0" tIns="0" rIns="0" bIns="0" rtlCol="0" anchor="t">
            <a:spAutoFit/>
          </a:bodyPr>
          <a:lstStyle/>
          <a:p>
            <a:pPr algn="ctr">
              <a:lnSpc>
                <a:spcPts val="2546"/>
              </a:lnSpc>
            </a:pPr>
            <a:r>
              <a:rPr lang="en-US" sz="1958">
                <a:solidFill>
                  <a:srgbClr val="434343"/>
                </a:solidFill>
                <a:latin typeface="JASO Sans"/>
                <a:ea typeface="JASO Sans"/>
                <a:cs typeface="JASO Sans"/>
                <a:sym typeface="JASO Sans"/>
              </a:rPr>
              <a:t>경고 기준 60점 이하</a:t>
            </a:r>
          </a:p>
        </p:txBody>
      </p:sp>
      <p:sp>
        <p:nvSpPr>
          <p:cNvPr id="14" name="TextBox 14"/>
          <p:cNvSpPr txBox="1"/>
          <p:nvPr/>
        </p:nvSpPr>
        <p:spPr>
          <a:xfrm>
            <a:off x="14622368" y="6060537"/>
            <a:ext cx="2636932" cy="371775"/>
          </a:xfrm>
          <a:prstGeom prst="rect">
            <a:avLst/>
          </a:prstGeom>
        </p:spPr>
        <p:txBody>
          <a:bodyPr lIns="0" tIns="0" rIns="0" bIns="0" rtlCol="0" anchor="t">
            <a:spAutoFit/>
          </a:bodyPr>
          <a:lstStyle/>
          <a:p>
            <a:pPr algn="ctr">
              <a:lnSpc>
                <a:spcPts val="3081"/>
              </a:lnSpc>
            </a:pPr>
            <a:r>
              <a:rPr lang="en-US" sz="2370" b="1" spc="-118">
                <a:solidFill>
                  <a:srgbClr val="434343"/>
                </a:solidFill>
                <a:latin typeface="JASO Sans Bold"/>
                <a:ea typeface="JASO Sans Bold"/>
                <a:cs typeface="JASO Sans Bold"/>
                <a:sym typeface="JASO Sans Bold"/>
              </a:rPr>
              <a:t>고객 만족도</a:t>
            </a:r>
          </a:p>
        </p:txBody>
      </p:sp>
      <p:grpSp>
        <p:nvGrpSpPr>
          <p:cNvPr id="15" name="Group 15"/>
          <p:cNvGrpSpPr/>
          <p:nvPr/>
        </p:nvGrpSpPr>
        <p:grpSpPr>
          <a:xfrm>
            <a:off x="1518481" y="3188858"/>
            <a:ext cx="2636932" cy="263693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F3FB"/>
            </a:solidFill>
          </p:spPr>
          <p:txBody>
            <a:bodyPr/>
            <a:lstStyle/>
            <a:p>
              <a:endParaRPr lang="ko-KR" altLang="en-US"/>
            </a:p>
          </p:txBody>
        </p:sp>
        <p:sp>
          <p:nvSpPr>
            <p:cNvPr id="17" name="TextBox 17"/>
            <p:cNvSpPr txBox="1"/>
            <p:nvPr/>
          </p:nvSpPr>
          <p:spPr>
            <a:xfrm>
              <a:off x="76200" y="-9525"/>
              <a:ext cx="660400" cy="746125"/>
            </a:xfrm>
            <a:prstGeom prst="rect">
              <a:avLst/>
            </a:prstGeom>
          </p:spPr>
          <p:txBody>
            <a:bodyPr lIns="51924" tIns="51924" rIns="51924" bIns="51924" rtlCol="0" anchor="ctr"/>
            <a:lstStyle/>
            <a:p>
              <a:pPr algn="ctr">
                <a:lnSpc>
                  <a:spcPts val="3750"/>
                </a:lnSpc>
              </a:pPr>
              <a:endParaRPr/>
            </a:p>
          </p:txBody>
        </p:sp>
      </p:grpSp>
      <p:grpSp>
        <p:nvGrpSpPr>
          <p:cNvPr id="18" name="Group 18"/>
          <p:cNvGrpSpPr/>
          <p:nvPr/>
        </p:nvGrpSpPr>
        <p:grpSpPr>
          <a:xfrm>
            <a:off x="1518481" y="3188858"/>
            <a:ext cx="686027" cy="686027"/>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6FF"/>
            </a:solidFill>
          </p:spPr>
          <p:txBody>
            <a:bodyPr/>
            <a:lstStyle/>
            <a:p>
              <a:endParaRPr lang="ko-KR" altLang="en-US"/>
            </a:p>
          </p:txBody>
        </p:sp>
        <p:sp>
          <p:nvSpPr>
            <p:cNvPr id="20" name="TextBox 20"/>
            <p:cNvSpPr txBox="1"/>
            <p:nvPr/>
          </p:nvSpPr>
          <p:spPr>
            <a:xfrm>
              <a:off x="76200" y="-9525"/>
              <a:ext cx="660400" cy="746125"/>
            </a:xfrm>
            <a:prstGeom prst="rect">
              <a:avLst/>
            </a:prstGeom>
          </p:spPr>
          <p:txBody>
            <a:bodyPr lIns="51924" tIns="51924" rIns="51924" bIns="51924" rtlCol="0" anchor="ctr"/>
            <a:lstStyle/>
            <a:p>
              <a:pPr algn="ctr">
                <a:lnSpc>
                  <a:spcPts val="3750"/>
                </a:lnSpc>
              </a:pPr>
              <a:endParaRPr/>
            </a:p>
          </p:txBody>
        </p:sp>
      </p:grpSp>
      <p:sp>
        <p:nvSpPr>
          <p:cNvPr id="21" name="Freeform 21"/>
          <p:cNvSpPr/>
          <p:nvPr/>
        </p:nvSpPr>
        <p:spPr>
          <a:xfrm>
            <a:off x="1717351" y="3387728"/>
            <a:ext cx="288287" cy="288287"/>
          </a:xfrm>
          <a:custGeom>
            <a:avLst/>
            <a:gdLst/>
            <a:ahLst/>
            <a:cxnLst/>
            <a:rect l="l" t="t" r="r" b="b"/>
            <a:pathLst>
              <a:path w="288287" h="288287">
                <a:moveTo>
                  <a:pt x="0" y="0"/>
                </a:moveTo>
                <a:lnTo>
                  <a:pt x="288287" y="0"/>
                </a:lnTo>
                <a:lnTo>
                  <a:pt x="288287" y="288287"/>
                </a:lnTo>
                <a:lnTo>
                  <a:pt x="0" y="28828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ko-KR" altLang="en-US"/>
          </a:p>
        </p:txBody>
      </p:sp>
      <p:sp>
        <p:nvSpPr>
          <p:cNvPr id="22" name="TextBox 22"/>
          <p:cNvSpPr txBox="1"/>
          <p:nvPr/>
        </p:nvSpPr>
        <p:spPr>
          <a:xfrm>
            <a:off x="1845723" y="4178485"/>
            <a:ext cx="1982447" cy="657678"/>
          </a:xfrm>
          <a:prstGeom prst="rect">
            <a:avLst/>
          </a:prstGeom>
        </p:spPr>
        <p:txBody>
          <a:bodyPr lIns="0" tIns="0" rIns="0" bIns="0" rtlCol="0" anchor="t">
            <a:spAutoFit/>
          </a:bodyPr>
          <a:lstStyle/>
          <a:p>
            <a:pPr algn="ctr">
              <a:lnSpc>
                <a:spcPts val="5194"/>
              </a:lnSpc>
            </a:pPr>
            <a:r>
              <a:rPr lang="en-US" sz="4328" b="1" spc="-216">
                <a:solidFill>
                  <a:srgbClr val="0066FF"/>
                </a:solidFill>
                <a:latin typeface="JASO Sans Bold"/>
                <a:ea typeface="JASO Sans Bold"/>
                <a:cs typeface="JASO Sans Bold"/>
                <a:sym typeface="JASO Sans Bold"/>
              </a:rPr>
              <a:t>+21%</a:t>
            </a:r>
          </a:p>
        </p:txBody>
      </p:sp>
      <p:sp>
        <p:nvSpPr>
          <p:cNvPr id="23" name="TextBox 23"/>
          <p:cNvSpPr txBox="1"/>
          <p:nvPr/>
        </p:nvSpPr>
        <p:spPr>
          <a:xfrm>
            <a:off x="1518481" y="6533478"/>
            <a:ext cx="2636932" cy="308290"/>
          </a:xfrm>
          <a:prstGeom prst="rect">
            <a:avLst/>
          </a:prstGeom>
        </p:spPr>
        <p:txBody>
          <a:bodyPr lIns="0" tIns="0" rIns="0" bIns="0" rtlCol="0" anchor="t">
            <a:spAutoFit/>
          </a:bodyPr>
          <a:lstStyle/>
          <a:p>
            <a:pPr algn="ctr">
              <a:lnSpc>
                <a:spcPts val="2546"/>
              </a:lnSpc>
            </a:pPr>
            <a:r>
              <a:rPr lang="en-US" sz="1958">
                <a:solidFill>
                  <a:srgbClr val="434343"/>
                </a:solidFill>
                <a:latin typeface="JASO Sans"/>
                <a:ea typeface="JASO Sans"/>
                <a:cs typeface="JASO Sans"/>
                <a:sym typeface="JASO Sans"/>
              </a:rPr>
              <a:t>경고 기준 +15% 이하</a:t>
            </a:r>
          </a:p>
        </p:txBody>
      </p:sp>
      <p:sp>
        <p:nvSpPr>
          <p:cNvPr id="24" name="TextBox 24"/>
          <p:cNvSpPr txBox="1"/>
          <p:nvPr/>
        </p:nvSpPr>
        <p:spPr>
          <a:xfrm>
            <a:off x="1518481" y="6060537"/>
            <a:ext cx="2636932" cy="371775"/>
          </a:xfrm>
          <a:prstGeom prst="rect">
            <a:avLst/>
          </a:prstGeom>
        </p:spPr>
        <p:txBody>
          <a:bodyPr lIns="0" tIns="0" rIns="0" bIns="0" rtlCol="0" anchor="t">
            <a:spAutoFit/>
          </a:bodyPr>
          <a:lstStyle/>
          <a:p>
            <a:pPr algn="ctr">
              <a:lnSpc>
                <a:spcPts val="3081"/>
              </a:lnSpc>
            </a:pPr>
            <a:r>
              <a:rPr lang="en-US" sz="2370" b="1" spc="-118">
                <a:solidFill>
                  <a:srgbClr val="434343"/>
                </a:solidFill>
                <a:latin typeface="JASO Sans Bold"/>
                <a:ea typeface="JASO Sans Bold"/>
                <a:cs typeface="JASO Sans Bold"/>
                <a:sym typeface="JASO Sans Bold"/>
              </a:rPr>
              <a:t>매출 성장률</a:t>
            </a:r>
          </a:p>
        </p:txBody>
      </p:sp>
      <p:grpSp>
        <p:nvGrpSpPr>
          <p:cNvPr id="25" name="Group 25"/>
          <p:cNvGrpSpPr/>
          <p:nvPr/>
        </p:nvGrpSpPr>
        <p:grpSpPr>
          <a:xfrm>
            <a:off x="4794453" y="3188858"/>
            <a:ext cx="2636932" cy="2636932"/>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F3FB"/>
            </a:solidFill>
          </p:spPr>
          <p:txBody>
            <a:bodyPr/>
            <a:lstStyle/>
            <a:p>
              <a:endParaRPr lang="ko-KR" altLang="en-US"/>
            </a:p>
          </p:txBody>
        </p:sp>
        <p:sp>
          <p:nvSpPr>
            <p:cNvPr id="27" name="TextBox 27"/>
            <p:cNvSpPr txBox="1"/>
            <p:nvPr/>
          </p:nvSpPr>
          <p:spPr>
            <a:xfrm>
              <a:off x="76200" y="0"/>
              <a:ext cx="660400" cy="736600"/>
            </a:xfrm>
            <a:prstGeom prst="rect">
              <a:avLst/>
            </a:prstGeom>
          </p:spPr>
          <p:txBody>
            <a:bodyPr lIns="51924" tIns="51924" rIns="51924" bIns="51924" rtlCol="0" anchor="ctr"/>
            <a:lstStyle/>
            <a:p>
              <a:pPr algn="ctr">
                <a:lnSpc>
                  <a:spcPts val="3750"/>
                </a:lnSpc>
              </a:pPr>
              <a:endParaRPr/>
            </a:p>
          </p:txBody>
        </p:sp>
      </p:grpSp>
      <p:grpSp>
        <p:nvGrpSpPr>
          <p:cNvPr id="28" name="Group 28"/>
          <p:cNvGrpSpPr/>
          <p:nvPr/>
        </p:nvGrpSpPr>
        <p:grpSpPr>
          <a:xfrm>
            <a:off x="4812146" y="3188858"/>
            <a:ext cx="686027" cy="686027"/>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6FF"/>
            </a:solidFill>
          </p:spPr>
          <p:txBody>
            <a:bodyPr/>
            <a:lstStyle/>
            <a:p>
              <a:endParaRPr lang="ko-KR" altLang="en-US"/>
            </a:p>
          </p:txBody>
        </p:sp>
        <p:sp>
          <p:nvSpPr>
            <p:cNvPr id="30" name="TextBox 30"/>
            <p:cNvSpPr txBox="1"/>
            <p:nvPr/>
          </p:nvSpPr>
          <p:spPr>
            <a:xfrm>
              <a:off x="76200" y="0"/>
              <a:ext cx="660400" cy="736600"/>
            </a:xfrm>
            <a:prstGeom prst="rect">
              <a:avLst/>
            </a:prstGeom>
          </p:spPr>
          <p:txBody>
            <a:bodyPr lIns="13509" tIns="13509" rIns="13509" bIns="13509" rtlCol="0" anchor="ctr"/>
            <a:lstStyle/>
            <a:p>
              <a:pPr algn="ctr">
                <a:lnSpc>
                  <a:spcPts val="3750"/>
                </a:lnSpc>
              </a:pPr>
              <a:endParaRPr/>
            </a:p>
          </p:txBody>
        </p:sp>
      </p:grpSp>
      <p:sp>
        <p:nvSpPr>
          <p:cNvPr id="31" name="Freeform 31"/>
          <p:cNvSpPr/>
          <p:nvPr/>
        </p:nvSpPr>
        <p:spPr>
          <a:xfrm>
            <a:off x="5011016" y="3387728"/>
            <a:ext cx="288287" cy="288287"/>
          </a:xfrm>
          <a:custGeom>
            <a:avLst/>
            <a:gdLst/>
            <a:ahLst/>
            <a:cxnLst/>
            <a:rect l="l" t="t" r="r" b="b"/>
            <a:pathLst>
              <a:path w="288287" h="288287">
                <a:moveTo>
                  <a:pt x="0" y="0"/>
                </a:moveTo>
                <a:lnTo>
                  <a:pt x="288287" y="0"/>
                </a:lnTo>
                <a:lnTo>
                  <a:pt x="288287" y="288287"/>
                </a:lnTo>
                <a:lnTo>
                  <a:pt x="0" y="28828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ko-KR" altLang="en-US"/>
          </a:p>
        </p:txBody>
      </p:sp>
      <p:sp>
        <p:nvSpPr>
          <p:cNvPr id="32" name="TextBox 32"/>
          <p:cNvSpPr txBox="1"/>
          <p:nvPr/>
        </p:nvSpPr>
        <p:spPr>
          <a:xfrm>
            <a:off x="5121695" y="4178485"/>
            <a:ext cx="1982447" cy="657678"/>
          </a:xfrm>
          <a:prstGeom prst="rect">
            <a:avLst/>
          </a:prstGeom>
        </p:spPr>
        <p:txBody>
          <a:bodyPr lIns="0" tIns="0" rIns="0" bIns="0" rtlCol="0" anchor="t">
            <a:spAutoFit/>
          </a:bodyPr>
          <a:lstStyle/>
          <a:p>
            <a:pPr algn="ctr">
              <a:lnSpc>
                <a:spcPts val="5194"/>
              </a:lnSpc>
            </a:pPr>
            <a:r>
              <a:rPr lang="en-US" sz="4328" b="1" spc="-216">
                <a:solidFill>
                  <a:srgbClr val="0066FF"/>
                </a:solidFill>
                <a:latin typeface="JASO Sans Bold"/>
                <a:ea typeface="JASO Sans Bold"/>
                <a:cs typeface="JASO Sans Bold"/>
                <a:sym typeface="JASO Sans Bold"/>
              </a:rPr>
              <a:t>12%</a:t>
            </a:r>
          </a:p>
        </p:txBody>
      </p:sp>
      <p:sp>
        <p:nvSpPr>
          <p:cNvPr id="33" name="TextBox 33"/>
          <p:cNvSpPr txBox="1"/>
          <p:nvPr/>
        </p:nvSpPr>
        <p:spPr>
          <a:xfrm>
            <a:off x="4794453" y="6533478"/>
            <a:ext cx="2636932" cy="308290"/>
          </a:xfrm>
          <a:prstGeom prst="rect">
            <a:avLst/>
          </a:prstGeom>
        </p:spPr>
        <p:txBody>
          <a:bodyPr lIns="0" tIns="0" rIns="0" bIns="0" rtlCol="0" anchor="t">
            <a:spAutoFit/>
          </a:bodyPr>
          <a:lstStyle/>
          <a:p>
            <a:pPr algn="ctr">
              <a:lnSpc>
                <a:spcPts val="2546"/>
              </a:lnSpc>
            </a:pPr>
            <a:r>
              <a:rPr lang="en-US" sz="1958">
                <a:solidFill>
                  <a:srgbClr val="434343"/>
                </a:solidFill>
                <a:latin typeface="JASO Sans"/>
                <a:ea typeface="JASO Sans"/>
                <a:cs typeface="JASO Sans"/>
                <a:sym typeface="JASO Sans"/>
              </a:rPr>
              <a:t>경고 기준 9% 이하</a:t>
            </a:r>
          </a:p>
        </p:txBody>
      </p:sp>
      <p:sp>
        <p:nvSpPr>
          <p:cNvPr id="34" name="TextBox 34"/>
          <p:cNvSpPr txBox="1"/>
          <p:nvPr/>
        </p:nvSpPr>
        <p:spPr>
          <a:xfrm>
            <a:off x="4794453" y="6060537"/>
            <a:ext cx="2636932" cy="371775"/>
          </a:xfrm>
          <a:prstGeom prst="rect">
            <a:avLst/>
          </a:prstGeom>
        </p:spPr>
        <p:txBody>
          <a:bodyPr lIns="0" tIns="0" rIns="0" bIns="0" rtlCol="0" anchor="t">
            <a:spAutoFit/>
          </a:bodyPr>
          <a:lstStyle/>
          <a:p>
            <a:pPr algn="ctr">
              <a:lnSpc>
                <a:spcPts val="3081"/>
              </a:lnSpc>
            </a:pPr>
            <a:r>
              <a:rPr lang="en-US" sz="2370" b="1" spc="-118">
                <a:solidFill>
                  <a:srgbClr val="434343"/>
                </a:solidFill>
                <a:latin typeface="JASO Sans Bold"/>
                <a:ea typeface="JASO Sans Bold"/>
                <a:cs typeface="JASO Sans Bold"/>
                <a:sym typeface="JASO Sans Bold"/>
              </a:rPr>
              <a:t>영업이익률</a:t>
            </a:r>
          </a:p>
        </p:txBody>
      </p:sp>
      <p:grpSp>
        <p:nvGrpSpPr>
          <p:cNvPr id="35" name="Group 35"/>
          <p:cNvGrpSpPr/>
          <p:nvPr/>
        </p:nvGrpSpPr>
        <p:grpSpPr>
          <a:xfrm>
            <a:off x="11346396" y="3188858"/>
            <a:ext cx="2636932" cy="2636932"/>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F3FB"/>
            </a:solidFill>
          </p:spPr>
          <p:txBody>
            <a:bodyPr/>
            <a:lstStyle/>
            <a:p>
              <a:endParaRPr lang="ko-KR" altLang="en-US"/>
            </a:p>
          </p:txBody>
        </p:sp>
        <p:sp>
          <p:nvSpPr>
            <p:cNvPr id="37" name="TextBox 37"/>
            <p:cNvSpPr txBox="1"/>
            <p:nvPr/>
          </p:nvSpPr>
          <p:spPr>
            <a:xfrm>
              <a:off x="76200" y="0"/>
              <a:ext cx="660400" cy="736600"/>
            </a:xfrm>
            <a:prstGeom prst="rect">
              <a:avLst/>
            </a:prstGeom>
          </p:spPr>
          <p:txBody>
            <a:bodyPr lIns="51924" tIns="51924" rIns="51924" bIns="51924" rtlCol="0" anchor="ctr"/>
            <a:lstStyle/>
            <a:p>
              <a:pPr marL="0" lvl="0" indent="0" algn="ctr">
                <a:lnSpc>
                  <a:spcPts val="3750"/>
                </a:lnSpc>
                <a:spcBef>
                  <a:spcPct val="0"/>
                </a:spcBef>
              </a:pPr>
              <a:endParaRPr/>
            </a:p>
          </p:txBody>
        </p:sp>
      </p:grpSp>
      <p:grpSp>
        <p:nvGrpSpPr>
          <p:cNvPr id="38" name="Group 38"/>
          <p:cNvGrpSpPr/>
          <p:nvPr/>
        </p:nvGrpSpPr>
        <p:grpSpPr>
          <a:xfrm>
            <a:off x="11367135" y="3188858"/>
            <a:ext cx="686027" cy="686027"/>
            <a:chOff x="0" y="0"/>
            <a:chExt cx="812800" cy="812800"/>
          </a:xfrm>
        </p:grpSpPr>
        <p:sp>
          <p:nvSpPr>
            <p:cNvPr id="39" name="Freeform 3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6FF"/>
            </a:solidFill>
          </p:spPr>
          <p:txBody>
            <a:bodyPr/>
            <a:lstStyle/>
            <a:p>
              <a:endParaRPr lang="ko-KR" altLang="en-US"/>
            </a:p>
          </p:txBody>
        </p:sp>
        <p:sp>
          <p:nvSpPr>
            <p:cNvPr id="40" name="TextBox 40"/>
            <p:cNvSpPr txBox="1"/>
            <p:nvPr/>
          </p:nvSpPr>
          <p:spPr>
            <a:xfrm>
              <a:off x="76200" y="0"/>
              <a:ext cx="660400" cy="736600"/>
            </a:xfrm>
            <a:prstGeom prst="rect">
              <a:avLst/>
            </a:prstGeom>
          </p:spPr>
          <p:txBody>
            <a:bodyPr lIns="13509" tIns="13509" rIns="13509" bIns="13509" rtlCol="0" anchor="ctr"/>
            <a:lstStyle/>
            <a:p>
              <a:pPr algn="ctr">
                <a:lnSpc>
                  <a:spcPts val="3750"/>
                </a:lnSpc>
              </a:pPr>
              <a:endParaRPr/>
            </a:p>
          </p:txBody>
        </p:sp>
      </p:grpSp>
      <p:sp>
        <p:nvSpPr>
          <p:cNvPr id="41" name="Freeform 41"/>
          <p:cNvSpPr/>
          <p:nvPr/>
        </p:nvSpPr>
        <p:spPr>
          <a:xfrm>
            <a:off x="11566005" y="3387728"/>
            <a:ext cx="288287" cy="288287"/>
          </a:xfrm>
          <a:custGeom>
            <a:avLst/>
            <a:gdLst/>
            <a:ahLst/>
            <a:cxnLst/>
            <a:rect l="l" t="t" r="r" b="b"/>
            <a:pathLst>
              <a:path w="288287" h="288287">
                <a:moveTo>
                  <a:pt x="0" y="0"/>
                </a:moveTo>
                <a:lnTo>
                  <a:pt x="288287" y="0"/>
                </a:lnTo>
                <a:lnTo>
                  <a:pt x="288287" y="288287"/>
                </a:lnTo>
                <a:lnTo>
                  <a:pt x="0" y="288287"/>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ko-KR" altLang="en-US"/>
          </a:p>
        </p:txBody>
      </p:sp>
      <p:sp>
        <p:nvSpPr>
          <p:cNvPr id="42" name="TextBox 42"/>
          <p:cNvSpPr txBox="1"/>
          <p:nvPr/>
        </p:nvSpPr>
        <p:spPr>
          <a:xfrm>
            <a:off x="11673639" y="4178485"/>
            <a:ext cx="1982447" cy="657678"/>
          </a:xfrm>
          <a:prstGeom prst="rect">
            <a:avLst/>
          </a:prstGeom>
        </p:spPr>
        <p:txBody>
          <a:bodyPr lIns="0" tIns="0" rIns="0" bIns="0" rtlCol="0" anchor="t">
            <a:spAutoFit/>
          </a:bodyPr>
          <a:lstStyle/>
          <a:p>
            <a:pPr algn="ctr">
              <a:lnSpc>
                <a:spcPts val="5194"/>
              </a:lnSpc>
            </a:pPr>
            <a:r>
              <a:rPr lang="en-US" sz="4328" b="1" spc="-216">
                <a:solidFill>
                  <a:srgbClr val="0066FF"/>
                </a:solidFill>
                <a:latin typeface="JASO Sans Bold"/>
                <a:ea typeface="JASO Sans Bold"/>
                <a:cs typeface="JASO Sans Bold"/>
                <a:sym typeface="JASO Sans Bold"/>
              </a:rPr>
              <a:t>5.5회</a:t>
            </a:r>
          </a:p>
        </p:txBody>
      </p:sp>
      <p:sp>
        <p:nvSpPr>
          <p:cNvPr id="43" name="TextBox 43"/>
          <p:cNvSpPr txBox="1"/>
          <p:nvPr/>
        </p:nvSpPr>
        <p:spPr>
          <a:xfrm>
            <a:off x="11346396" y="6533478"/>
            <a:ext cx="2636932" cy="308290"/>
          </a:xfrm>
          <a:prstGeom prst="rect">
            <a:avLst/>
          </a:prstGeom>
        </p:spPr>
        <p:txBody>
          <a:bodyPr lIns="0" tIns="0" rIns="0" bIns="0" rtlCol="0" anchor="t">
            <a:spAutoFit/>
          </a:bodyPr>
          <a:lstStyle/>
          <a:p>
            <a:pPr algn="ctr">
              <a:lnSpc>
                <a:spcPts val="2546"/>
              </a:lnSpc>
            </a:pPr>
            <a:r>
              <a:rPr lang="en-US" sz="1958">
                <a:solidFill>
                  <a:srgbClr val="434343"/>
                </a:solidFill>
                <a:latin typeface="JASO Sans"/>
                <a:ea typeface="JASO Sans"/>
                <a:cs typeface="JASO Sans"/>
                <a:sym typeface="JASO Sans"/>
              </a:rPr>
              <a:t>경고 기준 4.8회 이하</a:t>
            </a:r>
          </a:p>
        </p:txBody>
      </p:sp>
      <p:sp>
        <p:nvSpPr>
          <p:cNvPr id="44" name="TextBox 44"/>
          <p:cNvSpPr txBox="1"/>
          <p:nvPr/>
        </p:nvSpPr>
        <p:spPr>
          <a:xfrm>
            <a:off x="11346396" y="6060537"/>
            <a:ext cx="2636932" cy="371775"/>
          </a:xfrm>
          <a:prstGeom prst="rect">
            <a:avLst/>
          </a:prstGeom>
        </p:spPr>
        <p:txBody>
          <a:bodyPr lIns="0" tIns="0" rIns="0" bIns="0" rtlCol="0" anchor="t">
            <a:spAutoFit/>
          </a:bodyPr>
          <a:lstStyle/>
          <a:p>
            <a:pPr algn="ctr">
              <a:lnSpc>
                <a:spcPts val="3081"/>
              </a:lnSpc>
            </a:pPr>
            <a:r>
              <a:rPr lang="en-US" sz="2370" b="1" spc="-118">
                <a:solidFill>
                  <a:srgbClr val="434343"/>
                </a:solidFill>
                <a:latin typeface="JASO Sans Bold"/>
                <a:ea typeface="JASO Sans Bold"/>
                <a:cs typeface="JASO Sans Bold"/>
                <a:sym typeface="JASO Sans Bold"/>
              </a:rPr>
              <a:t>재고 회전율</a:t>
            </a:r>
          </a:p>
        </p:txBody>
      </p:sp>
      <p:grpSp>
        <p:nvGrpSpPr>
          <p:cNvPr id="45" name="Group 45"/>
          <p:cNvGrpSpPr/>
          <p:nvPr/>
        </p:nvGrpSpPr>
        <p:grpSpPr>
          <a:xfrm>
            <a:off x="8070424" y="3188858"/>
            <a:ext cx="2636932" cy="2636932"/>
            <a:chOff x="0" y="0"/>
            <a:chExt cx="812800" cy="812800"/>
          </a:xfrm>
        </p:grpSpPr>
        <p:sp>
          <p:nvSpPr>
            <p:cNvPr id="46" name="Freeform 4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F3FB"/>
            </a:solidFill>
          </p:spPr>
          <p:txBody>
            <a:bodyPr/>
            <a:lstStyle/>
            <a:p>
              <a:endParaRPr lang="ko-KR" altLang="en-US"/>
            </a:p>
          </p:txBody>
        </p:sp>
        <p:sp>
          <p:nvSpPr>
            <p:cNvPr id="47" name="TextBox 47"/>
            <p:cNvSpPr txBox="1"/>
            <p:nvPr/>
          </p:nvSpPr>
          <p:spPr>
            <a:xfrm>
              <a:off x="76200" y="0"/>
              <a:ext cx="660400" cy="736600"/>
            </a:xfrm>
            <a:prstGeom prst="rect">
              <a:avLst/>
            </a:prstGeom>
          </p:spPr>
          <p:txBody>
            <a:bodyPr lIns="51924" tIns="51924" rIns="51924" bIns="51924" rtlCol="0" anchor="ctr"/>
            <a:lstStyle/>
            <a:p>
              <a:pPr algn="ctr">
                <a:lnSpc>
                  <a:spcPts val="3750"/>
                </a:lnSpc>
              </a:pPr>
              <a:endParaRPr/>
            </a:p>
          </p:txBody>
        </p:sp>
      </p:grpSp>
      <p:grpSp>
        <p:nvGrpSpPr>
          <p:cNvPr id="48" name="Group 48"/>
          <p:cNvGrpSpPr/>
          <p:nvPr/>
        </p:nvGrpSpPr>
        <p:grpSpPr>
          <a:xfrm>
            <a:off x="8091163" y="3188858"/>
            <a:ext cx="686027" cy="686027"/>
            <a:chOff x="0" y="0"/>
            <a:chExt cx="812800" cy="812800"/>
          </a:xfrm>
        </p:grpSpPr>
        <p:sp>
          <p:nvSpPr>
            <p:cNvPr id="49" name="Freeform 4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6FF"/>
            </a:solidFill>
          </p:spPr>
          <p:txBody>
            <a:bodyPr/>
            <a:lstStyle/>
            <a:p>
              <a:endParaRPr lang="ko-KR" altLang="en-US"/>
            </a:p>
          </p:txBody>
        </p:sp>
        <p:sp>
          <p:nvSpPr>
            <p:cNvPr id="50" name="TextBox 50"/>
            <p:cNvSpPr txBox="1"/>
            <p:nvPr/>
          </p:nvSpPr>
          <p:spPr>
            <a:xfrm>
              <a:off x="76200" y="0"/>
              <a:ext cx="660400" cy="736600"/>
            </a:xfrm>
            <a:prstGeom prst="rect">
              <a:avLst/>
            </a:prstGeom>
          </p:spPr>
          <p:txBody>
            <a:bodyPr lIns="13509" tIns="13509" rIns="13509" bIns="13509" rtlCol="0" anchor="ctr"/>
            <a:lstStyle/>
            <a:p>
              <a:pPr algn="ctr">
                <a:lnSpc>
                  <a:spcPts val="3750"/>
                </a:lnSpc>
              </a:pPr>
              <a:endParaRPr/>
            </a:p>
          </p:txBody>
        </p:sp>
      </p:grpSp>
      <p:sp>
        <p:nvSpPr>
          <p:cNvPr id="51" name="Freeform 51"/>
          <p:cNvSpPr/>
          <p:nvPr/>
        </p:nvSpPr>
        <p:spPr>
          <a:xfrm>
            <a:off x="8290033" y="3387728"/>
            <a:ext cx="288287" cy="288287"/>
          </a:xfrm>
          <a:custGeom>
            <a:avLst/>
            <a:gdLst/>
            <a:ahLst/>
            <a:cxnLst/>
            <a:rect l="l" t="t" r="r" b="b"/>
            <a:pathLst>
              <a:path w="288287" h="288287">
                <a:moveTo>
                  <a:pt x="0" y="0"/>
                </a:moveTo>
                <a:lnTo>
                  <a:pt x="288287" y="0"/>
                </a:lnTo>
                <a:lnTo>
                  <a:pt x="288287" y="288287"/>
                </a:lnTo>
                <a:lnTo>
                  <a:pt x="0" y="288287"/>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ko-KR" altLang="en-US"/>
          </a:p>
        </p:txBody>
      </p:sp>
      <p:sp>
        <p:nvSpPr>
          <p:cNvPr id="52" name="TextBox 52"/>
          <p:cNvSpPr txBox="1"/>
          <p:nvPr/>
        </p:nvSpPr>
        <p:spPr>
          <a:xfrm>
            <a:off x="8397667" y="4178485"/>
            <a:ext cx="1982447" cy="657678"/>
          </a:xfrm>
          <a:prstGeom prst="rect">
            <a:avLst/>
          </a:prstGeom>
        </p:spPr>
        <p:txBody>
          <a:bodyPr lIns="0" tIns="0" rIns="0" bIns="0" rtlCol="0" anchor="t">
            <a:spAutoFit/>
          </a:bodyPr>
          <a:lstStyle/>
          <a:p>
            <a:pPr algn="ctr">
              <a:lnSpc>
                <a:spcPts val="5194"/>
              </a:lnSpc>
            </a:pPr>
            <a:r>
              <a:rPr lang="en-US" sz="4328" b="1" spc="-216">
                <a:solidFill>
                  <a:srgbClr val="0066FF"/>
                </a:solidFill>
                <a:latin typeface="JASO Sans Bold"/>
                <a:ea typeface="JASO Sans Bold"/>
                <a:cs typeface="JASO Sans Bold"/>
                <a:sym typeface="JASO Sans Bold"/>
              </a:rPr>
              <a:t>40%</a:t>
            </a:r>
          </a:p>
        </p:txBody>
      </p:sp>
      <p:sp>
        <p:nvSpPr>
          <p:cNvPr id="53" name="TextBox 53"/>
          <p:cNvSpPr txBox="1"/>
          <p:nvPr/>
        </p:nvSpPr>
        <p:spPr>
          <a:xfrm>
            <a:off x="8070424" y="6533478"/>
            <a:ext cx="2636932" cy="308290"/>
          </a:xfrm>
          <a:prstGeom prst="rect">
            <a:avLst/>
          </a:prstGeom>
        </p:spPr>
        <p:txBody>
          <a:bodyPr lIns="0" tIns="0" rIns="0" bIns="0" rtlCol="0" anchor="t">
            <a:spAutoFit/>
          </a:bodyPr>
          <a:lstStyle/>
          <a:p>
            <a:pPr algn="ctr">
              <a:lnSpc>
                <a:spcPts val="2546"/>
              </a:lnSpc>
            </a:pPr>
            <a:r>
              <a:rPr lang="en-US" sz="1958">
                <a:solidFill>
                  <a:srgbClr val="434343"/>
                </a:solidFill>
                <a:latin typeface="JASO Sans"/>
                <a:ea typeface="JASO Sans"/>
                <a:cs typeface="JASO Sans"/>
                <a:sym typeface="JASO Sans"/>
              </a:rPr>
              <a:t>경고 기준 35% 이하</a:t>
            </a:r>
          </a:p>
        </p:txBody>
      </p:sp>
      <p:sp>
        <p:nvSpPr>
          <p:cNvPr id="54" name="TextBox 54"/>
          <p:cNvSpPr txBox="1"/>
          <p:nvPr/>
        </p:nvSpPr>
        <p:spPr>
          <a:xfrm>
            <a:off x="8070424" y="6060537"/>
            <a:ext cx="2636932" cy="371775"/>
          </a:xfrm>
          <a:prstGeom prst="rect">
            <a:avLst/>
          </a:prstGeom>
        </p:spPr>
        <p:txBody>
          <a:bodyPr lIns="0" tIns="0" rIns="0" bIns="0" rtlCol="0" anchor="t">
            <a:spAutoFit/>
          </a:bodyPr>
          <a:lstStyle/>
          <a:p>
            <a:pPr algn="ctr">
              <a:lnSpc>
                <a:spcPts val="3081"/>
              </a:lnSpc>
            </a:pPr>
            <a:r>
              <a:rPr lang="en-US" sz="2370" b="1" spc="-118">
                <a:solidFill>
                  <a:srgbClr val="434343"/>
                </a:solidFill>
                <a:latin typeface="JASO Sans Bold"/>
                <a:ea typeface="JASO Sans Bold"/>
                <a:cs typeface="JASO Sans Bold"/>
                <a:sym typeface="JASO Sans Bold"/>
              </a:rPr>
              <a:t>재구매율</a:t>
            </a:r>
          </a:p>
        </p:txBody>
      </p:sp>
      <p:grpSp>
        <p:nvGrpSpPr>
          <p:cNvPr id="55" name="Group 55"/>
          <p:cNvGrpSpPr/>
          <p:nvPr/>
        </p:nvGrpSpPr>
        <p:grpSpPr>
          <a:xfrm>
            <a:off x="1518481" y="7537397"/>
            <a:ext cx="15740819" cy="1720903"/>
            <a:chOff x="0" y="0"/>
            <a:chExt cx="4022793" cy="439802"/>
          </a:xfrm>
        </p:grpSpPr>
        <p:sp>
          <p:nvSpPr>
            <p:cNvPr id="56" name="Freeform 56"/>
            <p:cNvSpPr/>
            <p:nvPr/>
          </p:nvSpPr>
          <p:spPr>
            <a:xfrm>
              <a:off x="0" y="0"/>
              <a:ext cx="4022793" cy="439802"/>
            </a:xfrm>
            <a:custGeom>
              <a:avLst/>
              <a:gdLst/>
              <a:ahLst/>
              <a:cxnLst/>
              <a:rect l="l" t="t" r="r" b="b"/>
              <a:pathLst>
                <a:path w="4022793" h="439802">
                  <a:moveTo>
                    <a:pt x="0" y="0"/>
                  </a:moveTo>
                  <a:lnTo>
                    <a:pt x="4022793" y="0"/>
                  </a:lnTo>
                  <a:lnTo>
                    <a:pt x="4022793" y="439802"/>
                  </a:lnTo>
                  <a:lnTo>
                    <a:pt x="0" y="439802"/>
                  </a:lnTo>
                  <a:close/>
                </a:path>
              </a:pathLst>
            </a:custGeom>
            <a:solidFill>
              <a:srgbClr val="EDF3FB"/>
            </a:solidFill>
          </p:spPr>
          <p:txBody>
            <a:bodyPr/>
            <a:lstStyle/>
            <a:p>
              <a:endParaRPr lang="ko-KR" altLang="en-US"/>
            </a:p>
          </p:txBody>
        </p:sp>
        <p:sp>
          <p:nvSpPr>
            <p:cNvPr id="57" name="TextBox 57"/>
            <p:cNvSpPr txBox="1"/>
            <p:nvPr/>
          </p:nvSpPr>
          <p:spPr>
            <a:xfrm>
              <a:off x="0" y="-76200"/>
              <a:ext cx="4022793" cy="516002"/>
            </a:xfrm>
            <a:prstGeom prst="rect">
              <a:avLst/>
            </a:prstGeom>
          </p:spPr>
          <p:txBody>
            <a:bodyPr lIns="52352" tIns="52352" rIns="52352" bIns="52352" rtlCol="0" anchor="ctr"/>
            <a:lstStyle/>
            <a:p>
              <a:pPr marL="0" lvl="0" indent="0" algn="ctr">
                <a:lnSpc>
                  <a:spcPts val="3750"/>
                </a:lnSpc>
                <a:spcBef>
                  <a:spcPct val="0"/>
                </a:spcBef>
              </a:pPr>
              <a:endParaRPr/>
            </a:p>
          </p:txBody>
        </p:sp>
      </p:grpSp>
      <p:grpSp>
        <p:nvGrpSpPr>
          <p:cNvPr id="58" name="Group 58"/>
          <p:cNvGrpSpPr/>
          <p:nvPr/>
        </p:nvGrpSpPr>
        <p:grpSpPr>
          <a:xfrm>
            <a:off x="2465302" y="8045782"/>
            <a:ext cx="3275972" cy="704132"/>
            <a:chOff x="0" y="0"/>
            <a:chExt cx="837222" cy="179951"/>
          </a:xfrm>
        </p:grpSpPr>
        <p:sp>
          <p:nvSpPr>
            <p:cNvPr id="59" name="Freeform 59"/>
            <p:cNvSpPr/>
            <p:nvPr/>
          </p:nvSpPr>
          <p:spPr>
            <a:xfrm>
              <a:off x="0" y="0"/>
              <a:ext cx="837222" cy="179951"/>
            </a:xfrm>
            <a:custGeom>
              <a:avLst/>
              <a:gdLst/>
              <a:ahLst/>
              <a:cxnLst/>
              <a:rect l="l" t="t" r="r" b="b"/>
              <a:pathLst>
                <a:path w="837222" h="179951">
                  <a:moveTo>
                    <a:pt x="89976" y="0"/>
                  </a:moveTo>
                  <a:lnTo>
                    <a:pt x="747246" y="0"/>
                  </a:lnTo>
                  <a:cubicBezTo>
                    <a:pt x="796938" y="0"/>
                    <a:pt x="837222" y="40283"/>
                    <a:pt x="837222" y="89976"/>
                  </a:cubicBezTo>
                  <a:lnTo>
                    <a:pt x="837222" y="89976"/>
                  </a:lnTo>
                  <a:cubicBezTo>
                    <a:pt x="837222" y="139668"/>
                    <a:pt x="796938" y="179951"/>
                    <a:pt x="747246" y="179951"/>
                  </a:cubicBezTo>
                  <a:lnTo>
                    <a:pt x="89976" y="179951"/>
                  </a:lnTo>
                  <a:cubicBezTo>
                    <a:pt x="40283" y="179951"/>
                    <a:pt x="0" y="139668"/>
                    <a:pt x="0" y="89976"/>
                  </a:cubicBezTo>
                  <a:lnTo>
                    <a:pt x="0" y="89976"/>
                  </a:lnTo>
                  <a:cubicBezTo>
                    <a:pt x="0" y="40283"/>
                    <a:pt x="40283" y="0"/>
                    <a:pt x="89976" y="0"/>
                  </a:cubicBezTo>
                  <a:close/>
                </a:path>
              </a:pathLst>
            </a:custGeom>
            <a:solidFill>
              <a:srgbClr val="0066FF"/>
            </a:solidFill>
          </p:spPr>
          <p:txBody>
            <a:bodyPr/>
            <a:lstStyle/>
            <a:p>
              <a:endParaRPr lang="ko-KR" altLang="en-US"/>
            </a:p>
          </p:txBody>
        </p:sp>
        <p:sp>
          <p:nvSpPr>
            <p:cNvPr id="60" name="TextBox 60"/>
            <p:cNvSpPr txBox="1"/>
            <p:nvPr/>
          </p:nvSpPr>
          <p:spPr>
            <a:xfrm>
              <a:off x="0" y="-28575"/>
              <a:ext cx="837222" cy="208526"/>
            </a:xfrm>
            <a:prstGeom prst="rect">
              <a:avLst/>
            </a:prstGeom>
          </p:spPr>
          <p:txBody>
            <a:bodyPr lIns="52352" tIns="52352" rIns="52352" bIns="52352" rtlCol="0" anchor="ctr"/>
            <a:lstStyle/>
            <a:p>
              <a:pPr marL="0" lvl="0" indent="0" algn="ctr">
                <a:lnSpc>
                  <a:spcPts val="2660"/>
                </a:lnSpc>
              </a:pPr>
              <a:r>
                <a:rPr lang="en-US" sz="1900" b="1">
                  <a:solidFill>
                    <a:srgbClr val="FFFFFF"/>
                  </a:solidFill>
                  <a:latin typeface="JASO Sans Bold"/>
                  <a:ea typeface="JASO Sans Bold"/>
                  <a:cs typeface="JASO Sans Bold"/>
                  <a:sym typeface="JASO Sans Bold"/>
                </a:rPr>
                <a:t>성과 측정의 의미</a:t>
              </a:r>
            </a:p>
          </p:txBody>
        </p:sp>
      </p:grpSp>
      <p:sp>
        <p:nvSpPr>
          <p:cNvPr id="61" name="TextBox 61"/>
          <p:cNvSpPr txBox="1"/>
          <p:nvPr/>
        </p:nvSpPr>
        <p:spPr>
          <a:xfrm>
            <a:off x="6468884" y="7881380"/>
            <a:ext cx="9843595" cy="909112"/>
          </a:xfrm>
          <a:prstGeom prst="rect">
            <a:avLst/>
          </a:prstGeom>
        </p:spPr>
        <p:txBody>
          <a:bodyPr lIns="0" tIns="0" rIns="0" bIns="0" rtlCol="0" anchor="t">
            <a:spAutoFit/>
          </a:bodyPr>
          <a:lstStyle/>
          <a:p>
            <a:pPr marL="0" lvl="0" indent="0" algn="l">
              <a:lnSpc>
                <a:spcPts val="3710"/>
              </a:lnSpc>
            </a:pPr>
            <a:r>
              <a:rPr lang="en-US" sz="2061" b="1" spc="-61">
                <a:solidFill>
                  <a:srgbClr val="434343"/>
                </a:solidFill>
                <a:latin typeface="JASO Sans Bold"/>
                <a:ea typeface="JASO Sans Bold"/>
                <a:cs typeface="JASO Sans Bold"/>
                <a:sym typeface="JASO Sans Bold"/>
              </a:rPr>
              <a:t>목표 미달 시 즉각 원인 분석과 적절한 개선 조치를 마련하여 실행해야 합니다. 이러한 분석은</a:t>
            </a:r>
          </a:p>
          <a:p>
            <a:pPr algn="l">
              <a:lnSpc>
                <a:spcPts val="3710"/>
              </a:lnSpc>
            </a:pPr>
            <a:r>
              <a:rPr lang="en-US" sz="2061" b="1" spc="-61">
                <a:solidFill>
                  <a:srgbClr val="434343"/>
                </a:solidFill>
                <a:latin typeface="JASO Sans Bold"/>
                <a:ea typeface="JASO Sans Bold"/>
                <a:cs typeface="JASO Sans Bold"/>
                <a:sym typeface="JASO Sans Bold"/>
              </a:rPr>
              <a:t>사업의 전반적인 성과를 높이고 장기적인 성장을 확보하는 데 필수적입니다.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472204" y="4730690"/>
            <a:ext cx="7825196" cy="2583815"/>
          </a:xfrm>
          <a:prstGeom prst="rect">
            <a:avLst/>
          </a:prstGeom>
        </p:spPr>
        <p:txBody>
          <a:bodyPr lIns="0" tIns="0" rIns="0" bIns="0" rtlCol="0" anchor="t">
            <a:spAutoFit/>
          </a:bodyPr>
          <a:lstStyle/>
          <a:p>
            <a:pPr algn="l">
              <a:lnSpc>
                <a:spcPts val="10120"/>
              </a:lnSpc>
            </a:pPr>
            <a:r>
              <a:rPr lang="en-US" sz="9200" b="1" spc="-460">
                <a:solidFill>
                  <a:srgbClr val="434343"/>
                </a:solidFill>
                <a:latin typeface="JASO Sans Bold"/>
                <a:ea typeface="JASO Sans Bold"/>
                <a:cs typeface="JASO Sans Bold"/>
                <a:sym typeface="JASO Sans Bold"/>
              </a:rPr>
              <a:t>더 높은</a:t>
            </a:r>
          </a:p>
          <a:p>
            <a:pPr algn="l">
              <a:lnSpc>
                <a:spcPts val="10120"/>
              </a:lnSpc>
            </a:pPr>
            <a:r>
              <a:rPr lang="en-US" sz="9200" b="1" spc="-460">
                <a:solidFill>
                  <a:srgbClr val="434343"/>
                </a:solidFill>
                <a:latin typeface="JASO Sans Bold"/>
                <a:ea typeface="JASO Sans Bold"/>
                <a:cs typeface="JASO Sans Bold"/>
                <a:sym typeface="JASO Sans Bold"/>
              </a:rPr>
              <a:t>도약을 위하여</a:t>
            </a:r>
          </a:p>
        </p:txBody>
      </p:sp>
      <p:sp>
        <p:nvSpPr>
          <p:cNvPr id="3" name="TextBox 3"/>
          <p:cNvSpPr txBox="1"/>
          <p:nvPr/>
        </p:nvSpPr>
        <p:spPr>
          <a:xfrm>
            <a:off x="9472204" y="3130490"/>
            <a:ext cx="7825196" cy="1514475"/>
          </a:xfrm>
          <a:prstGeom prst="rect">
            <a:avLst/>
          </a:prstGeom>
        </p:spPr>
        <p:txBody>
          <a:bodyPr lIns="0" tIns="0" rIns="0" bIns="0" rtlCol="0" anchor="t">
            <a:spAutoFit/>
          </a:bodyPr>
          <a:lstStyle/>
          <a:p>
            <a:pPr algn="l">
              <a:lnSpc>
                <a:spcPts val="11999"/>
              </a:lnSpc>
            </a:pPr>
            <a:r>
              <a:rPr lang="en-US" sz="9999" b="1" spc="-299">
                <a:solidFill>
                  <a:srgbClr val="0066FF"/>
                </a:solidFill>
                <a:latin typeface="JASO Sans Heavy"/>
                <a:ea typeface="JASO Sans Heavy"/>
                <a:cs typeface="JASO Sans Heavy"/>
                <a:sym typeface="JASO Sans Heavy"/>
              </a:rPr>
              <a:t>2030,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694</Words>
  <Application>Microsoft Macintosh PowerPoint</Application>
  <PresentationFormat>사용자 지정</PresentationFormat>
  <Paragraphs>159</Paragraphs>
  <Slides>10</Slides>
  <Notes>0</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10</vt:i4>
      </vt:variant>
    </vt:vector>
  </HeadingPairs>
  <TitlesOfParts>
    <vt:vector size="16" baseType="lpstr">
      <vt:lpstr>JASO Sans Bold</vt:lpstr>
      <vt:lpstr>Arial</vt:lpstr>
      <vt:lpstr>Calibri</vt:lpstr>
      <vt:lpstr>JASO Sans Heavy</vt:lpstr>
      <vt:lpstr>JASO Sans</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파랑과 흰색 모던 사업 계획 프레젠테이션</dc:title>
  <cp:lastModifiedBy>Byungjun Jang</cp:lastModifiedBy>
  <cp:revision>2</cp:revision>
  <dcterms:created xsi:type="dcterms:W3CDTF">2006-08-16T00:00:00Z</dcterms:created>
  <dcterms:modified xsi:type="dcterms:W3CDTF">2026-03-30T06:36:50Z</dcterms:modified>
  <dc:identifier>DAHFY5Fj19Y</dc:identifier>
</cp:coreProperties>
</file>